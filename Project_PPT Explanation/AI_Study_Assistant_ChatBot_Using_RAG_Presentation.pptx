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C55A1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C55A1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D2B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685799"/>
            <a:ext cx="109855" cy="4457700"/>
          </a:xfrm>
          <a:custGeom>
            <a:avLst/>
            <a:gdLst/>
            <a:ahLst/>
            <a:cxnLst/>
            <a:rect l="l" t="t" r="r" b="b"/>
            <a:pathLst>
              <a:path w="109855" h="4457700">
                <a:moveTo>
                  <a:pt x="109728" y="0"/>
                </a:moveTo>
                <a:lnTo>
                  <a:pt x="0" y="0"/>
                </a:lnTo>
                <a:lnTo>
                  <a:pt x="0" y="4457700"/>
                </a:lnTo>
                <a:lnTo>
                  <a:pt x="109728" y="4457700"/>
                </a:lnTo>
                <a:lnTo>
                  <a:pt x="109728" y="0"/>
                </a:lnTo>
                <a:close/>
              </a:path>
            </a:pathLst>
          </a:custGeom>
          <a:solidFill>
            <a:srgbClr val="0992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685799"/>
            <a:ext cx="109855" cy="4457700"/>
          </a:xfrm>
          <a:custGeom>
            <a:avLst/>
            <a:gdLst/>
            <a:ahLst/>
            <a:cxnLst/>
            <a:rect l="l" t="t" r="r" b="b"/>
            <a:pathLst>
              <a:path w="109855" h="4457700">
                <a:moveTo>
                  <a:pt x="0" y="4457700"/>
                </a:moveTo>
                <a:lnTo>
                  <a:pt x="109728" y="4457700"/>
                </a:lnTo>
                <a:lnTo>
                  <a:pt x="109728" y="0"/>
                </a:lnTo>
                <a:lnTo>
                  <a:pt x="0" y="0"/>
                </a:lnTo>
                <a:lnTo>
                  <a:pt x="0" y="4457700"/>
                </a:lnTo>
                <a:close/>
              </a:path>
            </a:pathLst>
          </a:custGeom>
          <a:ln w="12700">
            <a:solidFill>
              <a:srgbClr val="09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9144000" y="0"/>
                </a:moveTo>
                <a:lnTo>
                  <a:pt x="0" y="0"/>
                </a:lnTo>
                <a:lnTo>
                  <a:pt x="0" y="685800"/>
                </a:lnTo>
                <a:lnTo>
                  <a:pt x="9144000" y="685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D2B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0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0" y="685800"/>
                </a:moveTo>
                <a:lnTo>
                  <a:pt x="9144000" y="6858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ln w="12700">
            <a:solidFill>
              <a:srgbClr val="0D2B4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685799"/>
            <a:ext cx="109855" cy="4457700"/>
          </a:xfrm>
          <a:custGeom>
            <a:avLst/>
            <a:gdLst/>
            <a:ahLst/>
            <a:cxnLst/>
            <a:rect l="l" t="t" r="r" b="b"/>
            <a:pathLst>
              <a:path w="109855" h="4457700">
                <a:moveTo>
                  <a:pt x="109728" y="0"/>
                </a:moveTo>
                <a:lnTo>
                  <a:pt x="0" y="0"/>
                </a:lnTo>
                <a:lnTo>
                  <a:pt x="0" y="4457700"/>
                </a:lnTo>
                <a:lnTo>
                  <a:pt x="109728" y="4457700"/>
                </a:lnTo>
                <a:lnTo>
                  <a:pt x="109728" y="0"/>
                </a:lnTo>
                <a:close/>
              </a:path>
            </a:pathLst>
          </a:custGeom>
          <a:solidFill>
            <a:srgbClr val="0992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0" y="685799"/>
            <a:ext cx="109855" cy="4457700"/>
          </a:xfrm>
          <a:custGeom>
            <a:avLst/>
            <a:gdLst/>
            <a:ahLst/>
            <a:cxnLst/>
            <a:rect l="l" t="t" r="r" b="b"/>
            <a:pathLst>
              <a:path w="109855" h="4457700">
                <a:moveTo>
                  <a:pt x="0" y="4457700"/>
                </a:moveTo>
                <a:lnTo>
                  <a:pt x="109728" y="4457700"/>
                </a:lnTo>
                <a:lnTo>
                  <a:pt x="109728" y="0"/>
                </a:lnTo>
                <a:lnTo>
                  <a:pt x="0" y="0"/>
                </a:lnTo>
                <a:lnTo>
                  <a:pt x="0" y="4457700"/>
                </a:lnTo>
                <a:close/>
              </a:path>
            </a:pathLst>
          </a:custGeom>
          <a:ln w="12700">
            <a:solidFill>
              <a:srgbClr val="09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900" y="145491"/>
            <a:ext cx="8665210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0040" y="2016963"/>
            <a:ext cx="3881754" cy="1816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C55A1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3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png"/><Relationship Id="rId3" Type="http://schemas.openxmlformats.org/officeDocument/2006/relationships/image" Target="../media/image35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6.png"/><Relationship Id="rId3" Type="http://schemas.openxmlformats.org/officeDocument/2006/relationships/image" Target="../media/image37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.png"/><Relationship Id="rId3" Type="http://schemas.openxmlformats.org/officeDocument/2006/relationships/image" Target="../media/image39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0.png"/><Relationship Id="rId3" Type="http://schemas.openxmlformats.org/officeDocument/2006/relationships/image" Target="../media/image41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54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56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image" Target="../media/image70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5156200"/>
            <a:chOff x="-6350" y="-6350"/>
            <a:chExt cx="9156700" cy="5156200"/>
          </a:xfrm>
        </p:grpSpPr>
        <p:sp>
          <p:nvSpPr>
            <p:cNvPr id="3" name="object 3"/>
            <p:cNvSpPr/>
            <p:nvPr/>
          </p:nvSpPr>
          <p:spPr>
            <a:xfrm>
              <a:off x="0" y="73152"/>
              <a:ext cx="9144000" cy="4997450"/>
            </a:xfrm>
            <a:custGeom>
              <a:avLst/>
              <a:gdLst/>
              <a:ahLst/>
              <a:cxnLst/>
              <a:rect l="l" t="t" r="r" b="b"/>
              <a:pathLst>
                <a:path w="9144000" h="4997450">
                  <a:moveTo>
                    <a:pt x="0" y="4997196"/>
                  </a:moveTo>
                  <a:lnTo>
                    <a:pt x="9144000" y="4997196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997196"/>
                  </a:lnTo>
                  <a:close/>
                </a:path>
              </a:pathLst>
            </a:custGeom>
            <a:solidFill>
              <a:srgbClr val="0D2B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914400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9144000" y="731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0" y="73151"/>
                  </a:moveTo>
                  <a:lnTo>
                    <a:pt x="9144000" y="731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5070347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914400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9144000" y="731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D9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5070347"/>
              <a:ext cx="9144000" cy="73660"/>
            </a:xfrm>
            <a:custGeom>
              <a:avLst/>
              <a:gdLst/>
              <a:ahLst/>
              <a:cxnLst/>
              <a:rect l="l" t="t" r="r" b="b"/>
              <a:pathLst>
                <a:path w="9144000" h="73660">
                  <a:moveTo>
                    <a:pt x="0" y="73151"/>
                  </a:moveTo>
                  <a:lnTo>
                    <a:pt x="9144000" y="731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D9B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58000" y="0"/>
              <a:ext cx="2286000" cy="2926080"/>
            </a:xfrm>
            <a:custGeom>
              <a:avLst/>
              <a:gdLst/>
              <a:ahLst/>
              <a:cxnLst/>
              <a:rect l="l" t="t" r="r" b="b"/>
              <a:pathLst>
                <a:path w="2286000" h="2926080">
                  <a:moveTo>
                    <a:pt x="2286000" y="0"/>
                  </a:moveTo>
                  <a:lnTo>
                    <a:pt x="365765" y="0"/>
                  </a:lnTo>
                  <a:lnTo>
                    <a:pt x="347583" y="24428"/>
                  </a:lnTo>
                  <a:lnTo>
                    <a:pt x="321778" y="60921"/>
                  </a:lnTo>
                  <a:lnTo>
                    <a:pt x="296850" y="98065"/>
                  </a:lnTo>
                  <a:lnTo>
                    <a:pt x="272812" y="135844"/>
                  </a:lnTo>
                  <a:lnTo>
                    <a:pt x="249681" y="174243"/>
                  </a:lnTo>
                  <a:lnTo>
                    <a:pt x="227472" y="213248"/>
                  </a:lnTo>
                  <a:lnTo>
                    <a:pt x="206200" y="252844"/>
                  </a:lnTo>
                  <a:lnTo>
                    <a:pt x="185879" y="293014"/>
                  </a:lnTo>
                  <a:lnTo>
                    <a:pt x="166524" y="333745"/>
                  </a:lnTo>
                  <a:lnTo>
                    <a:pt x="148152" y="375020"/>
                  </a:lnTo>
                  <a:lnTo>
                    <a:pt x="130776" y="416826"/>
                  </a:lnTo>
                  <a:lnTo>
                    <a:pt x="114412" y="459147"/>
                  </a:lnTo>
                  <a:lnTo>
                    <a:pt x="99076" y="501968"/>
                  </a:lnTo>
                  <a:lnTo>
                    <a:pt x="84781" y="545273"/>
                  </a:lnTo>
                  <a:lnTo>
                    <a:pt x="71543" y="589048"/>
                  </a:lnTo>
                  <a:lnTo>
                    <a:pt x="59377" y="633279"/>
                  </a:lnTo>
                  <a:lnTo>
                    <a:pt x="48299" y="677948"/>
                  </a:lnTo>
                  <a:lnTo>
                    <a:pt x="38322" y="723043"/>
                  </a:lnTo>
                  <a:lnTo>
                    <a:pt x="29463" y="768547"/>
                  </a:lnTo>
                  <a:lnTo>
                    <a:pt x="21737" y="814446"/>
                  </a:lnTo>
                  <a:lnTo>
                    <a:pt x="15158" y="860724"/>
                  </a:lnTo>
                  <a:lnTo>
                    <a:pt x="9741" y="907366"/>
                  </a:lnTo>
                  <a:lnTo>
                    <a:pt x="5502" y="954358"/>
                  </a:lnTo>
                  <a:lnTo>
                    <a:pt x="2455" y="1001684"/>
                  </a:lnTo>
                  <a:lnTo>
                    <a:pt x="616" y="1049330"/>
                  </a:lnTo>
                  <a:lnTo>
                    <a:pt x="0" y="1097279"/>
                  </a:lnTo>
                  <a:lnTo>
                    <a:pt x="616" y="1145229"/>
                  </a:lnTo>
                  <a:lnTo>
                    <a:pt x="2455" y="1192875"/>
                  </a:lnTo>
                  <a:lnTo>
                    <a:pt x="5502" y="1240201"/>
                  </a:lnTo>
                  <a:lnTo>
                    <a:pt x="9741" y="1287193"/>
                  </a:lnTo>
                  <a:lnTo>
                    <a:pt x="15158" y="1333835"/>
                  </a:lnTo>
                  <a:lnTo>
                    <a:pt x="21737" y="1380113"/>
                  </a:lnTo>
                  <a:lnTo>
                    <a:pt x="29464" y="1426012"/>
                  </a:lnTo>
                  <a:lnTo>
                    <a:pt x="38322" y="1471516"/>
                  </a:lnTo>
                  <a:lnTo>
                    <a:pt x="48299" y="1516611"/>
                  </a:lnTo>
                  <a:lnTo>
                    <a:pt x="59377" y="1561280"/>
                  </a:lnTo>
                  <a:lnTo>
                    <a:pt x="71543" y="1605511"/>
                  </a:lnTo>
                  <a:lnTo>
                    <a:pt x="84781" y="1649286"/>
                  </a:lnTo>
                  <a:lnTo>
                    <a:pt x="99076" y="1692591"/>
                  </a:lnTo>
                  <a:lnTo>
                    <a:pt x="114412" y="1735412"/>
                  </a:lnTo>
                  <a:lnTo>
                    <a:pt x="130776" y="1777733"/>
                  </a:lnTo>
                  <a:lnTo>
                    <a:pt x="148152" y="1819539"/>
                  </a:lnTo>
                  <a:lnTo>
                    <a:pt x="166524" y="1860814"/>
                  </a:lnTo>
                  <a:lnTo>
                    <a:pt x="185879" y="1901545"/>
                  </a:lnTo>
                  <a:lnTo>
                    <a:pt x="206200" y="1941715"/>
                  </a:lnTo>
                  <a:lnTo>
                    <a:pt x="227472" y="1981311"/>
                  </a:lnTo>
                  <a:lnTo>
                    <a:pt x="249681" y="2020316"/>
                  </a:lnTo>
                  <a:lnTo>
                    <a:pt x="272812" y="2058715"/>
                  </a:lnTo>
                  <a:lnTo>
                    <a:pt x="296850" y="2096494"/>
                  </a:lnTo>
                  <a:lnTo>
                    <a:pt x="321778" y="2133638"/>
                  </a:lnTo>
                  <a:lnTo>
                    <a:pt x="347583" y="2170131"/>
                  </a:lnTo>
                  <a:lnTo>
                    <a:pt x="374250" y="2205959"/>
                  </a:lnTo>
                  <a:lnTo>
                    <a:pt x="401762" y="2241106"/>
                  </a:lnTo>
                  <a:lnTo>
                    <a:pt x="430106" y="2275557"/>
                  </a:lnTo>
                  <a:lnTo>
                    <a:pt x="459266" y="2309298"/>
                  </a:lnTo>
                  <a:lnTo>
                    <a:pt x="489227" y="2342313"/>
                  </a:lnTo>
                  <a:lnTo>
                    <a:pt x="519974" y="2374587"/>
                  </a:lnTo>
                  <a:lnTo>
                    <a:pt x="551492" y="2406105"/>
                  </a:lnTo>
                  <a:lnTo>
                    <a:pt x="583766" y="2436852"/>
                  </a:lnTo>
                  <a:lnTo>
                    <a:pt x="616781" y="2466813"/>
                  </a:lnTo>
                  <a:lnTo>
                    <a:pt x="650522" y="2495973"/>
                  </a:lnTo>
                  <a:lnTo>
                    <a:pt x="684973" y="2524317"/>
                  </a:lnTo>
                  <a:lnTo>
                    <a:pt x="720120" y="2551829"/>
                  </a:lnTo>
                  <a:lnTo>
                    <a:pt x="755948" y="2578496"/>
                  </a:lnTo>
                  <a:lnTo>
                    <a:pt x="792441" y="2604301"/>
                  </a:lnTo>
                  <a:lnTo>
                    <a:pt x="829585" y="2629229"/>
                  </a:lnTo>
                  <a:lnTo>
                    <a:pt x="867364" y="2653267"/>
                  </a:lnTo>
                  <a:lnTo>
                    <a:pt x="905763" y="2676398"/>
                  </a:lnTo>
                  <a:lnTo>
                    <a:pt x="944768" y="2698607"/>
                  </a:lnTo>
                  <a:lnTo>
                    <a:pt x="984364" y="2719879"/>
                  </a:lnTo>
                  <a:lnTo>
                    <a:pt x="1024534" y="2740200"/>
                  </a:lnTo>
                  <a:lnTo>
                    <a:pt x="1065265" y="2759555"/>
                  </a:lnTo>
                  <a:lnTo>
                    <a:pt x="1106540" y="2777927"/>
                  </a:lnTo>
                  <a:lnTo>
                    <a:pt x="1148346" y="2795303"/>
                  </a:lnTo>
                  <a:lnTo>
                    <a:pt x="1190667" y="2811667"/>
                  </a:lnTo>
                  <a:lnTo>
                    <a:pt x="1233488" y="2827003"/>
                  </a:lnTo>
                  <a:lnTo>
                    <a:pt x="1276793" y="2841298"/>
                  </a:lnTo>
                  <a:lnTo>
                    <a:pt x="1320568" y="2854536"/>
                  </a:lnTo>
                  <a:lnTo>
                    <a:pt x="1364799" y="2866702"/>
                  </a:lnTo>
                  <a:lnTo>
                    <a:pt x="1409468" y="2877780"/>
                  </a:lnTo>
                  <a:lnTo>
                    <a:pt x="1454563" y="2887757"/>
                  </a:lnTo>
                  <a:lnTo>
                    <a:pt x="1500067" y="2896616"/>
                  </a:lnTo>
                  <a:lnTo>
                    <a:pt x="1545966" y="2904342"/>
                  </a:lnTo>
                  <a:lnTo>
                    <a:pt x="1592244" y="2910921"/>
                  </a:lnTo>
                  <a:lnTo>
                    <a:pt x="1638886" y="2916338"/>
                  </a:lnTo>
                  <a:lnTo>
                    <a:pt x="1685878" y="2920577"/>
                  </a:lnTo>
                  <a:lnTo>
                    <a:pt x="1733204" y="2923624"/>
                  </a:lnTo>
                  <a:lnTo>
                    <a:pt x="1780850" y="2925463"/>
                  </a:lnTo>
                  <a:lnTo>
                    <a:pt x="1828800" y="2926080"/>
                  </a:lnTo>
                  <a:lnTo>
                    <a:pt x="1876749" y="2925463"/>
                  </a:lnTo>
                  <a:lnTo>
                    <a:pt x="1924395" y="2923624"/>
                  </a:lnTo>
                  <a:lnTo>
                    <a:pt x="1971721" y="2920577"/>
                  </a:lnTo>
                  <a:lnTo>
                    <a:pt x="2018713" y="2916338"/>
                  </a:lnTo>
                  <a:lnTo>
                    <a:pt x="2065355" y="2910921"/>
                  </a:lnTo>
                  <a:lnTo>
                    <a:pt x="2111633" y="2904342"/>
                  </a:lnTo>
                  <a:lnTo>
                    <a:pt x="2157532" y="2896616"/>
                  </a:lnTo>
                  <a:lnTo>
                    <a:pt x="2203036" y="2887757"/>
                  </a:lnTo>
                  <a:lnTo>
                    <a:pt x="2248131" y="2877780"/>
                  </a:lnTo>
                  <a:lnTo>
                    <a:pt x="2286000" y="2868388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125E89">
                <a:alpha val="3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58000" y="0"/>
              <a:ext cx="2286000" cy="2926080"/>
            </a:xfrm>
            <a:custGeom>
              <a:avLst/>
              <a:gdLst/>
              <a:ahLst/>
              <a:cxnLst/>
              <a:rect l="l" t="t" r="r" b="b"/>
              <a:pathLst>
                <a:path w="2286000" h="2926080">
                  <a:moveTo>
                    <a:pt x="2286000" y="2868388"/>
                  </a:moveTo>
                  <a:lnTo>
                    <a:pt x="2248131" y="2877780"/>
                  </a:lnTo>
                  <a:lnTo>
                    <a:pt x="2203036" y="2887757"/>
                  </a:lnTo>
                  <a:lnTo>
                    <a:pt x="2157532" y="2896615"/>
                  </a:lnTo>
                  <a:lnTo>
                    <a:pt x="2111633" y="2904342"/>
                  </a:lnTo>
                  <a:lnTo>
                    <a:pt x="2065355" y="2910921"/>
                  </a:lnTo>
                  <a:lnTo>
                    <a:pt x="2018713" y="2916338"/>
                  </a:lnTo>
                  <a:lnTo>
                    <a:pt x="1971721" y="2920577"/>
                  </a:lnTo>
                  <a:lnTo>
                    <a:pt x="1924395" y="2923624"/>
                  </a:lnTo>
                  <a:lnTo>
                    <a:pt x="1876749" y="2925463"/>
                  </a:lnTo>
                  <a:lnTo>
                    <a:pt x="1828800" y="2926080"/>
                  </a:lnTo>
                  <a:lnTo>
                    <a:pt x="1780850" y="2925463"/>
                  </a:lnTo>
                  <a:lnTo>
                    <a:pt x="1733204" y="2923624"/>
                  </a:lnTo>
                  <a:lnTo>
                    <a:pt x="1685878" y="2920577"/>
                  </a:lnTo>
                  <a:lnTo>
                    <a:pt x="1638886" y="2916338"/>
                  </a:lnTo>
                  <a:lnTo>
                    <a:pt x="1592244" y="2910921"/>
                  </a:lnTo>
                  <a:lnTo>
                    <a:pt x="1545966" y="2904342"/>
                  </a:lnTo>
                  <a:lnTo>
                    <a:pt x="1500067" y="2896616"/>
                  </a:lnTo>
                  <a:lnTo>
                    <a:pt x="1454563" y="2887757"/>
                  </a:lnTo>
                  <a:lnTo>
                    <a:pt x="1409468" y="2877780"/>
                  </a:lnTo>
                  <a:lnTo>
                    <a:pt x="1364799" y="2866702"/>
                  </a:lnTo>
                  <a:lnTo>
                    <a:pt x="1320568" y="2854536"/>
                  </a:lnTo>
                  <a:lnTo>
                    <a:pt x="1276793" y="2841298"/>
                  </a:lnTo>
                  <a:lnTo>
                    <a:pt x="1233488" y="2827003"/>
                  </a:lnTo>
                  <a:lnTo>
                    <a:pt x="1190667" y="2811667"/>
                  </a:lnTo>
                  <a:lnTo>
                    <a:pt x="1148346" y="2795303"/>
                  </a:lnTo>
                  <a:lnTo>
                    <a:pt x="1106540" y="2777927"/>
                  </a:lnTo>
                  <a:lnTo>
                    <a:pt x="1065265" y="2759555"/>
                  </a:lnTo>
                  <a:lnTo>
                    <a:pt x="1024534" y="2740200"/>
                  </a:lnTo>
                  <a:lnTo>
                    <a:pt x="984364" y="2719879"/>
                  </a:lnTo>
                  <a:lnTo>
                    <a:pt x="944768" y="2698607"/>
                  </a:lnTo>
                  <a:lnTo>
                    <a:pt x="905763" y="2676398"/>
                  </a:lnTo>
                  <a:lnTo>
                    <a:pt x="867364" y="2653267"/>
                  </a:lnTo>
                  <a:lnTo>
                    <a:pt x="829585" y="2629229"/>
                  </a:lnTo>
                  <a:lnTo>
                    <a:pt x="792441" y="2604301"/>
                  </a:lnTo>
                  <a:lnTo>
                    <a:pt x="755948" y="2578496"/>
                  </a:lnTo>
                  <a:lnTo>
                    <a:pt x="720120" y="2551829"/>
                  </a:lnTo>
                  <a:lnTo>
                    <a:pt x="684973" y="2524317"/>
                  </a:lnTo>
                  <a:lnTo>
                    <a:pt x="650522" y="2495973"/>
                  </a:lnTo>
                  <a:lnTo>
                    <a:pt x="616781" y="2466813"/>
                  </a:lnTo>
                  <a:lnTo>
                    <a:pt x="583766" y="2436852"/>
                  </a:lnTo>
                  <a:lnTo>
                    <a:pt x="551492" y="2406105"/>
                  </a:lnTo>
                  <a:lnTo>
                    <a:pt x="519974" y="2374587"/>
                  </a:lnTo>
                  <a:lnTo>
                    <a:pt x="489227" y="2342313"/>
                  </a:lnTo>
                  <a:lnTo>
                    <a:pt x="459266" y="2309298"/>
                  </a:lnTo>
                  <a:lnTo>
                    <a:pt x="430106" y="2275557"/>
                  </a:lnTo>
                  <a:lnTo>
                    <a:pt x="401762" y="2241106"/>
                  </a:lnTo>
                  <a:lnTo>
                    <a:pt x="374250" y="2205959"/>
                  </a:lnTo>
                  <a:lnTo>
                    <a:pt x="347583" y="2170131"/>
                  </a:lnTo>
                  <a:lnTo>
                    <a:pt x="321778" y="2133638"/>
                  </a:lnTo>
                  <a:lnTo>
                    <a:pt x="296850" y="2096494"/>
                  </a:lnTo>
                  <a:lnTo>
                    <a:pt x="272812" y="2058715"/>
                  </a:lnTo>
                  <a:lnTo>
                    <a:pt x="249681" y="2020316"/>
                  </a:lnTo>
                  <a:lnTo>
                    <a:pt x="227472" y="1981311"/>
                  </a:lnTo>
                  <a:lnTo>
                    <a:pt x="206200" y="1941715"/>
                  </a:lnTo>
                  <a:lnTo>
                    <a:pt x="185879" y="1901545"/>
                  </a:lnTo>
                  <a:lnTo>
                    <a:pt x="166524" y="1860814"/>
                  </a:lnTo>
                  <a:lnTo>
                    <a:pt x="148152" y="1819539"/>
                  </a:lnTo>
                  <a:lnTo>
                    <a:pt x="130776" y="1777733"/>
                  </a:lnTo>
                  <a:lnTo>
                    <a:pt x="114412" y="1735412"/>
                  </a:lnTo>
                  <a:lnTo>
                    <a:pt x="99076" y="1692591"/>
                  </a:lnTo>
                  <a:lnTo>
                    <a:pt x="84781" y="1649286"/>
                  </a:lnTo>
                  <a:lnTo>
                    <a:pt x="71543" y="1605511"/>
                  </a:lnTo>
                  <a:lnTo>
                    <a:pt x="59377" y="1561280"/>
                  </a:lnTo>
                  <a:lnTo>
                    <a:pt x="48299" y="1516611"/>
                  </a:lnTo>
                  <a:lnTo>
                    <a:pt x="38322" y="1471516"/>
                  </a:lnTo>
                  <a:lnTo>
                    <a:pt x="29464" y="1426012"/>
                  </a:lnTo>
                  <a:lnTo>
                    <a:pt x="21737" y="1380113"/>
                  </a:lnTo>
                  <a:lnTo>
                    <a:pt x="15158" y="1333835"/>
                  </a:lnTo>
                  <a:lnTo>
                    <a:pt x="9741" y="1287193"/>
                  </a:lnTo>
                  <a:lnTo>
                    <a:pt x="5502" y="1240201"/>
                  </a:lnTo>
                  <a:lnTo>
                    <a:pt x="2455" y="1192875"/>
                  </a:lnTo>
                  <a:lnTo>
                    <a:pt x="616" y="1145229"/>
                  </a:lnTo>
                  <a:lnTo>
                    <a:pt x="0" y="1097279"/>
                  </a:lnTo>
                  <a:lnTo>
                    <a:pt x="616" y="1049330"/>
                  </a:lnTo>
                  <a:lnTo>
                    <a:pt x="2455" y="1001684"/>
                  </a:lnTo>
                  <a:lnTo>
                    <a:pt x="5502" y="954358"/>
                  </a:lnTo>
                  <a:lnTo>
                    <a:pt x="9741" y="907366"/>
                  </a:lnTo>
                  <a:lnTo>
                    <a:pt x="15158" y="860724"/>
                  </a:lnTo>
                  <a:lnTo>
                    <a:pt x="21737" y="814446"/>
                  </a:lnTo>
                  <a:lnTo>
                    <a:pt x="29463" y="768547"/>
                  </a:lnTo>
                  <a:lnTo>
                    <a:pt x="38322" y="723043"/>
                  </a:lnTo>
                  <a:lnTo>
                    <a:pt x="48299" y="677948"/>
                  </a:lnTo>
                  <a:lnTo>
                    <a:pt x="59377" y="633279"/>
                  </a:lnTo>
                  <a:lnTo>
                    <a:pt x="71543" y="589048"/>
                  </a:lnTo>
                  <a:lnTo>
                    <a:pt x="84781" y="545273"/>
                  </a:lnTo>
                  <a:lnTo>
                    <a:pt x="99076" y="501968"/>
                  </a:lnTo>
                  <a:lnTo>
                    <a:pt x="114412" y="459147"/>
                  </a:lnTo>
                  <a:lnTo>
                    <a:pt x="130776" y="416826"/>
                  </a:lnTo>
                  <a:lnTo>
                    <a:pt x="148152" y="375020"/>
                  </a:lnTo>
                  <a:lnTo>
                    <a:pt x="166524" y="333745"/>
                  </a:lnTo>
                  <a:lnTo>
                    <a:pt x="185879" y="293014"/>
                  </a:lnTo>
                  <a:lnTo>
                    <a:pt x="206200" y="252844"/>
                  </a:lnTo>
                  <a:lnTo>
                    <a:pt x="227472" y="213248"/>
                  </a:lnTo>
                  <a:lnTo>
                    <a:pt x="249681" y="174243"/>
                  </a:lnTo>
                  <a:lnTo>
                    <a:pt x="272812" y="135844"/>
                  </a:lnTo>
                  <a:lnTo>
                    <a:pt x="296850" y="98065"/>
                  </a:lnTo>
                  <a:lnTo>
                    <a:pt x="321778" y="60921"/>
                  </a:lnTo>
                  <a:lnTo>
                    <a:pt x="347583" y="24428"/>
                  </a:lnTo>
                  <a:lnTo>
                    <a:pt x="365765" y="0"/>
                  </a:lnTo>
                </a:path>
              </a:pathLst>
            </a:custGeom>
            <a:ln w="12700">
              <a:solidFill>
                <a:srgbClr val="125E8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2743200"/>
              <a:ext cx="1371600" cy="2400300"/>
            </a:xfrm>
            <a:custGeom>
              <a:avLst/>
              <a:gdLst/>
              <a:ahLst/>
              <a:cxnLst/>
              <a:rect l="l" t="t" r="r" b="b"/>
              <a:pathLst>
                <a:path w="1371600" h="2400300">
                  <a:moveTo>
                    <a:pt x="0" y="0"/>
                  </a:moveTo>
                  <a:lnTo>
                    <a:pt x="0" y="2400300"/>
                  </a:lnTo>
                  <a:lnTo>
                    <a:pt x="906987" y="2400300"/>
                  </a:lnTo>
                  <a:lnTo>
                    <a:pt x="953897" y="2357182"/>
                  </a:lnTo>
                  <a:lnTo>
                    <a:pt x="985582" y="2325497"/>
                  </a:lnTo>
                  <a:lnTo>
                    <a:pt x="1016225" y="2292797"/>
                  </a:lnTo>
                  <a:lnTo>
                    <a:pt x="1045799" y="2259108"/>
                  </a:lnTo>
                  <a:lnTo>
                    <a:pt x="1074275" y="2224459"/>
                  </a:lnTo>
                  <a:lnTo>
                    <a:pt x="1101628" y="2188876"/>
                  </a:lnTo>
                  <a:lnTo>
                    <a:pt x="1127829" y="2152387"/>
                  </a:lnTo>
                  <a:lnTo>
                    <a:pt x="1152852" y="2115019"/>
                  </a:lnTo>
                  <a:lnTo>
                    <a:pt x="1176670" y="2076798"/>
                  </a:lnTo>
                  <a:lnTo>
                    <a:pt x="1199255" y="2037753"/>
                  </a:lnTo>
                  <a:lnTo>
                    <a:pt x="1220580" y="1997911"/>
                  </a:lnTo>
                  <a:lnTo>
                    <a:pt x="1240617" y="1957298"/>
                  </a:lnTo>
                  <a:lnTo>
                    <a:pt x="1259341" y="1915941"/>
                  </a:lnTo>
                  <a:lnTo>
                    <a:pt x="1276722" y="1873869"/>
                  </a:lnTo>
                  <a:lnTo>
                    <a:pt x="1292735" y="1831108"/>
                  </a:lnTo>
                  <a:lnTo>
                    <a:pt x="1307352" y="1787686"/>
                  </a:lnTo>
                  <a:lnTo>
                    <a:pt x="1320546" y="1743629"/>
                  </a:lnTo>
                  <a:lnTo>
                    <a:pt x="1332290" y="1698965"/>
                  </a:lnTo>
                  <a:lnTo>
                    <a:pt x="1342556" y="1653721"/>
                  </a:lnTo>
                  <a:lnTo>
                    <a:pt x="1351317" y="1607924"/>
                  </a:lnTo>
                  <a:lnTo>
                    <a:pt x="1358546" y="1561601"/>
                  </a:lnTo>
                  <a:lnTo>
                    <a:pt x="1364216" y="1514780"/>
                  </a:lnTo>
                  <a:lnTo>
                    <a:pt x="1368300" y="1467488"/>
                  </a:lnTo>
                  <a:lnTo>
                    <a:pt x="1370770" y="1419752"/>
                  </a:lnTo>
                  <a:lnTo>
                    <a:pt x="1371600" y="1371600"/>
                  </a:lnTo>
                  <a:lnTo>
                    <a:pt x="1370770" y="1323444"/>
                  </a:lnTo>
                  <a:lnTo>
                    <a:pt x="1368300" y="1275706"/>
                  </a:lnTo>
                  <a:lnTo>
                    <a:pt x="1364216" y="1228412"/>
                  </a:lnTo>
                  <a:lnTo>
                    <a:pt x="1358546" y="1181590"/>
                  </a:lnTo>
                  <a:lnTo>
                    <a:pt x="1351317" y="1135266"/>
                  </a:lnTo>
                  <a:lnTo>
                    <a:pt x="1342556" y="1089467"/>
                  </a:lnTo>
                  <a:lnTo>
                    <a:pt x="1332290" y="1044222"/>
                  </a:lnTo>
                  <a:lnTo>
                    <a:pt x="1320546" y="999557"/>
                  </a:lnTo>
                  <a:lnTo>
                    <a:pt x="1307352" y="955499"/>
                  </a:lnTo>
                  <a:lnTo>
                    <a:pt x="1292735" y="912076"/>
                  </a:lnTo>
                  <a:lnTo>
                    <a:pt x="1276722" y="869314"/>
                  </a:lnTo>
                  <a:lnTo>
                    <a:pt x="1259341" y="827241"/>
                  </a:lnTo>
                  <a:lnTo>
                    <a:pt x="1240617" y="785885"/>
                  </a:lnTo>
                  <a:lnTo>
                    <a:pt x="1220580" y="745272"/>
                  </a:lnTo>
                  <a:lnTo>
                    <a:pt x="1199255" y="705429"/>
                  </a:lnTo>
                  <a:lnTo>
                    <a:pt x="1176670" y="666384"/>
                  </a:lnTo>
                  <a:lnTo>
                    <a:pt x="1152852" y="628163"/>
                  </a:lnTo>
                  <a:lnTo>
                    <a:pt x="1127829" y="590795"/>
                  </a:lnTo>
                  <a:lnTo>
                    <a:pt x="1101628" y="554306"/>
                  </a:lnTo>
                  <a:lnTo>
                    <a:pt x="1074275" y="518724"/>
                  </a:lnTo>
                  <a:lnTo>
                    <a:pt x="1045799" y="484075"/>
                  </a:lnTo>
                  <a:lnTo>
                    <a:pt x="1016225" y="450387"/>
                  </a:lnTo>
                  <a:lnTo>
                    <a:pt x="985582" y="417687"/>
                  </a:lnTo>
                  <a:lnTo>
                    <a:pt x="953897" y="386003"/>
                  </a:lnTo>
                  <a:lnTo>
                    <a:pt x="921197" y="355360"/>
                  </a:lnTo>
                  <a:lnTo>
                    <a:pt x="887508" y="325788"/>
                  </a:lnTo>
                  <a:lnTo>
                    <a:pt x="852859" y="297312"/>
                  </a:lnTo>
                  <a:lnTo>
                    <a:pt x="817276" y="269960"/>
                  </a:lnTo>
                  <a:lnTo>
                    <a:pt x="780787" y="243759"/>
                  </a:lnTo>
                  <a:lnTo>
                    <a:pt x="743419" y="218737"/>
                  </a:lnTo>
                  <a:lnTo>
                    <a:pt x="705198" y="194920"/>
                  </a:lnTo>
                  <a:lnTo>
                    <a:pt x="666153" y="172336"/>
                  </a:lnTo>
                  <a:lnTo>
                    <a:pt x="626311" y="151012"/>
                  </a:lnTo>
                  <a:lnTo>
                    <a:pt x="585698" y="130975"/>
                  </a:lnTo>
                  <a:lnTo>
                    <a:pt x="544341" y="112253"/>
                  </a:lnTo>
                  <a:lnTo>
                    <a:pt x="502269" y="94872"/>
                  </a:lnTo>
                  <a:lnTo>
                    <a:pt x="459508" y="78860"/>
                  </a:lnTo>
                  <a:lnTo>
                    <a:pt x="416086" y="64243"/>
                  </a:lnTo>
                  <a:lnTo>
                    <a:pt x="372029" y="51050"/>
                  </a:lnTo>
                  <a:lnTo>
                    <a:pt x="327365" y="39307"/>
                  </a:lnTo>
                  <a:lnTo>
                    <a:pt x="282121" y="29042"/>
                  </a:lnTo>
                  <a:lnTo>
                    <a:pt x="236324" y="20281"/>
                  </a:lnTo>
                  <a:lnTo>
                    <a:pt x="190001" y="13052"/>
                  </a:lnTo>
                  <a:lnTo>
                    <a:pt x="143180" y="7382"/>
                  </a:lnTo>
                  <a:lnTo>
                    <a:pt x="95888" y="3299"/>
                  </a:lnTo>
                  <a:lnTo>
                    <a:pt x="48152" y="8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9295">
                <a:alpha val="250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0" y="2743200"/>
              <a:ext cx="1371600" cy="2400300"/>
            </a:xfrm>
            <a:custGeom>
              <a:avLst/>
              <a:gdLst/>
              <a:ahLst/>
              <a:cxnLst/>
              <a:rect l="l" t="t" r="r" b="b"/>
              <a:pathLst>
                <a:path w="1371600" h="2400300">
                  <a:moveTo>
                    <a:pt x="0" y="0"/>
                  </a:moveTo>
                  <a:lnTo>
                    <a:pt x="48152" y="829"/>
                  </a:lnTo>
                  <a:lnTo>
                    <a:pt x="95888" y="3299"/>
                  </a:lnTo>
                  <a:lnTo>
                    <a:pt x="143180" y="7382"/>
                  </a:lnTo>
                  <a:lnTo>
                    <a:pt x="190001" y="13052"/>
                  </a:lnTo>
                  <a:lnTo>
                    <a:pt x="236324" y="20281"/>
                  </a:lnTo>
                  <a:lnTo>
                    <a:pt x="282121" y="29042"/>
                  </a:lnTo>
                  <a:lnTo>
                    <a:pt x="327365" y="39307"/>
                  </a:lnTo>
                  <a:lnTo>
                    <a:pt x="372029" y="51050"/>
                  </a:lnTo>
                  <a:lnTo>
                    <a:pt x="416086" y="64243"/>
                  </a:lnTo>
                  <a:lnTo>
                    <a:pt x="459508" y="78860"/>
                  </a:lnTo>
                  <a:lnTo>
                    <a:pt x="502269" y="94872"/>
                  </a:lnTo>
                  <a:lnTo>
                    <a:pt x="544341" y="112253"/>
                  </a:lnTo>
                  <a:lnTo>
                    <a:pt x="585698" y="130975"/>
                  </a:lnTo>
                  <a:lnTo>
                    <a:pt x="626311" y="151012"/>
                  </a:lnTo>
                  <a:lnTo>
                    <a:pt x="666153" y="172336"/>
                  </a:lnTo>
                  <a:lnTo>
                    <a:pt x="705198" y="194920"/>
                  </a:lnTo>
                  <a:lnTo>
                    <a:pt x="743419" y="218737"/>
                  </a:lnTo>
                  <a:lnTo>
                    <a:pt x="780787" y="243759"/>
                  </a:lnTo>
                  <a:lnTo>
                    <a:pt x="817276" y="269960"/>
                  </a:lnTo>
                  <a:lnTo>
                    <a:pt x="852859" y="297312"/>
                  </a:lnTo>
                  <a:lnTo>
                    <a:pt x="887508" y="325788"/>
                  </a:lnTo>
                  <a:lnTo>
                    <a:pt x="921197" y="355360"/>
                  </a:lnTo>
                  <a:lnTo>
                    <a:pt x="953897" y="386003"/>
                  </a:lnTo>
                  <a:lnTo>
                    <a:pt x="985582" y="417687"/>
                  </a:lnTo>
                  <a:lnTo>
                    <a:pt x="1016225" y="450387"/>
                  </a:lnTo>
                  <a:lnTo>
                    <a:pt x="1045799" y="484075"/>
                  </a:lnTo>
                  <a:lnTo>
                    <a:pt x="1074275" y="518724"/>
                  </a:lnTo>
                  <a:lnTo>
                    <a:pt x="1101628" y="554306"/>
                  </a:lnTo>
                  <a:lnTo>
                    <a:pt x="1127829" y="590795"/>
                  </a:lnTo>
                  <a:lnTo>
                    <a:pt x="1152852" y="628163"/>
                  </a:lnTo>
                  <a:lnTo>
                    <a:pt x="1176670" y="666384"/>
                  </a:lnTo>
                  <a:lnTo>
                    <a:pt x="1199255" y="705429"/>
                  </a:lnTo>
                  <a:lnTo>
                    <a:pt x="1220580" y="745272"/>
                  </a:lnTo>
                  <a:lnTo>
                    <a:pt x="1240617" y="785885"/>
                  </a:lnTo>
                  <a:lnTo>
                    <a:pt x="1259341" y="827241"/>
                  </a:lnTo>
                  <a:lnTo>
                    <a:pt x="1276722" y="869314"/>
                  </a:lnTo>
                  <a:lnTo>
                    <a:pt x="1292735" y="912076"/>
                  </a:lnTo>
                  <a:lnTo>
                    <a:pt x="1307352" y="955499"/>
                  </a:lnTo>
                  <a:lnTo>
                    <a:pt x="1320546" y="999557"/>
                  </a:lnTo>
                  <a:lnTo>
                    <a:pt x="1332290" y="1044222"/>
                  </a:lnTo>
                  <a:lnTo>
                    <a:pt x="1342556" y="1089467"/>
                  </a:lnTo>
                  <a:lnTo>
                    <a:pt x="1351317" y="1135266"/>
                  </a:lnTo>
                  <a:lnTo>
                    <a:pt x="1358546" y="1181590"/>
                  </a:lnTo>
                  <a:lnTo>
                    <a:pt x="1364216" y="1228412"/>
                  </a:lnTo>
                  <a:lnTo>
                    <a:pt x="1368300" y="1275706"/>
                  </a:lnTo>
                  <a:lnTo>
                    <a:pt x="1370770" y="1323444"/>
                  </a:lnTo>
                  <a:lnTo>
                    <a:pt x="1371600" y="1371600"/>
                  </a:lnTo>
                  <a:lnTo>
                    <a:pt x="1370770" y="1419752"/>
                  </a:lnTo>
                  <a:lnTo>
                    <a:pt x="1368300" y="1467488"/>
                  </a:lnTo>
                  <a:lnTo>
                    <a:pt x="1364216" y="1514780"/>
                  </a:lnTo>
                  <a:lnTo>
                    <a:pt x="1358546" y="1561601"/>
                  </a:lnTo>
                  <a:lnTo>
                    <a:pt x="1351317" y="1607924"/>
                  </a:lnTo>
                  <a:lnTo>
                    <a:pt x="1342556" y="1653721"/>
                  </a:lnTo>
                  <a:lnTo>
                    <a:pt x="1332290" y="1698965"/>
                  </a:lnTo>
                  <a:lnTo>
                    <a:pt x="1320546" y="1743629"/>
                  </a:lnTo>
                  <a:lnTo>
                    <a:pt x="1307352" y="1787686"/>
                  </a:lnTo>
                  <a:lnTo>
                    <a:pt x="1292735" y="1831108"/>
                  </a:lnTo>
                  <a:lnTo>
                    <a:pt x="1276722" y="1873869"/>
                  </a:lnTo>
                  <a:lnTo>
                    <a:pt x="1259341" y="1915941"/>
                  </a:lnTo>
                  <a:lnTo>
                    <a:pt x="1240617" y="1957298"/>
                  </a:lnTo>
                  <a:lnTo>
                    <a:pt x="1220580" y="1997911"/>
                  </a:lnTo>
                  <a:lnTo>
                    <a:pt x="1199255" y="2037753"/>
                  </a:lnTo>
                  <a:lnTo>
                    <a:pt x="1176670" y="2076798"/>
                  </a:lnTo>
                  <a:lnTo>
                    <a:pt x="1152852" y="2115019"/>
                  </a:lnTo>
                  <a:lnTo>
                    <a:pt x="1127829" y="2152387"/>
                  </a:lnTo>
                  <a:lnTo>
                    <a:pt x="1101628" y="2188876"/>
                  </a:lnTo>
                  <a:lnTo>
                    <a:pt x="1074275" y="2224459"/>
                  </a:lnTo>
                  <a:lnTo>
                    <a:pt x="1045799" y="2259108"/>
                  </a:lnTo>
                  <a:lnTo>
                    <a:pt x="1016225" y="2292797"/>
                  </a:lnTo>
                  <a:lnTo>
                    <a:pt x="985582" y="2325497"/>
                  </a:lnTo>
                  <a:lnTo>
                    <a:pt x="953897" y="2357182"/>
                  </a:lnTo>
                  <a:lnTo>
                    <a:pt x="921197" y="2387825"/>
                  </a:lnTo>
                  <a:lnTo>
                    <a:pt x="906987" y="2400300"/>
                  </a:lnTo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1297050" y="1211706"/>
            <a:ext cx="6548755" cy="8788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075055" marR="5080" indent="-1062990">
              <a:lnSpc>
                <a:spcPct val="100000"/>
              </a:lnSpc>
              <a:spcBef>
                <a:spcPts val="95"/>
              </a:spcBef>
            </a:pPr>
            <a:r>
              <a:rPr dirty="0" sz="2800" spc="-20" b="0">
                <a:latin typeface="Times New Roman"/>
                <a:cs typeface="Times New Roman"/>
              </a:rPr>
              <a:t>Study</a:t>
            </a:r>
            <a:r>
              <a:rPr dirty="0" sz="2800" spc="-165" b="0">
                <a:latin typeface="Times New Roman"/>
                <a:cs typeface="Times New Roman"/>
              </a:rPr>
              <a:t> </a:t>
            </a:r>
            <a:r>
              <a:rPr dirty="0" sz="2800" spc="-10" b="0">
                <a:latin typeface="Times New Roman"/>
                <a:cs typeface="Times New Roman"/>
              </a:rPr>
              <a:t>Assistance</a:t>
            </a:r>
            <a:r>
              <a:rPr dirty="0" sz="2800" spc="-165" b="0">
                <a:latin typeface="Times New Roman"/>
                <a:cs typeface="Times New Roman"/>
              </a:rPr>
              <a:t> </a:t>
            </a:r>
            <a:r>
              <a:rPr dirty="0" sz="2800" b="0">
                <a:latin typeface="Times New Roman"/>
                <a:cs typeface="Times New Roman"/>
              </a:rPr>
              <a:t>AI Chatbot</a:t>
            </a:r>
            <a:r>
              <a:rPr dirty="0" sz="2800" spc="-15" b="0">
                <a:latin typeface="Times New Roman"/>
                <a:cs typeface="Times New Roman"/>
              </a:rPr>
              <a:t> </a:t>
            </a:r>
            <a:r>
              <a:rPr dirty="0" sz="2800" b="0">
                <a:latin typeface="Times New Roman"/>
                <a:cs typeface="Times New Roman"/>
              </a:rPr>
              <a:t>Using</a:t>
            </a:r>
            <a:r>
              <a:rPr dirty="0" sz="2800" spc="-10" b="0">
                <a:latin typeface="Times New Roman"/>
                <a:cs typeface="Times New Roman"/>
              </a:rPr>
              <a:t> Retrieval-</a:t>
            </a:r>
            <a:r>
              <a:rPr dirty="0" sz="2800" b="0">
                <a:latin typeface="Times New Roman"/>
                <a:cs typeface="Times New Roman"/>
              </a:rPr>
              <a:t>Augmented</a:t>
            </a:r>
            <a:r>
              <a:rPr dirty="0" sz="2800" spc="-60" b="0">
                <a:latin typeface="Times New Roman"/>
                <a:cs typeface="Times New Roman"/>
              </a:rPr>
              <a:t> </a:t>
            </a:r>
            <a:r>
              <a:rPr dirty="0" sz="2800" b="0">
                <a:latin typeface="Times New Roman"/>
                <a:cs typeface="Times New Roman"/>
              </a:rPr>
              <a:t>Generation</a:t>
            </a:r>
            <a:r>
              <a:rPr dirty="0" sz="2800" spc="-45" b="0">
                <a:latin typeface="Times New Roman"/>
                <a:cs typeface="Times New Roman"/>
              </a:rPr>
              <a:t> </a:t>
            </a:r>
            <a:r>
              <a:rPr dirty="0" sz="2800" spc="-10" b="0">
                <a:latin typeface="Times New Roman"/>
                <a:cs typeface="Times New Roman"/>
              </a:rPr>
              <a:t>(RAG)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08330" y="2533126"/>
          <a:ext cx="4408170" cy="2047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2865"/>
                <a:gridCol w="1729105"/>
              </a:tblGrid>
              <a:tr h="207010">
                <a:tc>
                  <a:txBody>
                    <a:bodyPr/>
                    <a:lstStyle/>
                    <a:p>
                      <a:pPr marL="31750">
                        <a:lnSpc>
                          <a:spcPts val="1530"/>
                        </a:lnSpc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dirty="0" sz="1400" spc="-7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SUPERVISOR: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D2B45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D2B45"/>
                    </a:solidFill>
                  </a:tcPr>
                </a:tc>
              </a:tr>
              <a:tr h="408305">
                <a:tc>
                  <a:txBody>
                    <a:bodyPr/>
                    <a:lstStyle/>
                    <a:p>
                      <a:pPr marL="31750">
                        <a:lnSpc>
                          <a:spcPts val="2039"/>
                        </a:lnSpc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DR.R.</a:t>
                      </a:r>
                      <a:r>
                        <a:rPr dirty="0" sz="1800" spc="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GOLDA</a:t>
                      </a:r>
                      <a:r>
                        <a:rPr dirty="0" sz="1800" spc="-8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BRUNET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D2B45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solidFill>
                      <a:srgbClr val="0D2B45"/>
                    </a:solidFill>
                  </a:tcPr>
                </a:tc>
              </a:tr>
              <a:tr h="3530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TEAM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MEMBERS: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00">
                    <a:solidFill>
                      <a:srgbClr val="0D2B45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solidFill>
                      <a:srgbClr val="0D2B45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31750">
                        <a:lnSpc>
                          <a:spcPts val="2045"/>
                        </a:lnSpc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1.</a:t>
                      </a:r>
                      <a:r>
                        <a:rPr dirty="0" sz="1800" spc="-4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BHARATH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045"/>
                        </a:lnSpc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(822722104009)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D2B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2045"/>
                        </a:lnSpc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2.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HARISH</a:t>
                      </a:r>
                      <a:r>
                        <a:rPr dirty="0" sz="1800" spc="-1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KUMAR</a:t>
                      </a:r>
                      <a:r>
                        <a:rPr dirty="0" sz="1800" spc="-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045"/>
                        </a:lnSpc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(822722104017)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D2B45"/>
                    </a:solidFill>
                  </a:tcPr>
                </a:tc>
              </a:tr>
              <a:tr h="270510">
                <a:tc>
                  <a:txBody>
                    <a:bodyPr/>
                    <a:lstStyle/>
                    <a:p>
                      <a:pPr marL="31750">
                        <a:lnSpc>
                          <a:spcPts val="2035"/>
                        </a:lnSpc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3.</a:t>
                      </a:r>
                      <a:r>
                        <a:rPr dirty="0" sz="1800" spc="-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PRABAKARAN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035"/>
                        </a:lnSpc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(822722104032)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D2B45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marL="31750">
                        <a:lnSpc>
                          <a:spcPts val="1955"/>
                        </a:lnSpc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4.</a:t>
                      </a:r>
                      <a:r>
                        <a:rPr dirty="0" sz="1800" spc="1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4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SOWMIYA</a:t>
                      </a:r>
                      <a:r>
                        <a:rPr dirty="0" sz="1800" spc="-6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955"/>
                        </a:lnSpc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(822722104048)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D2B45"/>
                    </a:solidFill>
                  </a:tcPr>
                </a:tc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0" y="38"/>
            <a:ext cx="9144000" cy="4652645"/>
            <a:chOff x="0" y="38"/>
            <a:chExt cx="9144000" cy="4652645"/>
          </a:xfrm>
        </p:grpSpPr>
        <p:pic>
          <p:nvPicPr>
            <p:cNvPr id="15" name="object 15" descr="A robot sitting on a computer  AI-generated content may be incorrect.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40703" y="2571775"/>
              <a:ext cx="2080387" cy="208038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8"/>
              <a:ext cx="9143999" cy="12300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Introduction</a:t>
            </a:r>
            <a:r>
              <a:rPr dirty="0" spc="5"/>
              <a:t> </a:t>
            </a:r>
            <a:r>
              <a:rPr dirty="0"/>
              <a:t>–</a:t>
            </a:r>
            <a:r>
              <a:rPr dirty="0" spc="-25"/>
              <a:t> </a:t>
            </a:r>
            <a:r>
              <a:rPr dirty="0" spc="-1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620" y="798321"/>
            <a:ext cx="8070215" cy="1768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25E89"/>
                </a:solidFill>
                <a:latin typeface="Calibri"/>
                <a:cs typeface="Calibri"/>
              </a:rPr>
              <a:t>What</a:t>
            </a:r>
            <a:r>
              <a:rPr dirty="0" sz="1500" spc="-2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25E89"/>
                </a:solidFill>
                <a:latin typeface="Calibri"/>
                <a:cs typeface="Calibri"/>
              </a:rPr>
              <a:t>is</a:t>
            </a:r>
            <a:r>
              <a:rPr dirty="0" sz="1500" spc="-1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25E89"/>
                </a:solidFill>
                <a:latin typeface="Calibri"/>
                <a:cs typeface="Calibri"/>
              </a:rPr>
              <a:t>the</a:t>
            </a:r>
            <a:r>
              <a:rPr dirty="0" sz="1500" spc="-2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25E89"/>
                </a:solidFill>
                <a:latin typeface="Calibri"/>
                <a:cs typeface="Calibri"/>
              </a:rPr>
              <a:t>Problem?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500">
              <a:latin typeface="Calibri"/>
              <a:cs typeface="Calibri"/>
            </a:endParaRPr>
          </a:p>
          <a:p>
            <a:pPr marL="446405" indent="-342265">
              <a:lnSpc>
                <a:spcPct val="100000"/>
              </a:lnSpc>
              <a:buChar char="•"/>
              <a:tabLst>
                <a:tab pos="446405" algn="l"/>
              </a:tabLst>
            </a:pP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Academic</a:t>
            </a:r>
            <a:r>
              <a:rPr dirty="0" sz="13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materials</a:t>
            </a:r>
            <a:r>
              <a:rPr dirty="0" sz="13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(textbooks,</a:t>
            </a:r>
            <a:r>
              <a:rPr dirty="0" sz="1350" spc="-5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lecture</a:t>
            </a:r>
            <a:r>
              <a:rPr dirty="0" sz="13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notes,</a:t>
            </a:r>
            <a:r>
              <a:rPr dirty="0" sz="1350" spc="-5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PDFs)</a:t>
            </a:r>
            <a:r>
              <a:rPr dirty="0" sz="1350" spc="-4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are</a:t>
            </a:r>
            <a:r>
              <a:rPr dirty="0" sz="13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large,</a:t>
            </a:r>
            <a:r>
              <a:rPr dirty="0" sz="13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unstructured,</a:t>
            </a:r>
            <a:r>
              <a:rPr dirty="0" sz="13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and</a:t>
            </a:r>
            <a:r>
              <a:rPr dirty="0" sz="13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difficult</a:t>
            </a:r>
            <a:r>
              <a:rPr dirty="0" sz="13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to</a:t>
            </a:r>
            <a:r>
              <a:rPr dirty="0" sz="1350" spc="-4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search</a:t>
            </a:r>
            <a:r>
              <a:rPr dirty="0" sz="13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efficiently.</a:t>
            </a:r>
            <a:endParaRPr sz="1350">
              <a:latin typeface="Calibri"/>
              <a:cs typeface="Calibri"/>
            </a:endParaRPr>
          </a:p>
          <a:p>
            <a:pPr marL="446405" indent="-342265">
              <a:lnSpc>
                <a:spcPct val="100000"/>
              </a:lnSpc>
              <a:spcBef>
                <a:spcPts val="505"/>
              </a:spcBef>
              <a:buChar char="•"/>
              <a:tabLst>
                <a:tab pos="446405" algn="l"/>
              </a:tabLst>
            </a:pP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Students</a:t>
            </a:r>
            <a:r>
              <a:rPr dirty="0" sz="13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spend</a:t>
            </a:r>
            <a:r>
              <a:rPr dirty="0" sz="13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considerable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 time</a:t>
            </a:r>
            <a:r>
              <a:rPr dirty="0" sz="13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manually</a:t>
            </a:r>
            <a:r>
              <a:rPr dirty="0" sz="13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browsing</a:t>
            </a:r>
            <a:r>
              <a:rPr dirty="0" sz="13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content</a:t>
            </a:r>
            <a:r>
              <a:rPr dirty="0" sz="13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instead</a:t>
            </a:r>
            <a:r>
              <a:rPr dirty="0" sz="13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of</a:t>
            </a:r>
            <a:r>
              <a:rPr dirty="0" sz="13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focusing</a:t>
            </a:r>
            <a:r>
              <a:rPr dirty="0" sz="13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on</a:t>
            </a:r>
            <a:r>
              <a:rPr dirty="0" sz="13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understanding</a:t>
            </a:r>
            <a:r>
              <a:rPr dirty="0" sz="1350" spc="-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concepts.</a:t>
            </a:r>
            <a:endParaRPr sz="1350">
              <a:latin typeface="Calibri"/>
              <a:cs typeface="Calibri"/>
            </a:endParaRPr>
          </a:p>
          <a:p>
            <a:pPr marL="446405" indent="-342265">
              <a:lnSpc>
                <a:spcPct val="100000"/>
              </a:lnSpc>
              <a:spcBef>
                <a:spcPts val="505"/>
              </a:spcBef>
              <a:buChar char="•"/>
              <a:tabLst>
                <a:tab pos="446405" algn="l"/>
              </a:tabLst>
            </a:pPr>
            <a:r>
              <a:rPr dirty="0" sz="1350" spc="-20">
                <a:solidFill>
                  <a:srgbClr val="0D2B45"/>
                </a:solidFill>
                <a:latin typeface="Calibri"/>
                <a:cs typeface="Calibri"/>
              </a:rPr>
              <a:t>Traditional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0D2B45"/>
                </a:solidFill>
                <a:latin typeface="Calibri"/>
                <a:cs typeface="Calibri"/>
              </a:rPr>
              <a:t>keyword-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based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search fails</a:t>
            </a:r>
            <a:r>
              <a:rPr dirty="0" sz="13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to</a:t>
            </a:r>
            <a:r>
              <a:rPr dirty="0" sz="13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capture</a:t>
            </a:r>
            <a:r>
              <a:rPr dirty="0" sz="13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the</a:t>
            </a:r>
            <a:r>
              <a:rPr dirty="0" sz="13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actual</a:t>
            </a:r>
            <a:r>
              <a:rPr dirty="0" sz="13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meaning</a:t>
            </a:r>
            <a:r>
              <a:rPr dirty="0" sz="13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or</a:t>
            </a:r>
            <a:r>
              <a:rPr dirty="0" sz="13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context</a:t>
            </a:r>
            <a:r>
              <a:rPr dirty="0" sz="13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of</a:t>
            </a:r>
            <a:r>
              <a:rPr dirty="0" sz="13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a</a:t>
            </a:r>
            <a:r>
              <a:rPr dirty="0" sz="13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query.</a:t>
            </a:r>
            <a:endParaRPr sz="1350">
              <a:latin typeface="Calibri"/>
              <a:cs typeface="Calibri"/>
            </a:endParaRPr>
          </a:p>
          <a:p>
            <a:pPr marL="446405" indent="-342265">
              <a:lnSpc>
                <a:spcPct val="100000"/>
              </a:lnSpc>
              <a:spcBef>
                <a:spcPts val="490"/>
              </a:spcBef>
              <a:buChar char="•"/>
              <a:tabLst>
                <a:tab pos="446405" algn="l"/>
              </a:tabLst>
            </a:pPr>
            <a:r>
              <a:rPr dirty="0" sz="1350" spc="-20">
                <a:solidFill>
                  <a:srgbClr val="0D2B45"/>
                </a:solidFill>
                <a:latin typeface="Calibri"/>
                <a:cs typeface="Calibri"/>
              </a:rPr>
              <a:t>General-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purpose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AI</a:t>
            </a:r>
            <a:r>
              <a:rPr dirty="0" sz="13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chatbots</a:t>
            </a:r>
            <a:r>
              <a:rPr dirty="0" sz="13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generate</a:t>
            </a:r>
            <a:r>
              <a:rPr dirty="0" sz="13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responses</a:t>
            </a:r>
            <a:r>
              <a:rPr dirty="0" sz="13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not</a:t>
            </a:r>
            <a:r>
              <a:rPr dirty="0" sz="13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grounded</a:t>
            </a:r>
            <a:r>
              <a:rPr dirty="0" sz="1350" spc="-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in</a:t>
            </a:r>
            <a:r>
              <a:rPr dirty="0" sz="13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domain-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specific</a:t>
            </a:r>
            <a:r>
              <a:rPr dirty="0" sz="13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academic</a:t>
            </a:r>
            <a:r>
              <a:rPr dirty="0" sz="13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content.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1620" y="3483991"/>
            <a:ext cx="8258809" cy="826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25E89"/>
                </a:solidFill>
                <a:latin typeface="Calibri"/>
                <a:cs typeface="Calibri"/>
              </a:rPr>
              <a:t>Need</a:t>
            </a:r>
            <a:r>
              <a:rPr dirty="0" sz="1500" spc="-2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25E89"/>
                </a:solidFill>
                <a:latin typeface="Calibri"/>
                <a:cs typeface="Calibri"/>
              </a:rPr>
              <a:t>for</a:t>
            </a:r>
            <a:r>
              <a:rPr dirty="0" sz="1500" spc="-1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25E89"/>
                </a:solidFill>
                <a:latin typeface="Calibri"/>
                <a:cs typeface="Calibri"/>
              </a:rPr>
              <a:t>an</a:t>
            </a:r>
            <a:r>
              <a:rPr dirty="0" sz="1500" spc="-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25E89"/>
                </a:solidFill>
                <a:latin typeface="Calibri"/>
                <a:cs typeface="Calibri"/>
              </a:rPr>
              <a:t>Intelligent</a:t>
            </a:r>
            <a:r>
              <a:rPr dirty="0" sz="1500" spc="-4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25E89"/>
                </a:solidFill>
                <a:latin typeface="Calibri"/>
                <a:cs typeface="Calibri"/>
              </a:rPr>
              <a:t>System</a:t>
            </a:r>
            <a:endParaRPr sz="1500">
              <a:latin typeface="Calibri"/>
              <a:cs typeface="Calibri"/>
            </a:endParaRPr>
          </a:p>
          <a:p>
            <a:pPr marL="104139" marR="5080">
              <a:lnSpc>
                <a:spcPct val="100000"/>
              </a:lnSpc>
              <a:spcBef>
                <a:spcPts val="1500"/>
              </a:spcBef>
            </a:pP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The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system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must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efficiently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retrieve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relevant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information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from</a:t>
            </a:r>
            <a:r>
              <a:rPr dirty="0" sz="1250" spc="-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academic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documents,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provide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 accurate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context-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aware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answers,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reduce</a:t>
            </a:r>
            <a:r>
              <a:rPr dirty="0" sz="12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search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time,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and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improve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answer</a:t>
            </a:r>
            <a:r>
              <a:rPr dirty="0" sz="12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reliability</a:t>
            </a:r>
            <a:r>
              <a:rPr dirty="0" sz="1250" spc="-4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for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students.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Introduction</a:t>
            </a:r>
            <a:r>
              <a:rPr dirty="0" spc="-20"/>
              <a:t> </a:t>
            </a:r>
            <a:r>
              <a:rPr dirty="0"/>
              <a:t>–</a:t>
            </a:r>
            <a:r>
              <a:rPr dirty="0" spc="-50"/>
              <a:t> </a:t>
            </a:r>
            <a:r>
              <a:rPr dirty="0"/>
              <a:t>Problem</a:t>
            </a:r>
            <a:r>
              <a:rPr dirty="0" spc="-25"/>
              <a:t> </a:t>
            </a:r>
            <a:r>
              <a:rPr dirty="0" spc="-10"/>
              <a:t>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4779" y="713231"/>
            <a:ext cx="2904490" cy="2448560"/>
            <a:chOff x="144779" y="713231"/>
            <a:chExt cx="2904490" cy="24485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79" y="713231"/>
              <a:ext cx="2903982" cy="244830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8599" y="914400"/>
              <a:ext cx="2743200" cy="2194560"/>
            </a:xfrm>
            <a:custGeom>
              <a:avLst/>
              <a:gdLst/>
              <a:ahLst/>
              <a:cxnLst/>
              <a:rect l="l" t="t" r="r" b="b"/>
              <a:pathLst>
                <a:path w="2743200" h="2194560">
                  <a:moveTo>
                    <a:pt x="0" y="2194560"/>
                  </a:moveTo>
                  <a:lnTo>
                    <a:pt x="2743200" y="2194560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3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28599" y="822960"/>
              <a:ext cx="2743200" cy="2286000"/>
            </a:xfrm>
            <a:custGeom>
              <a:avLst/>
              <a:gdLst/>
              <a:ahLst/>
              <a:cxnLst/>
              <a:rect l="l" t="t" r="r" b="b"/>
              <a:pathLst>
                <a:path w="2743200" h="2286000">
                  <a:moveTo>
                    <a:pt x="0" y="2286000"/>
                  </a:moveTo>
                  <a:lnTo>
                    <a:pt x="2743200" y="2286000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28599" y="822960"/>
              <a:ext cx="2743200" cy="91440"/>
            </a:xfrm>
            <a:custGeom>
              <a:avLst/>
              <a:gdLst/>
              <a:ahLst/>
              <a:cxnLst/>
              <a:rect l="l" t="t" r="r" b="b"/>
              <a:pathLst>
                <a:path w="2743200" h="91440">
                  <a:moveTo>
                    <a:pt x="274320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2743200" y="91439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125E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28599" y="822960"/>
              <a:ext cx="2743200" cy="91440"/>
            </a:xfrm>
            <a:custGeom>
              <a:avLst/>
              <a:gdLst/>
              <a:ahLst/>
              <a:cxnLst/>
              <a:rect l="l" t="t" r="r" b="b"/>
              <a:pathLst>
                <a:path w="2743200" h="91440">
                  <a:moveTo>
                    <a:pt x="0" y="91439"/>
                  </a:moveTo>
                  <a:lnTo>
                    <a:pt x="2743200" y="91439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125E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29768" y="1066546"/>
            <a:ext cx="120332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Inefficient</a:t>
            </a:r>
            <a:r>
              <a:rPr dirty="0" sz="1300" spc="-7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D2B45"/>
                </a:solidFill>
                <a:latin typeface="Calibri"/>
                <a:cs typeface="Calibri"/>
              </a:rPr>
              <a:t>Search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9768" y="1899030"/>
            <a:ext cx="217678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Students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significant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time </a:t>
            </a:r>
            <a:r>
              <a:rPr dirty="0" sz="1200" spc="-10">
                <a:latin typeface="Calibri"/>
                <a:cs typeface="Calibri"/>
              </a:rPr>
              <a:t>searching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specific</a:t>
            </a:r>
            <a:r>
              <a:rPr dirty="0" sz="1200" spc="-10">
                <a:latin typeface="Calibri"/>
                <a:cs typeface="Calibri"/>
              </a:rPr>
              <a:t> information </a:t>
            </a:r>
            <a:r>
              <a:rPr dirty="0" sz="1200">
                <a:latin typeface="Calibri"/>
                <a:cs typeface="Calibri"/>
              </a:rPr>
              <a:t>instead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understanding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concepts.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70860" y="713231"/>
            <a:ext cx="2904490" cy="2448560"/>
            <a:chOff x="3070860" y="713231"/>
            <a:chExt cx="2904490" cy="244856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0860" y="713231"/>
              <a:ext cx="2903982" cy="244830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54680" y="914400"/>
              <a:ext cx="2743200" cy="2194560"/>
            </a:xfrm>
            <a:custGeom>
              <a:avLst/>
              <a:gdLst/>
              <a:ahLst/>
              <a:cxnLst/>
              <a:rect l="l" t="t" r="r" b="b"/>
              <a:pathLst>
                <a:path w="2743200" h="2194560">
                  <a:moveTo>
                    <a:pt x="0" y="2194560"/>
                  </a:moveTo>
                  <a:lnTo>
                    <a:pt x="2743199" y="2194560"/>
                  </a:lnTo>
                  <a:lnTo>
                    <a:pt x="2743199" y="0"/>
                  </a:lnTo>
                  <a:lnTo>
                    <a:pt x="0" y="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E2F1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154680" y="822960"/>
              <a:ext cx="2743200" cy="2286000"/>
            </a:xfrm>
            <a:custGeom>
              <a:avLst/>
              <a:gdLst/>
              <a:ahLst/>
              <a:cxnLst/>
              <a:rect l="l" t="t" r="r" b="b"/>
              <a:pathLst>
                <a:path w="2743200" h="2286000">
                  <a:moveTo>
                    <a:pt x="0" y="2286000"/>
                  </a:moveTo>
                  <a:lnTo>
                    <a:pt x="2743199" y="2286000"/>
                  </a:lnTo>
                  <a:lnTo>
                    <a:pt x="2743199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154680" y="822960"/>
              <a:ext cx="2743200" cy="91440"/>
            </a:xfrm>
            <a:custGeom>
              <a:avLst/>
              <a:gdLst/>
              <a:ahLst/>
              <a:cxnLst/>
              <a:rect l="l" t="t" r="r" b="b"/>
              <a:pathLst>
                <a:path w="2743200" h="91440">
                  <a:moveTo>
                    <a:pt x="2743199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2743199" y="91439"/>
                  </a:lnTo>
                  <a:lnTo>
                    <a:pt x="2743199" y="0"/>
                  </a:lnTo>
                  <a:close/>
                </a:path>
              </a:pathLst>
            </a:custGeom>
            <a:solidFill>
              <a:srgbClr val="125E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154680" y="822960"/>
              <a:ext cx="2743200" cy="91440"/>
            </a:xfrm>
            <a:custGeom>
              <a:avLst/>
              <a:gdLst/>
              <a:ahLst/>
              <a:cxnLst/>
              <a:rect l="l" t="t" r="r" b="b"/>
              <a:pathLst>
                <a:path w="2743200" h="91440">
                  <a:moveTo>
                    <a:pt x="0" y="91439"/>
                  </a:moveTo>
                  <a:lnTo>
                    <a:pt x="2743199" y="91439"/>
                  </a:lnTo>
                  <a:lnTo>
                    <a:pt x="2743199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125E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356483" y="1066546"/>
            <a:ext cx="220662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Lack</a:t>
            </a:r>
            <a:r>
              <a:rPr dirty="0" sz="1300" spc="-3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of</a:t>
            </a:r>
            <a:r>
              <a:rPr dirty="0" sz="1300" spc="-3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Semantic</a:t>
            </a:r>
            <a:r>
              <a:rPr dirty="0" sz="1300" spc="-1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D2B45"/>
                </a:solidFill>
                <a:latin typeface="Calibri"/>
                <a:cs typeface="Calibri"/>
              </a:rPr>
              <a:t>Understanding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56483" y="1899030"/>
            <a:ext cx="19367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Keyword-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methods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fail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 spc="-10">
                <a:latin typeface="Calibri"/>
                <a:cs typeface="Calibri"/>
              </a:rPr>
              <a:t>capture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meaning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context, producing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irrelevant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results.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96940" y="713231"/>
            <a:ext cx="2904490" cy="2448560"/>
            <a:chOff x="5996940" y="713231"/>
            <a:chExt cx="2904490" cy="244856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6940" y="713231"/>
              <a:ext cx="2903982" cy="244830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080760" y="914400"/>
              <a:ext cx="2743200" cy="2194560"/>
            </a:xfrm>
            <a:custGeom>
              <a:avLst/>
              <a:gdLst/>
              <a:ahLst/>
              <a:cxnLst/>
              <a:rect l="l" t="t" r="r" b="b"/>
              <a:pathLst>
                <a:path w="2743200" h="2194560">
                  <a:moveTo>
                    <a:pt x="0" y="2194560"/>
                  </a:moveTo>
                  <a:lnTo>
                    <a:pt x="2743199" y="2194560"/>
                  </a:lnTo>
                  <a:lnTo>
                    <a:pt x="2743199" y="0"/>
                  </a:lnTo>
                  <a:lnTo>
                    <a:pt x="0" y="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080760" y="822960"/>
              <a:ext cx="2743200" cy="2286000"/>
            </a:xfrm>
            <a:custGeom>
              <a:avLst/>
              <a:gdLst/>
              <a:ahLst/>
              <a:cxnLst/>
              <a:rect l="l" t="t" r="r" b="b"/>
              <a:pathLst>
                <a:path w="2743200" h="2286000">
                  <a:moveTo>
                    <a:pt x="0" y="2286000"/>
                  </a:moveTo>
                  <a:lnTo>
                    <a:pt x="2743199" y="2286000"/>
                  </a:lnTo>
                  <a:lnTo>
                    <a:pt x="2743199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080760" y="822960"/>
              <a:ext cx="2743200" cy="91440"/>
            </a:xfrm>
            <a:custGeom>
              <a:avLst/>
              <a:gdLst/>
              <a:ahLst/>
              <a:cxnLst/>
              <a:rect l="l" t="t" r="r" b="b"/>
              <a:pathLst>
                <a:path w="2743200" h="91440">
                  <a:moveTo>
                    <a:pt x="2743199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2743199" y="91439"/>
                  </a:lnTo>
                  <a:lnTo>
                    <a:pt x="2743199" y="0"/>
                  </a:lnTo>
                  <a:close/>
                </a:path>
              </a:pathLst>
            </a:custGeom>
            <a:solidFill>
              <a:srgbClr val="125E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080760" y="822960"/>
              <a:ext cx="2743200" cy="91440"/>
            </a:xfrm>
            <a:custGeom>
              <a:avLst/>
              <a:gdLst/>
              <a:ahLst/>
              <a:cxnLst/>
              <a:rect l="l" t="t" r="r" b="b"/>
              <a:pathLst>
                <a:path w="2743200" h="91440">
                  <a:moveTo>
                    <a:pt x="0" y="91439"/>
                  </a:moveTo>
                  <a:lnTo>
                    <a:pt x="2743199" y="91439"/>
                  </a:lnTo>
                  <a:lnTo>
                    <a:pt x="2743199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125E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282816" y="1066546"/>
            <a:ext cx="16637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0D2B45"/>
                </a:solidFill>
                <a:latin typeface="Calibri"/>
                <a:cs typeface="Calibri"/>
              </a:rPr>
              <a:t>Inaccurate</a:t>
            </a:r>
            <a:r>
              <a:rPr dirty="0" sz="1300" spc="-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AI</a:t>
            </a:r>
            <a:r>
              <a:rPr dirty="0" sz="1300" spc="-2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D2B45"/>
                </a:solidFill>
                <a:latin typeface="Calibri"/>
                <a:cs typeface="Calibri"/>
              </a:rPr>
              <a:t>Responses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82816" y="1899030"/>
            <a:ext cx="22847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General-</a:t>
            </a:r>
            <a:r>
              <a:rPr dirty="0" sz="1200">
                <a:latin typeface="Calibri"/>
                <a:cs typeface="Calibri"/>
              </a:rPr>
              <a:t>purpose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chatbots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not </a:t>
            </a:r>
            <a:r>
              <a:rPr dirty="0" sz="1200">
                <a:latin typeface="Calibri"/>
                <a:cs typeface="Calibri"/>
              </a:rPr>
              <a:t>trained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domain-specific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academic </a:t>
            </a:r>
            <a:r>
              <a:rPr dirty="0" sz="1200">
                <a:latin typeface="Calibri"/>
                <a:cs typeface="Calibri"/>
              </a:rPr>
              <a:t>content,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reducing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reliability.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0500" y="3268967"/>
            <a:ext cx="8756650" cy="1670050"/>
            <a:chOff x="190500" y="3268967"/>
            <a:chExt cx="8756650" cy="1670050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268967"/>
              <a:ext cx="8756142" cy="166954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11479" y="3378542"/>
              <a:ext cx="8458200" cy="1508760"/>
            </a:xfrm>
            <a:custGeom>
              <a:avLst/>
              <a:gdLst/>
              <a:ahLst/>
              <a:cxnLst/>
              <a:rect l="l" t="t" r="r" b="b"/>
              <a:pathLst>
                <a:path w="8458200" h="1508760">
                  <a:moveTo>
                    <a:pt x="0" y="1508759"/>
                  </a:moveTo>
                  <a:lnTo>
                    <a:pt x="8458200" y="1508759"/>
                  </a:lnTo>
                  <a:lnTo>
                    <a:pt x="8458200" y="0"/>
                  </a:lnTo>
                  <a:lnTo>
                    <a:pt x="0" y="0"/>
                  </a:lnTo>
                  <a:lnTo>
                    <a:pt x="0" y="1508759"/>
                  </a:lnTo>
                  <a:close/>
                </a:path>
              </a:pathLst>
            </a:custGeom>
            <a:solidFill>
              <a:srgbClr val="E8F4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74319" y="3378542"/>
              <a:ext cx="8595360" cy="1508760"/>
            </a:xfrm>
            <a:custGeom>
              <a:avLst/>
              <a:gdLst/>
              <a:ahLst/>
              <a:cxnLst/>
              <a:rect l="l" t="t" r="r" b="b"/>
              <a:pathLst>
                <a:path w="8595360" h="1508760">
                  <a:moveTo>
                    <a:pt x="0" y="1508759"/>
                  </a:moveTo>
                  <a:lnTo>
                    <a:pt x="8595360" y="150875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508759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74319" y="3378542"/>
              <a:ext cx="137160" cy="1508760"/>
            </a:xfrm>
            <a:custGeom>
              <a:avLst/>
              <a:gdLst/>
              <a:ahLst/>
              <a:cxnLst/>
              <a:rect l="l" t="t" r="r" b="b"/>
              <a:pathLst>
                <a:path w="137159" h="1508760">
                  <a:moveTo>
                    <a:pt x="137160" y="0"/>
                  </a:moveTo>
                  <a:lnTo>
                    <a:pt x="0" y="0"/>
                  </a:lnTo>
                  <a:lnTo>
                    <a:pt x="0" y="1508759"/>
                  </a:lnTo>
                  <a:lnTo>
                    <a:pt x="137160" y="1508759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ED9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74319" y="3378542"/>
              <a:ext cx="137160" cy="1508760"/>
            </a:xfrm>
            <a:custGeom>
              <a:avLst/>
              <a:gdLst/>
              <a:ahLst/>
              <a:cxnLst/>
              <a:rect l="l" t="t" r="r" b="b"/>
              <a:pathLst>
                <a:path w="137159" h="1508760">
                  <a:moveTo>
                    <a:pt x="0" y="1508759"/>
                  </a:moveTo>
                  <a:lnTo>
                    <a:pt x="137160" y="1508759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1508759"/>
                  </a:lnTo>
                  <a:close/>
                </a:path>
              </a:pathLst>
            </a:custGeom>
            <a:ln w="12700">
              <a:solidFill>
                <a:srgbClr val="ED9B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548640" y="3461715"/>
            <a:ext cx="7586980" cy="9899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ED9B00"/>
                </a:solidFill>
                <a:latin typeface="Calibri"/>
                <a:cs typeface="Calibri"/>
              </a:rPr>
              <a:t>The</a:t>
            </a:r>
            <a:r>
              <a:rPr dirty="0" sz="1350" spc="-20" b="1">
                <a:solidFill>
                  <a:srgbClr val="ED9B00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ED9B00"/>
                </a:solidFill>
                <a:latin typeface="Calibri"/>
                <a:cs typeface="Calibri"/>
              </a:rPr>
              <a:t>Solution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135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A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Study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Assistance</a:t>
            </a:r>
            <a:r>
              <a:rPr dirty="0" sz="1250" spc="-4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AI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Chatbot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based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on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Retrieval-Augmented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Generation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(RAG)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that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combines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semantic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search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with</a:t>
            </a:r>
            <a:endParaRPr sz="125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natural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language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generation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to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deliver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accurate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answers</a:t>
            </a:r>
            <a:r>
              <a:rPr dirty="0" sz="12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directly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from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user-provided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academic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documents.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Objectives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0500" y="713219"/>
            <a:ext cx="8756650" cy="911225"/>
            <a:chOff x="190500" y="713219"/>
            <a:chExt cx="8756650" cy="9112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713219"/>
              <a:ext cx="8756142" cy="91060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74319" y="822960"/>
              <a:ext cx="8595360" cy="749935"/>
            </a:xfrm>
            <a:custGeom>
              <a:avLst/>
              <a:gdLst/>
              <a:ahLst/>
              <a:cxnLst/>
              <a:rect l="l" t="t" r="r" b="b"/>
              <a:pathLst>
                <a:path w="8595360" h="749935">
                  <a:moveTo>
                    <a:pt x="8595360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8595360" y="749808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20039" y="941831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460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59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60" y="502919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19" y="251459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20039" y="941831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0" y="251459"/>
                  </a:moveTo>
                  <a:lnTo>
                    <a:pt x="4051" y="206243"/>
                  </a:lnTo>
                  <a:lnTo>
                    <a:pt x="15732" y="163693"/>
                  </a:lnTo>
                  <a:lnTo>
                    <a:pt x="34332" y="124516"/>
                  </a:lnTo>
                  <a:lnTo>
                    <a:pt x="59141" y="89422"/>
                  </a:lnTo>
                  <a:lnTo>
                    <a:pt x="89448" y="59120"/>
                  </a:lnTo>
                  <a:lnTo>
                    <a:pt x="124544" y="34318"/>
                  </a:lnTo>
                  <a:lnTo>
                    <a:pt x="163718" y="15725"/>
                  </a:lnTo>
                  <a:lnTo>
                    <a:pt x="206260" y="4049"/>
                  </a:lnTo>
                  <a:lnTo>
                    <a:pt x="251460" y="0"/>
                  </a:lnTo>
                  <a:lnTo>
                    <a:pt x="296659" y="4049"/>
                  </a:lnTo>
                  <a:lnTo>
                    <a:pt x="339201" y="15725"/>
                  </a:lnTo>
                  <a:lnTo>
                    <a:pt x="378375" y="34318"/>
                  </a:lnTo>
                  <a:lnTo>
                    <a:pt x="413471" y="59120"/>
                  </a:lnTo>
                  <a:lnTo>
                    <a:pt x="443778" y="89422"/>
                  </a:lnTo>
                  <a:lnTo>
                    <a:pt x="468587" y="124516"/>
                  </a:lnTo>
                  <a:lnTo>
                    <a:pt x="487187" y="163693"/>
                  </a:lnTo>
                  <a:lnTo>
                    <a:pt x="498868" y="206243"/>
                  </a:lnTo>
                  <a:lnTo>
                    <a:pt x="502919" y="251459"/>
                  </a:lnTo>
                  <a:lnTo>
                    <a:pt x="498868" y="296676"/>
                  </a:lnTo>
                  <a:lnTo>
                    <a:pt x="487187" y="339226"/>
                  </a:lnTo>
                  <a:lnTo>
                    <a:pt x="468587" y="378403"/>
                  </a:lnTo>
                  <a:lnTo>
                    <a:pt x="443778" y="413497"/>
                  </a:lnTo>
                  <a:lnTo>
                    <a:pt x="413471" y="443799"/>
                  </a:lnTo>
                  <a:lnTo>
                    <a:pt x="378375" y="468601"/>
                  </a:lnTo>
                  <a:lnTo>
                    <a:pt x="339201" y="487194"/>
                  </a:lnTo>
                  <a:lnTo>
                    <a:pt x="296659" y="498870"/>
                  </a:lnTo>
                  <a:lnTo>
                    <a:pt x="251460" y="502919"/>
                  </a:lnTo>
                  <a:lnTo>
                    <a:pt x="206260" y="498870"/>
                  </a:lnTo>
                  <a:lnTo>
                    <a:pt x="163718" y="487194"/>
                  </a:lnTo>
                  <a:lnTo>
                    <a:pt x="124544" y="468601"/>
                  </a:lnTo>
                  <a:lnTo>
                    <a:pt x="89448" y="443799"/>
                  </a:lnTo>
                  <a:lnTo>
                    <a:pt x="59141" y="413497"/>
                  </a:lnTo>
                  <a:lnTo>
                    <a:pt x="34332" y="378403"/>
                  </a:lnTo>
                  <a:lnTo>
                    <a:pt x="15732" y="339226"/>
                  </a:lnTo>
                  <a:lnTo>
                    <a:pt x="4051" y="296676"/>
                  </a:lnTo>
                  <a:lnTo>
                    <a:pt x="0" y="251459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74320" y="822960"/>
            <a:ext cx="8595360" cy="749935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73025" rIns="0" bIns="0" rtlCol="0" vert="horz">
            <a:spAutoFit/>
          </a:bodyPr>
          <a:lstStyle/>
          <a:p>
            <a:pPr marL="657860">
              <a:lnSpc>
                <a:spcPct val="100000"/>
              </a:lnSpc>
              <a:spcBef>
                <a:spcPts val="575"/>
              </a:spcBef>
            </a:pPr>
            <a:r>
              <a:rPr dirty="0" sz="1300" spc="-10" b="1">
                <a:solidFill>
                  <a:srgbClr val="0D2B45"/>
                </a:solidFill>
                <a:latin typeface="Calibri"/>
                <a:cs typeface="Calibri"/>
              </a:rPr>
              <a:t>AI-</a:t>
            </a: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Based</a:t>
            </a:r>
            <a:r>
              <a:rPr dirty="0" sz="1300" spc="-4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Academic</a:t>
            </a:r>
            <a:r>
              <a:rPr dirty="0" sz="1300" spc="-1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D2B45"/>
                </a:solidFill>
                <a:latin typeface="Calibri"/>
                <a:cs typeface="Calibri"/>
              </a:rPr>
              <a:t>Assistant</a:t>
            </a:r>
            <a:endParaRPr sz="1300">
              <a:latin typeface="Calibri"/>
              <a:cs typeface="Calibri"/>
            </a:endParaRPr>
          </a:p>
          <a:p>
            <a:pPr marL="224154">
              <a:lnSpc>
                <a:spcPts val="1130"/>
              </a:lnSpc>
              <a:spcBef>
                <a:spcPts val="55"/>
              </a:spcBef>
            </a:pPr>
            <a:r>
              <a:rPr dirty="0" sz="1100" spc="-25" b="1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100">
              <a:latin typeface="Calibri"/>
              <a:cs typeface="Calibri"/>
            </a:endParaRPr>
          </a:p>
          <a:p>
            <a:pPr marL="657860">
              <a:lnSpc>
                <a:spcPts val="1190"/>
              </a:lnSpc>
            </a:pPr>
            <a:r>
              <a:rPr dirty="0" sz="1150">
                <a:latin typeface="Calibri"/>
                <a:cs typeface="Calibri"/>
              </a:rPr>
              <a:t>Develop a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chatbot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that helps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students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access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academic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information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efficiently.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0500" y="1554467"/>
            <a:ext cx="8756650" cy="911225"/>
            <a:chOff x="190500" y="1554467"/>
            <a:chExt cx="8756650" cy="9112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1554467"/>
              <a:ext cx="8756142" cy="91060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4319" y="1664208"/>
              <a:ext cx="8595360" cy="749935"/>
            </a:xfrm>
            <a:custGeom>
              <a:avLst/>
              <a:gdLst/>
              <a:ahLst/>
              <a:cxnLst/>
              <a:rect l="l" t="t" r="r" b="b"/>
              <a:pathLst>
                <a:path w="8595360" h="749935">
                  <a:moveTo>
                    <a:pt x="8595360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8595360" y="749807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20039" y="178308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460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60" y="502920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19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20039" y="178308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0" y="251460"/>
                  </a:moveTo>
                  <a:lnTo>
                    <a:pt x="4051" y="206243"/>
                  </a:lnTo>
                  <a:lnTo>
                    <a:pt x="15732" y="163693"/>
                  </a:lnTo>
                  <a:lnTo>
                    <a:pt x="34332" y="124516"/>
                  </a:lnTo>
                  <a:lnTo>
                    <a:pt x="59141" y="89422"/>
                  </a:lnTo>
                  <a:lnTo>
                    <a:pt x="89448" y="59120"/>
                  </a:lnTo>
                  <a:lnTo>
                    <a:pt x="124544" y="34318"/>
                  </a:lnTo>
                  <a:lnTo>
                    <a:pt x="163718" y="15725"/>
                  </a:lnTo>
                  <a:lnTo>
                    <a:pt x="206260" y="4049"/>
                  </a:lnTo>
                  <a:lnTo>
                    <a:pt x="251460" y="0"/>
                  </a:lnTo>
                  <a:lnTo>
                    <a:pt x="296659" y="4049"/>
                  </a:lnTo>
                  <a:lnTo>
                    <a:pt x="339201" y="15725"/>
                  </a:lnTo>
                  <a:lnTo>
                    <a:pt x="378375" y="34318"/>
                  </a:lnTo>
                  <a:lnTo>
                    <a:pt x="413471" y="59120"/>
                  </a:lnTo>
                  <a:lnTo>
                    <a:pt x="443778" y="89422"/>
                  </a:lnTo>
                  <a:lnTo>
                    <a:pt x="468587" y="124516"/>
                  </a:lnTo>
                  <a:lnTo>
                    <a:pt x="487187" y="163693"/>
                  </a:lnTo>
                  <a:lnTo>
                    <a:pt x="498868" y="206243"/>
                  </a:lnTo>
                  <a:lnTo>
                    <a:pt x="502919" y="251460"/>
                  </a:lnTo>
                  <a:lnTo>
                    <a:pt x="498868" y="296676"/>
                  </a:lnTo>
                  <a:lnTo>
                    <a:pt x="487187" y="339226"/>
                  </a:lnTo>
                  <a:lnTo>
                    <a:pt x="468587" y="378403"/>
                  </a:lnTo>
                  <a:lnTo>
                    <a:pt x="443778" y="413497"/>
                  </a:lnTo>
                  <a:lnTo>
                    <a:pt x="413471" y="443799"/>
                  </a:lnTo>
                  <a:lnTo>
                    <a:pt x="378375" y="468601"/>
                  </a:lnTo>
                  <a:lnTo>
                    <a:pt x="339201" y="487194"/>
                  </a:lnTo>
                  <a:lnTo>
                    <a:pt x="296659" y="498870"/>
                  </a:lnTo>
                  <a:lnTo>
                    <a:pt x="251460" y="502920"/>
                  </a:lnTo>
                  <a:lnTo>
                    <a:pt x="206260" y="498870"/>
                  </a:lnTo>
                  <a:lnTo>
                    <a:pt x="163718" y="487194"/>
                  </a:lnTo>
                  <a:lnTo>
                    <a:pt x="124544" y="468601"/>
                  </a:lnTo>
                  <a:lnTo>
                    <a:pt x="89448" y="443799"/>
                  </a:lnTo>
                  <a:lnTo>
                    <a:pt x="59141" y="413497"/>
                  </a:lnTo>
                  <a:lnTo>
                    <a:pt x="34332" y="378403"/>
                  </a:lnTo>
                  <a:lnTo>
                    <a:pt x="15732" y="339226"/>
                  </a:lnTo>
                  <a:lnTo>
                    <a:pt x="4051" y="296676"/>
                  </a:lnTo>
                  <a:lnTo>
                    <a:pt x="0" y="251460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274320" y="1664207"/>
            <a:ext cx="8595360" cy="749935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73025" rIns="0" bIns="0" rtlCol="0" vert="horz">
            <a:spAutoFit/>
          </a:bodyPr>
          <a:lstStyle/>
          <a:p>
            <a:pPr marL="657860">
              <a:lnSpc>
                <a:spcPct val="100000"/>
              </a:lnSpc>
              <a:spcBef>
                <a:spcPts val="575"/>
              </a:spcBef>
            </a:pP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RAG</a:t>
            </a:r>
            <a:r>
              <a:rPr dirty="0" sz="1300" spc="-4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D2B45"/>
                </a:solidFill>
                <a:latin typeface="Calibri"/>
                <a:cs typeface="Calibri"/>
              </a:rPr>
              <a:t>Framework</a:t>
            </a:r>
            <a:endParaRPr sz="1300">
              <a:latin typeface="Calibri"/>
              <a:cs typeface="Calibri"/>
            </a:endParaRPr>
          </a:p>
          <a:p>
            <a:pPr marL="224154">
              <a:lnSpc>
                <a:spcPts val="1130"/>
              </a:lnSpc>
              <a:spcBef>
                <a:spcPts val="55"/>
              </a:spcBef>
            </a:pPr>
            <a:r>
              <a:rPr dirty="0" sz="1100" spc="-25" b="1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endParaRPr sz="1100">
              <a:latin typeface="Calibri"/>
              <a:cs typeface="Calibri"/>
            </a:endParaRPr>
          </a:p>
          <a:p>
            <a:pPr marL="657860">
              <a:lnSpc>
                <a:spcPts val="1190"/>
              </a:lnSpc>
            </a:pPr>
            <a:r>
              <a:rPr dirty="0" sz="1150">
                <a:latin typeface="Calibri"/>
                <a:cs typeface="Calibri"/>
              </a:rPr>
              <a:t>Use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Retrieval-</a:t>
            </a:r>
            <a:r>
              <a:rPr dirty="0" sz="1150">
                <a:latin typeface="Calibri"/>
                <a:cs typeface="Calibri"/>
              </a:rPr>
              <a:t>Augmented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Generation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for accurate,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context-</a:t>
            </a:r>
            <a:r>
              <a:rPr dirty="0" sz="1150">
                <a:latin typeface="Calibri"/>
                <a:cs typeface="Calibri"/>
              </a:rPr>
              <a:t>aware </a:t>
            </a:r>
            <a:r>
              <a:rPr dirty="0" sz="1150" spc="-10">
                <a:latin typeface="Calibri"/>
                <a:cs typeface="Calibri"/>
              </a:rPr>
              <a:t>responses.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0500" y="2395715"/>
            <a:ext cx="8756650" cy="911225"/>
            <a:chOff x="190500" y="2395715"/>
            <a:chExt cx="8756650" cy="91122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2395715"/>
              <a:ext cx="8756142" cy="91060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74319" y="2505456"/>
              <a:ext cx="8595360" cy="749935"/>
            </a:xfrm>
            <a:custGeom>
              <a:avLst/>
              <a:gdLst/>
              <a:ahLst/>
              <a:cxnLst/>
              <a:rect l="l" t="t" r="r" b="b"/>
              <a:pathLst>
                <a:path w="8595360" h="749935">
                  <a:moveTo>
                    <a:pt x="8595360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8595360" y="749807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20039" y="2624328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460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60" y="502920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19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20039" y="2624328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0" y="251460"/>
                  </a:moveTo>
                  <a:lnTo>
                    <a:pt x="4051" y="206243"/>
                  </a:lnTo>
                  <a:lnTo>
                    <a:pt x="15732" y="163693"/>
                  </a:lnTo>
                  <a:lnTo>
                    <a:pt x="34332" y="124516"/>
                  </a:lnTo>
                  <a:lnTo>
                    <a:pt x="59141" y="89422"/>
                  </a:lnTo>
                  <a:lnTo>
                    <a:pt x="89448" y="59120"/>
                  </a:lnTo>
                  <a:lnTo>
                    <a:pt x="124544" y="34318"/>
                  </a:lnTo>
                  <a:lnTo>
                    <a:pt x="163718" y="15725"/>
                  </a:lnTo>
                  <a:lnTo>
                    <a:pt x="206260" y="4049"/>
                  </a:lnTo>
                  <a:lnTo>
                    <a:pt x="251460" y="0"/>
                  </a:lnTo>
                  <a:lnTo>
                    <a:pt x="296659" y="4049"/>
                  </a:lnTo>
                  <a:lnTo>
                    <a:pt x="339201" y="15725"/>
                  </a:lnTo>
                  <a:lnTo>
                    <a:pt x="378375" y="34318"/>
                  </a:lnTo>
                  <a:lnTo>
                    <a:pt x="413471" y="59120"/>
                  </a:lnTo>
                  <a:lnTo>
                    <a:pt x="443778" y="89422"/>
                  </a:lnTo>
                  <a:lnTo>
                    <a:pt x="468587" y="124516"/>
                  </a:lnTo>
                  <a:lnTo>
                    <a:pt x="487187" y="163693"/>
                  </a:lnTo>
                  <a:lnTo>
                    <a:pt x="498868" y="206243"/>
                  </a:lnTo>
                  <a:lnTo>
                    <a:pt x="502919" y="251460"/>
                  </a:lnTo>
                  <a:lnTo>
                    <a:pt x="498868" y="296676"/>
                  </a:lnTo>
                  <a:lnTo>
                    <a:pt x="487187" y="339226"/>
                  </a:lnTo>
                  <a:lnTo>
                    <a:pt x="468587" y="378403"/>
                  </a:lnTo>
                  <a:lnTo>
                    <a:pt x="443778" y="413497"/>
                  </a:lnTo>
                  <a:lnTo>
                    <a:pt x="413471" y="443799"/>
                  </a:lnTo>
                  <a:lnTo>
                    <a:pt x="378375" y="468601"/>
                  </a:lnTo>
                  <a:lnTo>
                    <a:pt x="339201" y="487194"/>
                  </a:lnTo>
                  <a:lnTo>
                    <a:pt x="296659" y="498870"/>
                  </a:lnTo>
                  <a:lnTo>
                    <a:pt x="251460" y="502920"/>
                  </a:lnTo>
                  <a:lnTo>
                    <a:pt x="206260" y="498870"/>
                  </a:lnTo>
                  <a:lnTo>
                    <a:pt x="163718" y="487194"/>
                  </a:lnTo>
                  <a:lnTo>
                    <a:pt x="124544" y="468601"/>
                  </a:lnTo>
                  <a:lnTo>
                    <a:pt x="89448" y="443799"/>
                  </a:lnTo>
                  <a:lnTo>
                    <a:pt x="59141" y="413497"/>
                  </a:lnTo>
                  <a:lnTo>
                    <a:pt x="34332" y="378403"/>
                  </a:lnTo>
                  <a:lnTo>
                    <a:pt x="15732" y="339226"/>
                  </a:lnTo>
                  <a:lnTo>
                    <a:pt x="4051" y="296676"/>
                  </a:lnTo>
                  <a:lnTo>
                    <a:pt x="0" y="251460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74320" y="2505455"/>
            <a:ext cx="8595360" cy="749935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73660" rIns="0" bIns="0" rtlCol="0" vert="horz">
            <a:spAutoFit/>
          </a:bodyPr>
          <a:lstStyle/>
          <a:p>
            <a:pPr marL="657860">
              <a:lnSpc>
                <a:spcPct val="100000"/>
              </a:lnSpc>
              <a:spcBef>
                <a:spcPts val="580"/>
              </a:spcBef>
            </a:pP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PDF</a:t>
            </a:r>
            <a:r>
              <a:rPr dirty="0" sz="1300" spc="-3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Processing</a:t>
            </a:r>
            <a:r>
              <a:rPr dirty="0" sz="1300" spc="-1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D2B45"/>
                </a:solidFill>
                <a:latin typeface="Calibri"/>
                <a:cs typeface="Calibri"/>
              </a:rPr>
              <a:t>Pipeline</a:t>
            </a:r>
            <a:endParaRPr sz="1300">
              <a:latin typeface="Calibri"/>
              <a:cs typeface="Calibri"/>
            </a:endParaRPr>
          </a:p>
          <a:p>
            <a:pPr marL="224154">
              <a:lnSpc>
                <a:spcPts val="1130"/>
              </a:lnSpc>
              <a:spcBef>
                <a:spcPts val="55"/>
              </a:spcBef>
            </a:pPr>
            <a:r>
              <a:rPr dirty="0" sz="1100" spc="-25" b="1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endParaRPr sz="1100">
              <a:latin typeface="Calibri"/>
              <a:cs typeface="Calibri"/>
            </a:endParaRPr>
          </a:p>
          <a:p>
            <a:pPr marL="657860">
              <a:lnSpc>
                <a:spcPts val="1190"/>
              </a:lnSpc>
            </a:pPr>
            <a:r>
              <a:rPr dirty="0" sz="1150">
                <a:latin typeface="Calibri"/>
                <a:cs typeface="Calibri"/>
              </a:rPr>
              <a:t>Extract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and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process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text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from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multiple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PDFs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enabling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structured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knowledge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retrieval.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90500" y="3236976"/>
            <a:ext cx="8756650" cy="911225"/>
            <a:chOff x="190500" y="3236976"/>
            <a:chExt cx="8756650" cy="911225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3236976"/>
              <a:ext cx="8756142" cy="91060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74319" y="3346704"/>
              <a:ext cx="8595360" cy="749935"/>
            </a:xfrm>
            <a:custGeom>
              <a:avLst/>
              <a:gdLst/>
              <a:ahLst/>
              <a:cxnLst/>
              <a:rect l="l" t="t" r="r" b="b"/>
              <a:pathLst>
                <a:path w="8595360" h="749935">
                  <a:moveTo>
                    <a:pt x="8595360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8595360" y="749808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20039" y="3465576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460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60" y="502920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19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20039" y="3465576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0" y="251460"/>
                  </a:moveTo>
                  <a:lnTo>
                    <a:pt x="4051" y="206243"/>
                  </a:lnTo>
                  <a:lnTo>
                    <a:pt x="15732" y="163693"/>
                  </a:lnTo>
                  <a:lnTo>
                    <a:pt x="34332" y="124516"/>
                  </a:lnTo>
                  <a:lnTo>
                    <a:pt x="59141" y="89422"/>
                  </a:lnTo>
                  <a:lnTo>
                    <a:pt x="89448" y="59120"/>
                  </a:lnTo>
                  <a:lnTo>
                    <a:pt x="124544" y="34318"/>
                  </a:lnTo>
                  <a:lnTo>
                    <a:pt x="163718" y="15725"/>
                  </a:lnTo>
                  <a:lnTo>
                    <a:pt x="206260" y="4049"/>
                  </a:lnTo>
                  <a:lnTo>
                    <a:pt x="251460" y="0"/>
                  </a:lnTo>
                  <a:lnTo>
                    <a:pt x="296659" y="4049"/>
                  </a:lnTo>
                  <a:lnTo>
                    <a:pt x="339201" y="15725"/>
                  </a:lnTo>
                  <a:lnTo>
                    <a:pt x="378375" y="34318"/>
                  </a:lnTo>
                  <a:lnTo>
                    <a:pt x="413471" y="59120"/>
                  </a:lnTo>
                  <a:lnTo>
                    <a:pt x="443778" y="89422"/>
                  </a:lnTo>
                  <a:lnTo>
                    <a:pt x="468587" y="124516"/>
                  </a:lnTo>
                  <a:lnTo>
                    <a:pt x="487187" y="163693"/>
                  </a:lnTo>
                  <a:lnTo>
                    <a:pt x="498868" y="206243"/>
                  </a:lnTo>
                  <a:lnTo>
                    <a:pt x="502919" y="251460"/>
                  </a:lnTo>
                  <a:lnTo>
                    <a:pt x="498868" y="296676"/>
                  </a:lnTo>
                  <a:lnTo>
                    <a:pt x="487187" y="339226"/>
                  </a:lnTo>
                  <a:lnTo>
                    <a:pt x="468587" y="378403"/>
                  </a:lnTo>
                  <a:lnTo>
                    <a:pt x="443778" y="413497"/>
                  </a:lnTo>
                  <a:lnTo>
                    <a:pt x="413471" y="443799"/>
                  </a:lnTo>
                  <a:lnTo>
                    <a:pt x="378375" y="468601"/>
                  </a:lnTo>
                  <a:lnTo>
                    <a:pt x="339201" y="487194"/>
                  </a:lnTo>
                  <a:lnTo>
                    <a:pt x="296659" y="498870"/>
                  </a:lnTo>
                  <a:lnTo>
                    <a:pt x="251460" y="502920"/>
                  </a:lnTo>
                  <a:lnTo>
                    <a:pt x="206260" y="498870"/>
                  </a:lnTo>
                  <a:lnTo>
                    <a:pt x="163718" y="487194"/>
                  </a:lnTo>
                  <a:lnTo>
                    <a:pt x="124544" y="468601"/>
                  </a:lnTo>
                  <a:lnTo>
                    <a:pt x="89448" y="443799"/>
                  </a:lnTo>
                  <a:lnTo>
                    <a:pt x="59141" y="413497"/>
                  </a:lnTo>
                  <a:lnTo>
                    <a:pt x="34332" y="378403"/>
                  </a:lnTo>
                  <a:lnTo>
                    <a:pt x="15732" y="339226"/>
                  </a:lnTo>
                  <a:lnTo>
                    <a:pt x="4051" y="296676"/>
                  </a:lnTo>
                  <a:lnTo>
                    <a:pt x="0" y="251460"/>
                  </a:lnTo>
                  <a:close/>
                </a:path>
              </a:pathLst>
            </a:custGeom>
            <a:ln w="12699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274320" y="3346703"/>
            <a:ext cx="8595360" cy="749935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73025" rIns="0" bIns="0" rtlCol="0" vert="horz">
            <a:spAutoFit/>
          </a:bodyPr>
          <a:lstStyle/>
          <a:p>
            <a:pPr marL="657860">
              <a:lnSpc>
                <a:spcPct val="100000"/>
              </a:lnSpc>
              <a:spcBef>
                <a:spcPts val="575"/>
              </a:spcBef>
            </a:pPr>
            <a:r>
              <a:rPr dirty="0" sz="1300" spc="-10" b="1">
                <a:solidFill>
                  <a:srgbClr val="0D2B45"/>
                </a:solidFill>
                <a:latin typeface="Calibri"/>
                <a:cs typeface="Calibri"/>
              </a:rPr>
              <a:t>Vector</a:t>
            </a:r>
            <a:r>
              <a:rPr dirty="0" sz="1300" spc="-1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Embeddings</a:t>
            </a:r>
            <a:r>
              <a:rPr dirty="0" sz="1300" spc="-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&amp;</a:t>
            </a:r>
            <a:r>
              <a:rPr dirty="0" sz="1300" spc="-3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D2B45"/>
                </a:solidFill>
                <a:latin typeface="Calibri"/>
                <a:cs typeface="Calibri"/>
              </a:rPr>
              <a:t>Database</a:t>
            </a:r>
            <a:endParaRPr sz="1300">
              <a:latin typeface="Calibri"/>
              <a:cs typeface="Calibri"/>
            </a:endParaRPr>
          </a:p>
          <a:p>
            <a:pPr marL="224154">
              <a:lnSpc>
                <a:spcPts val="1130"/>
              </a:lnSpc>
              <a:spcBef>
                <a:spcPts val="60"/>
              </a:spcBef>
            </a:pPr>
            <a:r>
              <a:rPr dirty="0" sz="1100" spc="-25" b="1">
                <a:solidFill>
                  <a:srgbClr val="FFFFFF"/>
                </a:solidFill>
                <a:latin typeface="Calibri"/>
                <a:cs typeface="Calibri"/>
              </a:rPr>
              <a:t>04</a:t>
            </a:r>
            <a:endParaRPr sz="1100">
              <a:latin typeface="Calibri"/>
              <a:cs typeface="Calibri"/>
            </a:endParaRPr>
          </a:p>
          <a:p>
            <a:pPr marL="657860">
              <a:lnSpc>
                <a:spcPts val="1190"/>
              </a:lnSpc>
            </a:pPr>
            <a:r>
              <a:rPr dirty="0" sz="1150">
                <a:latin typeface="Calibri"/>
                <a:cs typeface="Calibri"/>
              </a:rPr>
              <a:t>Use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embeddings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and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FAISS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vector database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for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efficient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similarity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search.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0500" y="4078223"/>
            <a:ext cx="8756650" cy="911225"/>
            <a:chOff x="190500" y="4078223"/>
            <a:chExt cx="8756650" cy="911225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4078223"/>
              <a:ext cx="8756142" cy="91060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74319" y="4187951"/>
              <a:ext cx="8595360" cy="749935"/>
            </a:xfrm>
            <a:custGeom>
              <a:avLst/>
              <a:gdLst/>
              <a:ahLst/>
              <a:cxnLst/>
              <a:rect l="l" t="t" r="r" b="b"/>
              <a:pathLst>
                <a:path w="8595360" h="749935">
                  <a:moveTo>
                    <a:pt x="8595360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8595360" y="749808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20039" y="4306823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460" y="0"/>
                  </a:moveTo>
                  <a:lnTo>
                    <a:pt x="206260" y="4051"/>
                  </a:lnTo>
                  <a:lnTo>
                    <a:pt x="163718" y="15732"/>
                  </a:lnTo>
                  <a:lnTo>
                    <a:pt x="124544" y="34332"/>
                  </a:lnTo>
                  <a:lnTo>
                    <a:pt x="89448" y="59141"/>
                  </a:lnTo>
                  <a:lnTo>
                    <a:pt x="59141" y="89448"/>
                  </a:lnTo>
                  <a:lnTo>
                    <a:pt x="34332" y="124544"/>
                  </a:lnTo>
                  <a:lnTo>
                    <a:pt x="15732" y="163718"/>
                  </a:lnTo>
                  <a:lnTo>
                    <a:pt x="4051" y="206260"/>
                  </a:lnTo>
                  <a:lnTo>
                    <a:pt x="0" y="251459"/>
                  </a:lnTo>
                  <a:lnTo>
                    <a:pt x="4051" y="296659"/>
                  </a:lnTo>
                  <a:lnTo>
                    <a:pt x="15732" y="339201"/>
                  </a:lnTo>
                  <a:lnTo>
                    <a:pt x="34332" y="378375"/>
                  </a:lnTo>
                  <a:lnTo>
                    <a:pt x="59141" y="413471"/>
                  </a:lnTo>
                  <a:lnTo>
                    <a:pt x="89448" y="443778"/>
                  </a:lnTo>
                  <a:lnTo>
                    <a:pt x="124544" y="468587"/>
                  </a:lnTo>
                  <a:lnTo>
                    <a:pt x="163718" y="487187"/>
                  </a:lnTo>
                  <a:lnTo>
                    <a:pt x="206260" y="498868"/>
                  </a:lnTo>
                  <a:lnTo>
                    <a:pt x="251460" y="502919"/>
                  </a:lnTo>
                  <a:lnTo>
                    <a:pt x="296659" y="498868"/>
                  </a:lnTo>
                  <a:lnTo>
                    <a:pt x="339201" y="487187"/>
                  </a:lnTo>
                  <a:lnTo>
                    <a:pt x="378375" y="468587"/>
                  </a:lnTo>
                  <a:lnTo>
                    <a:pt x="413471" y="443778"/>
                  </a:lnTo>
                  <a:lnTo>
                    <a:pt x="443778" y="413471"/>
                  </a:lnTo>
                  <a:lnTo>
                    <a:pt x="468587" y="378375"/>
                  </a:lnTo>
                  <a:lnTo>
                    <a:pt x="487187" y="339201"/>
                  </a:lnTo>
                  <a:lnTo>
                    <a:pt x="498868" y="296659"/>
                  </a:lnTo>
                  <a:lnTo>
                    <a:pt x="502919" y="251459"/>
                  </a:lnTo>
                  <a:lnTo>
                    <a:pt x="498868" y="206260"/>
                  </a:lnTo>
                  <a:lnTo>
                    <a:pt x="487187" y="163718"/>
                  </a:lnTo>
                  <a:lnTo>
                    <a:pt x="468587" y="124544"/>
                  </a:lnTo>
                  <a:lnTo>
                    <a:pt x="443778" y="89448"/>
                  </a:lnTo>
                  <a:lnTo>
                    <a:pt x="413471" y="59141"/>
                  </a:lnTo>
                  <a:lnTo>
                    <a:pt x="378375" y="34332"/>
                  </a:lnTo>
                  <a:lnTo>
                    <a:pt x="339201" y="15732"/>
                  </a:lnTo>
                  <a:lnTo>
                    <a:pt x="296659" y="4051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20039" y="4306823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0" y="251459"/>
                  </a:moveTo>
                  <a:lnTo>
                    <a:pt x="4051" y="206260"/>
                  </a:lnTo>
                  <a:lnTo>
                    <a:pt x="15732" y="163718"/>
                  </a:lnTo>
                  <a:lnTo>
                    <a:pt x="34332" y="124544"/>
                  </a:lnTo>
                  <a:lnTo>
                    <a:pt x="59141" y="89448"/>
                  </a:lnTo>
                  <a:lnTo>
                    <a:pt x="89448" y="59141"/>
                  </a:lnTo>
                  <a:lnTo>
                    <a:pt x="124544" y="34332"/>
                  </a:lnTo>
                  <a:lnTo>
                    <a:pt x="163718" y="15732"/>
                  </a:lnTo>
                  <a:lnTo>
                    <a:pt x="206260" y="4051"/>
                  </a:lnTo>
                  <a:lnTo>
                    <a:pt x="251460" y="0"/>
                  </a:lnTo>
                  <a:lnTo>
                    <a:pt x="296659" y="4051"/>
                  </a:lnTo>
                  <a:lnTo>
                    <a:pt x="339201" y="15732"/>
                  </a:lnTo>
                  <a:lnTo>
                    <a:pt x="378375" y="34332"/>
                  </a:lnTo>
                  <a:lnTo>
                    <a:pt x="413471" y="59141"/>
                  </a:lnTo>
                  <a:lnTo>
                    <a:pt x="443778" y="89448"/>
                  </a:lnTo>
                  <a:lnTo>
                    <a:pt x="468587" y="124544"/>
                  </a:lnTo>
                  <a:lnTo>
                    <a:pt x="487187" y="163718"/>
                  </a:lnTo>
                  <a:lnTo>
                    <a:pt x="498868" y="206260"/>
                  </a:lnTo>
                  <a:lnTo>
                    <a:pt x="502919" y="251459"/>
                  </a:lnTo>
                  <a:lnTo>
                    <a:pt x="498868" y="296659"/>
                  </a:lnTo>
                  <a:lnTo>
                    <a:pt x="487187" y="339201"/>
                  </a:lnTo>
                  <a:lnTo>
                    <a:pt x="468587" y="378375"/>
                  </a:lnTo>
                  <a:lnTo>
                    <a:pt x="443778" y="413471"/>
                  </a:lnTo>
                  <a:lnTo>
                    <a:pt x="413471" y="443778"/>
                  </a:lnTo>
                  <a:lnTo>
                    <a:pt x="378375" y="468587"/>
                  </a:lnTo>
                  <a:lnTo>
                    <a:pt x="339201" y="487187"/>
                  </a:lnTo>
                  <a:lnTo>
                    <a:pt x="296659" y="498868"/>
                  </a:lnTo>
                  <a:lnTo>
                    <a:pt x="251460" y="502919"/>
                  </a:lnTo>
                  <a:lnTo>
                    <a:pt x="206260" y="498868"/>
                  </a:lnTo>
                  <a:lnTo>
                    <a:pt x="163718" y="487187"/>
                  </a:lnTo>
                  <a:lnTo>
                    <a:pt x="124544" y="468587"/>
                  </a:lnTo>
                  <a:lnTo>
                    <a:pt x="89448" y="443778"/>
                  </a:lnTo>
                  <a:lnTo>
                    <a:pt x="59141" y="413471"/>
                  </a:lnTo>
                  <a:lnTo>
                    <a:pt x="34332" y="378375"/>
                  </a:lnTo>
                  <a:lnTo>
                    <a:pt x="15732" y="339201"/>
                  </a:lnTo>
                  <a:lnTo>
                    <a:pt x="4051" y="296659"/>
                  </a:lnTo>
                  <a:lnTo>
                    <a:pt x="0" y="251459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274320" y="4187952"/>
            <a:ext cx="8595360" cy="749935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73660" rIns="0" bIns="0" rtlCol="0" vert="horz">
            <a:spAutoFit/>
          </a:bodyPr>
          <a:lstStyle/>
          <a:p>
            <a:pPr marL="657860">
              <a:lnSpc>
                <a:spcPct val="100000"/>
              </a:lnSpc>
              <a:spcBef>
                <a:spcPts val="580"/>
              </a:spcBef>
            </a:pP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Reduce</a:t>
            </a:r>
            <a:r>
              <a:rPr dirty="0" sz="1300" spc="-3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Search</a:t>
            </a:r>
            <a:r>
              <a:rPr dirty="0" sz="1300" spc="-4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0D2B45"/>
                </a:solidFill>
                <a:latin typeface="Calibri"/>
                <a:cs typeface="Calibri"/>
              </a:rPr>
              <a:t>Time</a:t>
            </a:r>
            <a:endParaRPr sz="1300">
              <a:latin typeface="Calibri"/>
              <a:cs typeface="Calibri"/>
            </a:endParaRPr>
          </a:p>
          <a:p>
            <a:pPr marL="224154">
              <a:lnSpc>
                <a:spcPts val="1130"/>
              </a:lnSpc>
              <a:spcBef>
                <a:spcPts val="55"/>
              </a:spcBef>
            </a:pPr>
            <a:r>
              <a:rPr dirty="0" sz="1100" spc="-25" b="1">
                <a:solidFill>
                  <a:srgbClr val="FFFFFF"/>
                </a:solidFill>
                <a:latin typeface="Calibri"/>
                <a:cs typeface="Calibri"/>
              </a:rPr>
              <a:t>05</a:t>
            </a:r>
            <a:endParaRPr sz="1100">
              <a:latin typeface="Calibri"/>
              <a:cs typeface="Calibri"/>
            </a:endParaRPr>
          </a:p>
          <a:p>
            <a:pPr marL="657860">
              <a:lnSpc>
                <a:spcPts val="1190"/>
              </a:lnSpc>
            </a:pPr>
            <a:r>
              <a:rPr dirty="0" sz="1150">
                <a:latin typeface="Calibri"/>
                <a:cs typeface="Calibri"/>
              </a:rPr>
              <a:t>Minimize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manual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search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effort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and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enhance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the</a:t>
            </a:r>
            <a:r>
              <a:rPr dirty="0" sz="1150" spc="-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overall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student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learning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experience.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Existing</a:t>
            </a:r>
            <a:r>
              <a:rPr dirty="0" spc="-95"/>
              <a:t> </a:t>
            </a:r>
            <a:r>
              <a:rPr dirty="0" spc="-10"/>
              <a:t>System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0500" y="1079017"/>
            <a:ext cx="8756650" cy="3818890"/>
            <a:chOff x="190500" y="1079017"/>
            <a:chExt cx="8756650" cy="38188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1079017"/>
              <a:ext cx="8756142" cy="8191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47471" y="1188719"/>
              <a:ext cx="8522335" cy="658495"/>
            </a:xfrm>
            <a:custGeom>
              <a:avLst/>
              <a:gdLst/>
              <a:ahLst/>
              <a:cxnLst/>
              <a:rect l="l" t="t" r="r" b="b"/>
              <a:pathLst>
                <a:path w="8522335" h="658494">
                  <a:moveTo>
                    <a:pt x="0" y="658367"/>
                  </a:moveTo>
                  <a:lnTo>
                    <a:pt x="8522208" y="658367"/>
                  </a:lnTo>
                  <a:lnTo>
                    <a:pt x="8522208" y="0"/>
                  </a:lnTo>
                  <a:lnTo>
                    <a:pt x="0" y="0"/>
                  </a:lnTo>
                  <a:lnTo>
                    <a:pt x="0" y="6583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74319" y="1188719"/>
              <a:ext cx="8595360" cy="658495"/>
            </a:xfrm>
            <a:custGeom>
              <a:avLst/>
              <a:gdLst/>
              <a:ahLst/>
              <a:cxnLst/>
              <a:rect l="l" t="t" r="r" b="b"/>
              <a:pathLst>
                <a:path w="8595360" h="658494">
                  <a:moveTo>
                    <a:pt x="0" y="658367"/>
                  </a:moveTo>
                  <a:lnTo>
                    <a:pt x="8595360" y="658367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658367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74319" y="1188719"/>
              <a:ext cx="73660" cy="658495"/>
            </a:xfrm>
            <a:custGeom>
              <a:avLst/>
              <a:gdLst/>
              <a:ahLst/>
              <a:cxnLst/>
              <a:rect l="l" t="t" r="r" b="b"/>
              <a:pathLst>
                <a:path w="73660" h="658494">
                  <a:moveTo>
                    <a:pt x="73151" y="0"/>
                  </a:moveTo>
                  <a:lnTo>
                    <a:pt x="0" y="0"/>
                  </a:lnTo>
                  <a:lnTo>
                    <a:pt x="0" y="658367"/>
                  </a:lnTo>
                  <a:lnTo>
                    <a:pt x="73151" y="658367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6374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74319" y="1188719"/>
              <a:ext cx="73660" cy="658495"/>
            </a:xfrm>
            <a:custGeom>
              <a:avLst/>
              <a:gdLst/>
              <a:ahLst/>
              <a:cxnLst/>
              <a:rect l="l" t="t" r="r" b="b"/>
              <a:pathLst>
                <a:path w="73660" h="658494">
                  <a:moveTo>
                    <a:pt x="0" y="658367"/>
                  </a:moveTo>
                  <a:lnTo>
                    <a:pt x="73151" y="658367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658367"/>
                  </a:lnTo>
                  <a:close/>
                </a:path>
              </a:pathLst>
            </a:custGeom>
            <a:ln w="12700">
              <a:solidFill>
                <a:srgbClr val="63748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1828825"/>
              <a:ext cx="8756142" cy="8191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47471" y="1938527"/>
              <a:ext cx="8522335" cy="658495"/>
            </a:xfrm>
            <a:custGeom>
              <a:avLst/>
              <a:gdLst/>
              <a:ahLst/>
              <a:cxnLst/>
              <a:rect l="l" t="t" r="r" b="b"/>
              <a:pathLst>
                <a:path w="8522335" h="658494">
                  <a:moveTo>
                    <a:pt x="0" y="658368"/>
                  </a:moveTo>
                  <a:lnTo>
                    <a:pt x="8522208" y="658368"/>
                  </a:lnTo>
                  <a:lnTo>
                    <a:pt x="8522208" y="0"/>
                  </a:lnTo>
                  <a:lnTo>
                    <a:pt x="0" y="0"/>
                  </a:lnTo>
                  <a:lnTo>
                    <a:pt x="0" y="658368"/>
                  </a:lnTo>
                  <a:close/>
                </a:path>
              </a:pathLst>
            </a:custGeom>
            <a:solidFill>
              <a:srgbClr val="DFF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74319" y="1938527"/>
              <a:ext cx="8595360" cy="658495"/>
            </a:xfrm>
            <a:custGeom>
              <a:avLst/>
              <a:gdLst/>
              <a:ahLst/>
              <a:cxnLst/>
              <a:rect l="l" t="t" r="r" b="b"/>
              <a:pathLst>
                <a:path w="8595360" h="658494">
                  <a:moveTo>
                    <a:pt x="0" y="658368"/>
                  </a:moveTo>
                  <a:lnTo>
                    <a:pt x="8595360" y="65836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658368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74319" y="1938527"/>
              <a:ext cx="73660" cy="658495"/>
            </a:xfrm>
            <a:custGeom>
              <a:avLst/>
              <a:gdLst/>
              <a:ahLst/>
              <a:cxnLst/>
              <a:rect l="l" t="t" r="r" b="b"/>
              <a:pathLst>
                <a:path w="73660" h="658494">
                  <a:moveTo>
                    <a:pt x="73151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73151" y="658368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6374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74319" y="1938527"/>
              <a:ext cx="73660" cy="658495"/>
            </a:xfrm>
            <a:custGeom>
              <a:avLst/>
              <a:gdLst/>
              <a:ahLst/>
              <a:cxnLst/>
              <a:rect l="l" t="t" r="r" b="b"/>
              <a:pathLst>
                <a:path w="73660" h="658494">
                  <a:moveTo>
                    <a:pt x="0" y="658368"/>
                  </a:moveTo>
                  <a:lnTo>
                    <a:pt x="73151" y="658368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658368"/>
                  </a:lnTo>
                  <a:close/>
                </a:path>
              </a:pathLst>
            </a:custGeom>
            <a:ln w="12700">
              <a:solidFill>
                <a:srgbClr val="63748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2578633"/>
              <a:ext cx="8756142" cy="8191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47471" y="2688336"/>
              <a:ext cx="8522335" cy="658495"/>
            </a:xfrm>
            <a:custGeom>
              <a:avLst/>
              <a:gdLst/>
              <a:ahLst/>
              <a:cxnLst/>
              <a:rect l="l" t="t" r="r" b="b"/>
              <a:pathLst>
                <a:path w="8522335" h="658495">
                  <a:moveTo>
                    <a:pt x="0" y="658368"/>
                  </a:moveTo>
                  <a:lnTo>
                    <a:pt x="8522208" y="658368"/>
                  </a:lnTo>
                  <a:lnTo>
                    <a:pt x="8522208" y="0"/>
                  </a:lnTo>
                  <a:lnTo>
                    <a:pt x="0" y="0"/>
                  </a:lnTo>
                  <a:lnTo>
                    <a:pt x="0" y="6583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74319" y="2688336"/>
              <a:ext cx="8595360" cy="658495"/>
            </a:xfrm>
            <a:custGeom>
              <a:avLst/>
              <a:gdLst/>
              <a:ahLst/>
              <a:cxnLst/>
              <a:rect l="l" t="t" r="r" b="b"/>
              <a:pathLst>
                <a:path w="8595360" h="658495">
                  <a:moveTo>
                    <a:pt x="0" y="658368"/>
                  </a:moveTo>
                  <a:lnTo>
                    <a:pt x="8595360" y="65836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658368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74319" y="2688336"/>
              <a:ext cx="73660" cy="658495"/>
            </a:xfrm>
            <a:custGeom>
              <a:avLst/>
              <a:gdLst/>
              <a:ahLst/>
              <a:cxnLst/>
              <a:rect l="l" t="t" r="r" b="b"/>
              <a:pathLst>
                <a:path w="73660" h="658495">
                  <a:moveTo>
                    <a:pt x="73151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73151" y="658368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6374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74319" y="2688336"/>
              <a:ext cx="73660" cy="658495"/>
            </a:xfrm>
            <a:custGeom>
              <a:avLst/>
              <a:gdLst/>
              <a:ahLst/>
              <a:cxnLst/>
              <a:rect l="l" t="t" r="r" b="b"/>
              <a:pathLst>
                <a:path w="73660" h="658495">
                  <a:moveTo>
                    <a:pt x="0" y="658368"/>
                  </a:moveTo>
                  <a:lnTo>
                    <a:pt x="73151" y="658368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658368"/>
                  </a:lnTo>
                  <a:close/>
                </a:path>
              </a:pathLst>
            </a:custGeom>
            <a:ln w="12700">
              <a:solidFill>
                <a:srgbClr val="63748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3328415"/>
              <a:ext cx="8756142" cy="81912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47471" y="3438143"/>
              <a:ext cx="8522335" cy="658495"/>
            </a:xfrm>
            <a:custGeom>
              <a:avLst/>
              <a:gdLst/>
              <a:ahLst/>
              <a:cxnLst/>
              <a:rect l="l" t="t" r="r" b="b"/>
              <a:pathLst>
                <a:path w="8522335" h="658495">
                  <a:moveTo>
                    <a:pt x="0" y="658367"/>
                  </a:moveTo>
                  <a:lnTo>
                    <a:pt x="8522208" y="658367"/>
                  </a:lnTo>
                  <a:lnTo>
                    <a:pt x="8522208" y="0"/>
                  </a:lnTo>
                  <a:lnTo>
                    <a:pt x="0" y="0"/>
                  </a:lnTo>
                  <a:lnTo>
                    <a:pt x="0" y="658367"/>
                  </a:lnTo>
                  <a:close/>
                </a:path>
              </a:pathLst>
            </a:custGeom>
            <a:solidFill>
              <a:srgbClr val="DFF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74319" y="3438143"/>
              <a:ext cx="8595360" cy="658495"/>
            </a:xfrm>
            <a:custGeom>
              <a:avLst/>
              <a:gdLst/>
              <a:ahLst/>
              <a:cxnLst/>
              <a:rect l="l" t="t" r="r" b="b"/>
              <a:pathLst>
                <a:path w="8595360" h="658495">
                  <a:moveTo>
                    <a:pt x="0" y="658367"/>
                  </a:moveTo>
                  <a:lnTo>
                    <a:pt x="8595360" y="658367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658367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74319" y="3438143"/>
              <a:ext cx="73660" cy="658495"/>
            </a:xfrm>
            <a:custGeom>
              <a:avLst/>
              <a:gdLst/>
              <a:ahLst/>
              <a:cxnLst/>
              <a:rect l="l" t="t" r="r" b="b"/>
              <a:pathLst>
                <a:path w="73660" h="658495">
                  <a:moveTo>
                    <a:pt x="73151" y="0"/>
                  </a:moveTo>
                  <a:lnTo>
                    <a:pt x="0" y="0"/>
                  </a:lnTo>
                  <a:lnTo>
                    <a:pt x="0" y="658367"/>
                  </a:lnTo>
                  <a:lnTo>
                    <a:pt x="73151" y="658367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6374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74319" y="3438143"/>
              <a:ext cx="73660" cy="658495"/>
            </a:xfrm>
            <a:custGeom>
              <a:avLst/>
              <a:gdLst/>
              <a:ahLst/>
              <a:cxnLst/>
              <a:rect l="l" t="t" r="r" b="b"/>
              <a:pathLst>
                <a:path w="73660" h="658495">
                  <a:moveTo>
                    <a:pt x="0" y="658367"/>
                  </a:moveTo>
                  <a:lnTo>
                    <a:pt x="73151" y="658367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658367"/>
                  </a:lnTo>
                  <a:close/>
                </a:path>
              </a:pathLst>
            </a:custGeom>
            <a:ln w="12700">
              <a:solidFill>
                <a:srgbClr val="63748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4078224"/>
              <a:ext cx="8756142" cy="81912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47471" y="4187952"/>
              <a:ext cx="8522335" cy="658495"/>
            </a:xfrm>
            <a:custGeom>
              <a:avLst/>
              <a:gdLst/>
              <a:ahLst/>
              <a:cxnLst/>
              <a:rect l="l" t="t" r="r" b="b"/>
              <a:pathLst>
                <a:path w="8522335" h="658495">
                  <a:moveTo>
                    <a:pt x="0" y="658368"/>
                  </a:moveTo>
                  <a:lnTo>
                    <a:pt x="8522208" y="658368"/>
                  </a:lnTo>
                  <a:lnTo>
                    <a:pt x="8522208" y="0"/>
                  </a:lnTo>
                  <a:lnTo>
                    <a:pt x="0" y="0"/>
                  </a:lnTo>
                  <a:lnTo>
                    <a:pt x="0" y="6583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74319" y="4187952"/>
              <a:ext cx="8595360" cy="658495"/>
            </a:xfrm>
            <a:custGeom>
              <a:avLst/>
              <a:gdLst/>
              <a:ahLst/>
              <a:cxnLst/>
              <a:rect l="l" t="t" r="r" b="b"/>
              <a:pathLst>
                <a:path w="8595360" h="658495">
                  <a:moveTo>
                    <a:pt x="0" y="658368"/>
                  </a:moveTo>
                  <a:lnTo>
                    <a:pt x="8595360" y="65836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658368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74319" y="4187952"/>
              <a:ext cx="73660" cy="658495"/>
            </a:xfrm>
            <a:custGeom>
              <a:avLst/>
              <a:gdLst/>
              <a:ahLst/>
              <a:cxnLst/>
              <a:rect l="l" t="t" r="r" b="b"/>
              <a:pathLst>
                <a:path w="73660" h="658495">
                  <a:moveTo>
                    <a:pt x="73151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73151" y="658368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6374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74319" y="4187952"/>
              <a:ext cx="73660" cy="658495"/>
            </a:xfrm>
            <a:custGeom>
              <a:avLst/>
              <a:gdLst/>
              <a:ahLst/>
              <a:cxnLst/>
              <a:rect l="l" t="t" r="r" b="b"/>
              <a:pathLst>
                <a:path w="73660" h="658495">
                  <a:moveTo>
                    <a:pt x="0" y="658368"/>
                  </a:moveTo>
                  <a:lnTo>
                    <a:pt x="73151" y="658368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658368"/>
                  </a:lnTo>
                  <a:close/>
                </a:path>
              </a:pathLst>
            </a:custGeom>
            <a:ln w="12700">
              <a:solidFill>
                <a:srgbClr val="6374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261620" y="805941"/>
            <a:ext cx="8601710" cy="393255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725424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125E89"/>
                </a:solidFill>
                <a:latin typeface="Calibri"/>
                <a:cs typeface="Calibri"/>
              </a:rPr>
              <a:t>Current</a:t>
            </a:r>
            <a:r>
              <a:rPr dirty="0" sz="1400" spc="-1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25E89"/>
                </a:solidFill>
                <a:latin typeface="Calibri"/>
                <a:cs typeface="Calibri"/>
              </a:rPr>
              <a:t>Approach</a:t>
            </a:r>
            <a:endParaRPr sz="1400">
              <a:latin typeface="Calibri"/>
              <a:cs typeface="Calibri"/>
            </a:endParaRPr>
          </a:p>
          <a:p>
            <a:pPr algn="ctr" marR="7223759">
              <a:lnSpc>
                <a:spcPct val="100000"/>
              </a:lnSpc>
              <a:spcBef>
                <a:spcPts val="1705"/>
              </a:spcBef>
            </a:pP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Manual</a:t>
            </a:r>
            <a:r>
              <a:rPr dirty="0" sz="1250" spc="-4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Search</a:t>
            </a:r>
            <a:endParaRPr sz="125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865"/>
              </a:spcBef>
            </a:pPr>
            <a:r>
              <a:rPr dirty="0" sz="1150">
                <a:latin typeface="Calibri"/>
                <a:cs typeface="Calibri"/>
              </a:rPr>
              <a:t>Students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browse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extensive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textbooks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and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PDFs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manually,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which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is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time-</a:t>
            </a:r>
            <a:r>
              <a:rPr dirty="0" sz="1150" spc="-10">
                <a:latin typeface="Calibri"/>
                <a:cs typeface="Calibri"/>
              </a:rPr>
              <a:t>consuming</a:t>
            </a:r>
            <a:r>
              <a:rPr dirty="0" sz="1150" spc="-5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and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inefficient.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15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</a:pP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Keyword</a:t>
            </a:r>
            <a:r>
              <a:rPr dirty="0" sz="1250" spc="-2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Matching</a:t>
            </a:r>
            <a:endParaRPr sz="125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869"/>
              </a:spcBef>
            </a:pPr>
            <a:r>
              <a:rPr dirty="0" sz="1150">
                <a:latin typeface="Calibri"/>
                <a:cs typeface="Calibri"/>
              </a:rPr>
              <a:t>Traditional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search</a:t>
            </a:r>
            <a:r>
              <a:rPr dirty="0" sz="1150" spc="-5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retrieves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documents</a:t>
            </a:r>
            <a:r>
              <a:rPr dirty="0" sz="1150" spc="-5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by</a:t>
            </a:r>
            <a:r>
              <a:rPr dirty="0" sz="1150" spc="-4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matching</a:t>
            </a:r>
            <a:r>
              <a:rPr dirty="0" sz="1150" spc="-4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query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terms,</a:t>
            </a:r>
            <a:r>
              <a:rPr dirty="0" sz="1150" spc="-4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failing</a:t>
            </a:r>
            <a:r>
              <a:rPr dirty="0" sz="1150" spc="-4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to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capture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semantic</a:t>
            </a:r>
            <a:r>
              <a:rPr dirty="0" sz="1150" spc="-5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meaning.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15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</a:pP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Basic</a:t>
            </a:r>
            <a:r>
              <a:rPr dirty="0" sz="1250" spc="-1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NLP</a:t>
            </a:r>
            <a:r>
              <a:rPr dirty="0" sz="1250" spc="-4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Techniques</a:t>
            </a:r>
            <a:endParaRPr sz="125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869"/>
              </a:spcBef>
            </a:pPr>
            <a:r>
              <a:rPr dirty="0" sz="1150">
                <a:latin typeface="Calibri"/>
                <a:cs typeface="Calibri"/>
              </a:rPr>
              <a:t>Used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for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text</a:t>
            </a:r>
            <a:r>
              <a:rPr dirty="0" sz="1150" spc="-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processing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but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lack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deep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contextual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understanding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of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user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intent.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15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5"/>
              </a:spcBef>
            </a:pP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Rule-</a:t>
            </a: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Based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 Chatbots</a:t>
            </a:r>
            <a:endParaRPr sz="125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865"/>
              </a:spcBef>
            </a:pPr>
            <a:r>
              <a:rPr dirty="0" sz="1150">
                <a:latin typeface="Calibri"/>
                <a:cs typeface="Calibri"/>
              </a:rPr>
              <a:t>Generate</a:t>
            </a:r>
            <a:r>
              <a:rPr dirty="0" sz="1150" spc="-4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predefined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responses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using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fixed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patterns,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without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truly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understanding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the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query.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15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</a:pP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General </a:t>
            </a: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AI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 Chatbots</a:t>
            </a:r>
            <a:endParaRPr sz="125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869"/>
              </a:spcBef>
            </a:pPr>
            <a:r>
              <a:rPr dirty="0" sz="1150">
                <a:latin typeface="Calibri"/>
                <a:cs typeface="Calibri"/>
              </a:rPr>
              <a:t>Produce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answers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from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general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pre-</a:t>
            </a:r>
            <a:r>
              <a:rPr dirty="0" sz="1150">
                <a:latin typeface="Calibri"/>
                <a:cs typeface="Calibri"/>
              </a:rPr>
              <a:t>trained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knowledge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—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not</a:t>
            </a:r>
            <a:r>
              <a:rPr dirty="0" sz="1150" spc="-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grounded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in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domain-</a:t>
            </a:r>
            <a:r>
              <a:rPr dirty="0" sz="1150">
                <a:latin typeface="Calibri"/>
                <a:cs typeface="Calibri"/>
              </a:rPr>
              <a:t>specific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academic</a:t>
            </a:r>
            <a:r>
              <a:rPr dirty="0" sz="1150" spc="-4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material.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7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62484" y="1050036"/>
            <a:ext cx="4321810" cy="3818890"/>
            <a:chOff x="62484" y="1050036"/>
            <a:chExt cx="4321810" cy="38188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84" y="1050036"/>
              <a:ext cx="4321302" cy="381838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5841" y="1158773"/>
              <a:ext cx="4051300" cy="3657600"/>
            </a:xfrm>
            <a:custGeom>
              <a:avLst/>
              <a:gdLst/>
              <a:ahLst/>
              <a:cxnLst/>
              <a:rect l="l" t="t" r="r" b="b"/>
              <a:pathLst>
                <a:path w="4051300" h="3657600">
                  <a:moveTo>
                    <a:pt x="0" y="3657600"/>
                  </a:moveTo>
                  <a:lnTo>
                    <a:pt x="4050792" y="3657600"/>
                  </a:lnTo>
                  <a:lnTo>
                    <a:pt x="4050792" y="0"/>
                  </a:lnTo>
                  <a:lnTo>
                    <a:pt x="0" y="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EBF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6113" y="1158773"/>
              <a:ext cx="4160520" cy="3657600"/>
            </a:xfrm>
            <a:custGeom>
              <a:avLst/>
              <a:gdLst/>
              <a:ahLst/>
              <a:cxnLst/>
              <a:rect l="l" t="t" r="r" b="b"/>
              <a:pathLst>
                <a:path w="4160520" h="3657600">
                  <a:moveTo>
                    <a:pt x="0" y="3657600"/>
                  </a:moveTo>
                  <a:lnTo>
                    <a:pt x="4160520" y="365760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3657600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6113" y="1158773"/>
              <a:ext cx="109855" cy="3657600"/>
            </a:xfrm>
            <a:custGeom>
              <a:avLst/>
              <a:gdLst/>
              <a:ahLst/>
              <a:cxnLst/>
              <a:rect l="l" t="t" r="r" b="b"/>
              <a:pathLst>
                <a:path w="109854" h="3657600">
                  <a:moveTo>
                    <a:pt x="109728" y="0"/>
                  </a:moveTo>
                  <a:lnTo>
                    <a:pt x="0" y="0"/>
                  </a:lnTo>
                  <a:lnTo>
                    <a:pt x="0" y="3657600"/>
                  </a:lnTo>
                  <a:lnTo>
                    <a:pt x="109728" y="3657600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6113" y="1158773"/>
              <a:ext cx="109855" cy="3657600"/>
            </a:xfrm>
            <a:custGeom>
              <a:avLst/>
              <a:gdLst/>
              <a:ahLst/>
              <a:cxnLst/>
              <a:rect l="l" t="t" r="r" b="b"/>
              <a:pathLst>
                <a:path w="109854" h="3657600">
                  <a:moveTo>
                    <a:pt x="0" y="3657600"/>
                  </a:moveTo>
                  <a:lnTo>
                    <a:pt x="109728" y="3657600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3657600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-6350" y="-6350"/>
            <a:ext cx="9156700" cy="5156200"/>
            <a:chOff x="-6350" y="-6350"/>
            <a:chExt cx="9156700" cy="5156200"/>
          </a:xfrm>
        </p:grpSpPr>
        <p:sp>
          <p:nvSpPr>
            <p:cNvPr id="10" name="object 10"/>
            <p:cNvSpPr/>
            <p:nvPr/>
          </p:nvSpPr>
          <p:spPr>
            <a:xfrm>
              <a:off x="0" y="0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91440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9144000" y="6858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D2B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0" y="685800"/>
                  </a:moveTo>
                  <a:lnTo>
                    <a:pt x="9144000" y="6858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12700">
              <a:solidFill>
                <a:srgbClr val="0D2B4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0" y="685799"/>
              <a:ext cx="109855" cy="4457700"/>
            </a:xfrm>
            <a:custGeom>
              <a:avLst/>
              <a:gdLst/>
              <a:ahLst/>
              <a:cxnLst/>
              <a:rect l="l" t="t" r="r" b="b"/>
              <a:pathLst>
                <a:path w="109855" h="4457700">
                  <a:moveTo>
                    <a:pt x="109728" y="0"/>
                  </a:moveTo>
                  <a:lnTo>
                    <a:pt x="0" y="0"/>
                  </a:lnTo>
                  <a:lnTo>
                    <a:pt x="0" y="4457700"/>
                  </a:lnTo>
                  <a:lnTo>
                    <a:pt x="109728" y="4457700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0" y="685799"/>
              <a:ext cx="109855" cy="4457700"/>
            </a:xfrm>
            <a:custGeom>
              <a:avLst/>
              <a:gdLst/>
              <a:ahLst/>
              <a:cxnLst/>
              <a:rect l="l" t="t" r="r" b="b"/>
              <a:pathLst>
                <a:path w="109855" h="4457700">
                  <a:moveTo>
                    <a:pt x="0" y="4457700"/>
                  </a:moveTo>
                  <a:lnTo>
                    <a:pt x="109728" y="4457700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4457700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Disadvantages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Existing</a:t>
            </a:r>
            <a:r>
              <a:rPr dirty="0" spc="-65"/>
              <a:t> </a:t>
            </a:r>
            <a:r>
              <a:rPr dirty="0" spc="-10"/>
              <a:t>System</a:t>
            </a:r>
            <a:r>
              <a:rPr dirty="0" spc="-65"/>
              <a:t> </a:t>
            </a:r>
            <a:r>
              <a:rPr dirty="0"/>
              <a:t>→</a:t>
            </a:r>
            <a:r>
              <a:rPr dirty="0" spc="-70"/>
              <a:t> </a:t>
            </a:r>
            <a:r>
              <a:rPr dirty="0"/>
              <a:t>Proposed</a:t>
            </a:r>
            <a:r>
              <a:rPr dirty="0" spc="-30"/>
              <a:t> </a:t>
            </a:r>
            <a:r>
              <a:rPr dirty="0" spc="-10"/>
              <a:t>Solution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42265" algn="l"/>
              </a:tabLst>
            </a:pPr>
            <a:r>
              <a:rPr dirty="0" spc="-10"/>
              <a:t>Time-</a:t>
            </a:r>
            <a:r>
              <a:rPr dirty="0"/>
              <a:t>consuming</a:t>
            </a:r>
            <a:r>
              <a:rPr dirty="0" spc="-45"/>
              <a:t> </a:t>
            </a:r>
            <a:r>
              <a:rPr dirty="0"/>
              <a:t>manual</a:t>
            </a:r>
            <a:r>
              <a:rPr dirty="0" spc="-40"/>
              <a:t> </a:t>
            </a:r>
            <a:r>
              <a:rPr dirty="0"/>
              <a:t>search</a:t>
            </a:r>
            <a:r>
              <a:rPr dirty="0" spc="-50"/>
              <a:t> </a:t>
            </a:r>
            <a:r>
              <a:rPr dirty="0" spc="-10"/>
              <a:t>process</a:t>
            </a:r>
          </a:p>
          <a:p>
            <a:pPr marL="3422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42265" algn="l"/>
              </a:tabLst>
            </a:pPr>
            <a:r>
              <a:rPr dirty="0"/>
              <a:t>Lack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15"/>
              <a:t> </a:t>
            </a:r>
            <a:r>
              <a:rPr dirty="0" spc="-10"/>
              <a:t>intelligent</a:t>
            </a:r>
            <a:r>
              <a:rPr dirty="0" spc="-5"/>
              <a:t> </a:t>
            </a:r>
            <a:r>
              <a:rPr dirty="0"/>
              <a:t>and </a:t>
            </a:r>
            <a:r>
              <a:rPr dirty="0" spc="-10"/>
              <a:t>interactive</a:t>
            </a:r>
            <a:r>
              <a:rPr dirty="0"/>
              <a:t> </a:t>
            </a:r>
            <a:r>
              <a:rPr dirty="0" spc="-10"/>
              <a:t>assistance</a:t>
            </a:r>
          </a:p>
          <a:p>
            <a:pPr marL="3422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42265" algn="l"/>
              </a:tabLst>
            </a:pPr>
            <a:r>
              <a:rPr dirty="0"/>
              <a:t>Poor</a:t>
            </a:r>
            <a:r>
              <a:rPr dirty="0" spc="-15"/>
              <a:t> </a:t>
            </a:r>
            <a:r>
              <a:rPr dirty="0" spc="-10"/>
              <a:t>understanding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0"/>
              <a:t> context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10"/>
              <a:t> semantics</a:t>
            </a:r>
          </a:p>
          <a:p>
            <a:pPr marL="3422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42265" algn="l"/>
              </a:tabLst>
            </a:pPr>
            <a:r>
              <a:rPr dirty="0"/>
              <a:t>Unable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 spc="-10"/>
              <a:t>generate</a:t>
            </a:r>
            <a:r>
              <a:rPr dirty="0" spc="-30"/>
              <a:t> </a:t>
            </a:r>
            <a:r>
              <a:rPr dirty="0" spc="-10"/>
              <a:t>meaningful</a:t>
            </a:r>
            <a:r>
              <a:rPr dirty="0" spc="-20"/>
              <a:t> </a:t>
            </a:r>
            <a:r>
              <a:rPr dirty="0"/>
              <a:t>answers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35"/>
              <a:t> </a:t>
            </a:r>
            <a:r>
              <a:rPr dirty="0" spc="-10"/>
              <a:t>complex</a:t>
            </a:r>
          </a:p>
          <a:p>
            <a:pPr marL="342900">
              <a:lnSpc>
                <a:spcPct val="100000"/>
              </a:lnSpc>
            </a:pPr>
            <a:r>
              <a:rPr dirty="0" spc="-10"/>
              <a:t>queries</a:t>
            </a:r>
          </a:p>
          <a:p>
            <a:pPr marL="3422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42265" algn="l"/>
              </a:tabLst>
            </a:pPr>
            <a:r>
              <a:rPr dirty="0"/>
              <a:t>Not</a:t>
            </a:r>
            <a:r>
              <a:rPr dirty="0" spc="-30"/>
              <a:t> </a:t>
            </a:r>
            <a:r>
              <a:rPr dirty="0"/>
              <a:t>suitable</a:t>
            </a:r>
            <a:r>
              <a:rPr dirty="0" spc="-35"/>
              <a:t> </a:t>
            </a:r>
            <a:r>
              <a:rPr dirty="0"/>
              <a:t>for</a:t>
            </a:r>
            <a:r>
              <a:rPr dirty="0" spc="-25"/>
              <a:t> </a:t>
            </a:r>
            <a:r>
              <a:rPr dirty="0" spc="-10"/>
              <a:t>domain-</a:t>
            </a:r>
            <a:r>
              <a:rPr dirty="0"/>
              <a:t>specific</a:t>
            </a:r>
            <a:r>
              <a:rPr dirty="0" spc="-25"/>
              <a:t> </a:t>
            </a:r>
            <a:r>
              <a:rPr dirty="0"/>
              <a:t>academic</a:t>
            </a:r>
            <a:r>
              <a:rPr dirty="0" spc="-30"/>
              <a:t> </a:t>
            </a:r>
            <a:r>
              <a:rPr dirty="0" spc="-10"/>
              <a:t>applications</a:t>
            </a:r>
          </a:p>
          <a:p>
            <a:pPr marL="3422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42265" algn="l"/>
              </a:tabLst>
            </a:pPr>
            <a:r>
              <a:rPr dirty="0"/>
              <a:t>Limited</a:t>
            </a:r>
            <a:r>
              <a:rPr dirty="0" spc="-50"/>
              <a:t> </a:t>
            </a:r>
            <a:r>
              <a:rPr dirty="0"/>
              <a:t>scalability</a:t>
            </a:r>
            <a:r>
              <a:rPr dirty="0" spc="-55"/>
              <a:t> </a:t>
            </a:r>
            <a:r>
              <a:rPr dirty="0"/>
              <a:t>for</a:t>
            </a:r>
            <a:r>
              <a:rPr dirty="0" spc="-35"/>
              <a:t> </a:t>
            </a:r>
            <a:r>
              <a:rPr dirty="0"/>
              <a:t>large</a:t>
            </a:r>
            <a:r>
              <a:rPr dirty="0" spc="-40"/>
              <a:t> </a:t>
            </a:r>
            <a:r>
              <a:rPr dirty="0" spc="-10"/>
              <a:t>datasets</a:t>
            </a:r>
          </a:p>
        </p:txBody>
      </p:sp>
      <p:sp>
        <p:nvSpPr>
          <p:cNvPr id="16" name="object 16"/>
          <p:cNvSpPr/>
          <p:nvPr/>
        </p:nvSpPr>
        <p:spPr>
          <a:xfrm>
            <a:off x="4572000" y="914400"/>
            <a:ext cx="0" cy="3840479"/>
          </a:xfrm>
          <a:custGeom>
            <a:avLst/>
            <a:gdLst/>
            <a:ahLst/>
            <a:cxnLst/>
            <a:rect l="l" t="t" r="r" b="b"/>
            <a:pathLst>
              <a:path w="0" h="3840479">
                <a:moveTo>
                  <a:pt x="0" y="0"/>
                </a:moveTo>
                <a:lnTo>
                  <a:pt x="0" y="3840479"/>
                </a:lnTo>
              </a:path>
            </a:pathLst>
          </a:custGeom>
          <a:ln w="19050">
            <a:solidFill>
              <a:srgbClr val="93D2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398390" y="2266010"/>
            <a:ext cx="347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0">
                <a:solidFill>
                  <a:srgbClr val="099295"/>
                </a:solidFill>
                <a:latin typeface="Calibri"/>
                <a:cs typeface="Calibri"/>
              </a:rPr>
              <a:t>→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5900" y="805941"/>
            <a:ext cx="58185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538980" algn="l"/>
              </a:tabLst>
            </a:pPr>
            <a:r>
              <a:rPr dirty="0" sz="1400" spc="-10" b="1">
                <a:solidFill>
                  <a:srgbClr val="C0392B"/>
                </a:solidFill>
                <a:latin typeface="Calibri"/>
                <a:cs typeface="Calibri"/>
              </a:rPr>
              <a:t>Disadvantages</a:t>
            </a:r>
            <a:r>
              <a:rPr dirty="0" sz="1400" b="1">
                <a:solidFill>
                  <a:srgbClr val="C0392B"/>
                </a:solidFill>
                <a:latin typeface="Calibri"/>
                <a:cs typeface="Calibri"/>
              </a:rPr>
              <a:t>	</a:t>
            </a:r>
            <a:r>
              <a:rPr dirty="0" sz="1400" b="1">
                <a:solidFill>
                  <a:srgbClr val="099295"/>
                </a:solidFill>
                <a:latin typeface="Calibri"/>
                <a:cs typeface="Calibri"/>
              </a:rPr>
              <a:t>Proposed</a:t>
            </a:r>
            <a:r>
              <a:rPr dirty="0" sz="1400" spc="-70" b="1">
                <a:solidFill>
                  <a:srgbClr val="099295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99295"/>
                </a:solidFill>
                <a:latin typeface="Calibri"/>
                <a:cs typeface="Calibri"/>
              </a:rPr>
              <a:t>System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671059" y="1033272"/>
            <a:ext cx="4321810" cy="3818890"/>
            <a:chOff x="4671059" y="1033272"/>
            <a:chExt cx="4321810" cy="381889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1059" y="1033272"/>
              <a:ext cx="4321301" cy="381838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864607" y="1143000"/>
              <a:ext cx="4051300" cy="3657600"/>
            </a:xfrm>
            <a:custGeom>
              <a:avLst/>
              <a:gdLst/>
              <a:ahLst/>
              <a:cxnLst/>
              <a:rect l="l" t="t" r="r" b="b"/>
              <a:pathLst>
                <a:path w="4051300" h="3657600">
                  <a:moveTo>
                    <a:pt x="0" y="3657600"/>
                  </a:moveTo>
                  <a:lnTo>
                    <a:pt x="4050792" y="3657600"/>
                  </a:lnTo>
                  <a:lnTo>
                    <a:pt x="4050792" y="0"/>
                  </a:lnTo>
                  <a:lnTo>
                    <a:pt x="0" y="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EBF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754879" y="1143000"/>
              <a:ext cx="4160520" cy="3657600"/>
            </a:xfrm>
            <a:custGeom>
              <a:avLst/>
              <a:gdLst/>
              <a:ahLst/>
              <a:cxnLst/>
              <a:rect l="l" t="t" r="r" b="b"/>
              <a:pathLst>
                <a:path w="4160520" h="3657600">
                  <a:moveTo>
                    <a:pt x="0" y="3657600"/>
                  </a:moveTo>
                  <a:lnTo>
                    <a:pt x="4160520" y="365760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3657600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754879" y="1143000"/>
              <a:ext cx="109855" cy="3657600"/>
            </a:xfrm>
            <a:custGeom>
              <a:avLst/>
              <a:gdLst/>
              <a:ahLst/>
              <a:cxnLst/>
              <a:rect l="l" t="t" r="r" b="b"/>
              <a:pathLst>
                <a:path w="109854" h="3657600">
                  <a:moveTo>
                    <a:pt x="109727" y="0"/>
                  </a:moveTo>
                  <a:lnTo>
                    <a:pt x="0" y="0"/>
                  </a:lnTo>
                  <a:lnTo>
                    <a:pt x="0" y="3657600"/>
                  </a:lnTo>
                  <a:lnTo>
                    <a:pt x="109727" y="3657600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754879" y="1143000"/>
              <a:ext cx="109855" cy="3657600"/>
            </a:xfrm>
            <a:custGeom>
              <a:avLst/>
              <a:gdLst/>
              <a:ahLst/>
              <a:cxnLst/>
              <a:rect l="l" t="t" r="r" b="b"/>
              <a:pathLst>
                <a:path w="109854" h="3657600">
                  <a:moveTo>
                    <a:pt x="0" y="3657600"/>
                  </a:moveTo>
                  <a:lnTo>
                    <a:pt x="109727" y="3657600"/>
                  </a:lnTo>
                  <a:lnTo>
                    <a:pt x="109727" y="0"/>
                  </a:lnTo>
                  <a:lnTo>
                    <a:pt x="0" y="0"/>
                  </a:lnTo>
                  <a:lnTo>
                    <a:pt x="0" y="3657600"/>
                  </a:lnTo>
                  <a:close/>
                </a:path>
              </a:pathLst>
            </a:custGeom>
            <a:ln w="12699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062854" y="1684782"/>
            <a:ext cx="3666490" cy="2502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RAG-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based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AI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chatbot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grounded in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user-uploaded</a:t>
            </a:r>
            <a:endParaRPr sz="12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academic</a:t>
            </a:r>
            <a:r>
              <a:rPr dirty="0" sz="1250" spc="-6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PDFs</a:t>
            </a:r>
            <a:endParaRPr sz="1250">
              <a:latin typeface="Calibri"/>
              <a:cs typeface="Calibri"/>
            </a:endParaRPr>
          </a:p>
          <a:p>
            <a:pPr marL="355600" marR="118110" indent="-343535">
              <a:lnSpc>
                <a:spcPct val="100000"/>
              </a:lnSpc>
              <a:spcBef>
                <a:spcPts val="605"/>
              </a:spcBef>
              <a:buChar char="•"/>
              <a:tabLst>
                <a:tab pos="355600" algn="l"/>
              </a:tabLst>
            </a:pP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Semantic</a:t>
            </a:r>
            <a:r>
              <a:rPr dirty="0" sz="1250" spc="-5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search</a:t>
            </a:r>
            <a:r>
              <a:rPr dirty="0" sz="1250" spc="-5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using</a:t>
            </a:r>
            <a:r>
              <a:rPr dirty="0" sz="1250" spc="-5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sentence</a:t>
            </a:r>
            <a:r>
              <a:rPr dirty="0" sz="1250" spc="-5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embeddings</a:t>
            </a:r>
            <a:r>
              <a:rPr dirty="0" sz="12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(not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keyword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matching)</a:t>
            </a:r>
            <a:endParaRPr sz="12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har char="•"/>
              <a:tabLst>
                <a:tab pos="355600" algn="l"/>
              </a:tabLst>
            </a:pP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FAISS</a:t>
            </a:r>
            <a:r>
              <a:rPr dirty="0" sz="1250" spc="-4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vector</a:t>
            </a:r>
            <a:r>
              <a:rPr dirty="0" sz="1250" spc="-5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database</a:t>
            </a:r>
            <a:r>
              <a:rPr dirty="0" sz="1250" spc="-4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for</a:t>
            </a:r>
            <a:r>
              <a:rPr dirty="0" sz="12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fast</a:t>
            </a:r>
            <a:r>
              <a:rPr dirty="0" sz="1250" spc="-5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similarity</a:t>
            </a:r>
            <a:r>
              <a:rPr dirty="0" sz="1250" spc="-5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search</a:t>
            </a:r>
            <a:endParaRPr sz="1250">
              <a:latin typeface="Calibri"/>
              <a:cs typeface="Calibri"/>
            </a:endParaRPr>
          </a:p>
          <a:p>
            <a:pPr marL="355600" marR="470534" indent="-343535">
              <a:lnSpc>
                <a:spcPct val="100000"/>
              </a:lnSpc>
              <a:spcBef>
                <a:spcPts val="600"/>
              </a:spcBef>
              <a:buChar char="•"/>
              <a:tabLst>
                <a:tab pos="355600" algn="l"/>
              </a:tabLst>
            </a:pP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Qwen2-1.5B-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Instruct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LLM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for</a:t>
            </a:r>
            <a:r>
              <a:rPr dirty="0" sz="1250" spc="-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context-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aware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answer</a:t>
            </a:r>
            <a:r>
              <a:rPr dirty="0" sz="1250" spc="-4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generation</a:t>
            </a:r>
            <a:endParaRPr sz="125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600"/>
              </a:spcBef>
              <a:buChar char="•"/>
              <a:tabLst>
                <a:tab pos="355600" algn="l"/>
              </a:tabLst>
            </a:pP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Streamlit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web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interface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—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easy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to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upload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PDFs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and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query</a:t>
            </a:r>
            <a:endParaRPr sz="12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har char="•"/>
              <a:tabLst>
                <a:tab pos="355600" algn="l"/>
              </a:tabLst>
            </a:pP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Responses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strictly</a:t>
            </a:r>
            <a:r>
              <a:rPr dirty="0" sz="1250" spc="-4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limited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to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uploaded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document</a:t>
            </a:r>
            <a:endParaRPr sz="12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content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Advantages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/>
              <a:t>Proposed</a:t>
            </a:r>
            <a:r>
              <a:rPr dirty="0" spc="-35"/>
              <a:t> </a:t>
            </a:r>
            <a:r>
              <a:rPr dirty="0" spc="-10"/>
              <a:t>System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4779" y="713232"/>
            <a:ext cx="2904490" cy="1945639"/>
            <a:chOff x="144779" y="713232"/>
            <a:chExt cx="2904490" cy="19456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79" y="713232"/>
              <a:ext cx="2903982" cy="194538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8599" y="822960"/>
              <a:ext cx="2743200" cy="1783080"/>
            </a:xfrm>
            <a:custGeom>
              <a:avLst/>
              <a:gdLst/>
              <a:ahLst/>
              <a:cxnLst/>
              <a:rect l="l" t="t" r="r" b="b"/>
              <a:pathLst>
                <a:path w="2743200" h="1783080">
                  <a:moveTo>
                    <a:pt x="2743200" y="0"/>
                  </a:moveTo>
                  <a:lnTo>
                    <a:pt x="0" y="0"/>
                  </a:lnTo>
                  <a:lnTo>
                    <a:pt x="0" y="1783080"/>
                  </a:lnTo>
                  <a:lnTo>
                    <a:pt x="2743200" y="1783080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93191" y="100584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459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59" y="502920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20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93191" y="100584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0" y="251460"/>
                  </a:moveTo>
                  <a:lnTo>
                    <a:pt x="4051" y="206243"/>
                  </a:lnTo>
                  <a:lnTo>
                    <a:pt x="15732" y="163693"/>
                  </a:lnTo>
                  <a:lnTo>
                    <a:pt x="34332" y="124516"/>
                  </a:lnTo>
                  <a:lnTo>
                    <a:pt x="59141" y="89422"/>
                  </a:lnTo>
                  <a:lnTo>
                    <a:pt x="89448" y="59120"/>
                  </a:lnTo>
                  <a:lnTo>
                    <a:pt x="124544" y="34318"/>
                  </a:lnTo>
                  <a:lnTo>
                    <a:pt x="163718" y="15725"/>
                  </a:lnTo>
                  <a:lnTo>
                    <a:pt x="206260" y="4049"/>
                  </a:lnTo>
                  <a:lnTo>
                    <a:pt x="251459" y="0"/>
                  </a:lnTo>
                  <a:lnTo>
                    <a:pt x="296659" y="4049"/>
                  </a:lnTo>
                  <a:lnTo>
                    <a:pt x="339201" y="15725"/>
                  </a:lnTo>
                  <a:lnTo>
                    <a:pt x="378375" y="34318"/>
                  </a:lnTo>
                  <a:lnTo>
                    <a:pt x="413471" y="59120"/>
                  </a:lnTo>
                  <a:lnTo>
                    <a:pt x="443778" y="89422"/>
                  </a:lnTo>
                  <a:lnTo>
                    <a:pt x="468587" y="124516"/>
                  </a:lnTo>
                  <a:lnTo>
                    <a:pt x="487187" y="163693"/>
                  </a:lnTo>
                  <a:lnTo>
                    <a:pt x="498868" y="206243"/>
                  </a:lnTo>
                  <a:lnTo>
                    <a:pt x="502920" y="251460"/>
                  </a:lnTo>
                  <a:lnTo>
                    <a:pt x="498868" y="296676"/>
                  </a:lnTo>
                  <a:lnTo>
                    <a:pt x="487187" y="339226"/>
                  </a:lnTo>
                  <a:lnTo>
                    <a:pt x="468587" y="378403"/>
                  </a:lnTo>
                  <a:lnTo>
                    <a:pt x="443778" y="413497"/>
                  </a:lnTo>
                  <a:lnTo>
                    <a:pt x="413471" y="443799"/>
                  </a:lnTo>
                  <a:lnTo>
                    <a:pt x="378375" y="468601"/>
                  </a:lnTo>
                  <a:lnTo>
                    <a:pt x="339201" y="487194"/>
                  </a:lnTo>
                  <a:lnTo>
                    <a:pt x="296659" y="498870"/>
                  </a:lnTo>
                  <a:lnTo>
                    <a:pt x="251459" y="502920"/>
                  </a:lnTo>
                  <a:lnTo>
                    <a:pt x="206260" y="498870"/>
                  </a:lnTo>
                  <a:lnTo>
                    <a:pt x="163718" y="487194"/>
                  </a:lnTo>
                  <a:lnTo>
                    <a:pt x="124544" y="468601"/>
                  </a:lnTo>
                  <a:lnTo>
                    <a:pt x="89448" y="443799"/>
                  </a:lnTo>
                  <a:lnTo>
                    <a:pt x="59141" y="413497"/>
                  </a:lnTo>
                  <a:lnTo>
                    <a:pt x="34332" y="378403"/>
                  </a:lnTo>
                  <a:lnTo>
                    <a:pt x="15732" y="339226"/>
                  </a:lnTo>
                  <a:lnTo>
                    <a:pt x="4051" y="296676"/>
                  </a:lnTo>
                  <a:lnTo>
                    <a:pt x="0" y="251460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523" y="1068324"/>
              <a:ext cx="523494" cy="42595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28600" y="822960"/>
            <a:ext cx="2743200" cy="1783080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endParaRPr sz="1250">
              <a:latin typeface="Times New Roman"/>
              <a:cs typeface="Times New Roman"/>
            </a:endParaRPr>
          </a:p>
          <a:p>
            <a:pPr marL="777240">
              <a:lnSpc>
                <a:spcPct val="100000"/>
              </a:lnSpc>
              <a:spcBef>
                <a:spcPts val="5"/>
              </a:spcBef>
            </a:pPr>
            <a:r>
              <a:rPr dirty="0" sz="1250" spc="-20" b="1">
                <a:solidFill>
                  <a:srgbClr val="0D2B45"/>
                </a:solidFill>
                <a:latin typeface="Calibri"/>
                <a:cs typeface="Calibri"/>
              </a:rPr>
              <a:t>Context-</a:t>
            </a: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Aware</a:t>
            </a:r>
            <a:r>
              <a:rPr dirty="0" sz="1250" spc="2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Accuracy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50">
              <a:latin typeface="Calibri"/>
              <a:cs typeface="Calibri"/>
            </a:endParaRPr>
          </a:p>
          <a:p>
            <a:pPr marL="200660" marR="391795">
              <a:lnSpc>
                <a:spcPct val="100000"/>
              </a:lnSpc>
            </a:pPr>
            <a:r>
              <a:rPr dirty="0" sz="1150" spc="-10">
                <a:latin typeface="Calibri"/>
                <a:cs typeface="Calibri"/>
              </a:rPr>
              <a:t>Responses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are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derived</a:t>
            </a:r>
            <a:r>
              <a:rPr dirty="0" sz="1150" spc="-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directly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 spc="-20">
                <a:latin typeface="Calibri"/>
                <a:cs typeface="Calibri"/>
              </a:rPr>
              <a:t>from </a:t>
            </a:r>
            <a:r>
              <a:rPr dirty="0" sz="1150">
                <a:latin typeface="Calibri"/>
                <a:cs typeface="Calibri"/>
              </a:rPr>
              <a:t>academic</a:t>
            </a:r>
            <a:r>
              <a:rPr dirty="0" sz="1150" spc="-5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content,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ensuring information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is</a:t>
            </a:r>
            <a:r>
              <a:rPr dirty="0" sz="1150" spc="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accurate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and</a:t>
            </a:r>
            <a:r>
              <a:rPr dirty="0" sz="1150" spc="-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reliable.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89148" y="713232"/>
            <a:ext cx="2904490" cy="1945639"/>
            <a:chOff x="3089148" y="713232"/>
            <a:chExt cx="2904490" cy="1945639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89148" y="713232"/>
              <a:ext cx="2903982" cy="194538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172968" y="822960"/>
              <a:ext cx="2743200" cy="1783080"/>
            </a:xfrm>
            <a:custGeom>
              <a:avLst/>
              <a:gdLst/>
              <a:ahLst/>
              <a:cxnLst/>
              <a:rect l="l" t="t" r="r" b="b"/>
              <a:pathLst>
                <a:path w="2743200" h="1783080">
                  <a:moveTo>
                    <a:pt x="2743200" y="0"/>
                  </a:moveTo>
                  <a:lnTo>
                    <a:pt x="0" y="0"/>
                  </a:lnTo>
                  <a:lnTo>
                    <a:pt x="0" y="1783080"/>
                  </a:lnTo>
                  <a:lnTo>
                    <a:pt x="2743200" y="1783080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337560" y="100584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460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60" y="502920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19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337560" y="100584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0" y="251460"/>
                  </a:moveTo>
                  <a:lnTo>
                    <a:pt x="4049" y="206243"/>
                  </a:lnTo>
                  <a:lnTo>
                    <a:pt x="15725" y="163693"/>
                  </a:lnTo>
                  <a:lnTo>
                    <a:pt x="34318" y="124516"/>
                  </a:lnTo>
                  <a:lnTo>
                    <a:pt x="59120" y="89422"/>
                  </a:lnTo>
                  <a:lnTo>
                    <a:pt x="89422" y="59120"/>
                  </a:lnTo>
                  <a:lnTo>
                    <a:pt x="124516" y="34318"/>
                  </a:lnTo>
                  <a:lnTo>
                    <a:pt x="163693" y="15725"/>
                  </a:lnTo>
                  <a:lnTo>
                    <a:pt x="206243" y="4049"/>
                  </a:lnTo>
                  <a:lnTo>
                    <a:pt x="251460" y="0"/>
                  </a:lnTo>
                  <a:lnTo>
                    <a:pt x="296676" y="4049"/>
                  </a:lnTo>
                  <a:lnTo>
                    <a:pt x="339226" y="15725"/>
                  </a:lnTo>
                  <a:lnTo>
                    <a:pt x="378403" y="34318"/>
                  </a:lnTo>
                  <a:lnTo>
                    <a:pt x="413497" y="59120"/>
                  </a:lnTo>
                  <a:lnTo>
                    <a:pt x="443799" y="89422"/>
                  </a:lnTo>
                  <a:lnTo>
                    <a:pt x="468601" y="124516"/>
                  </a:lnTo>
                  <a:lnTo>
                    <a:pt x="487194" y="163693"/>
                  </a:lnTo>
                  <a:lnTo>
                    <a:pt x="498870" y="206243"/>
                  </a:lnTo>
                  <a:lnTo>
                    <a:pt x="502919" y="251460"/>
                  </a:lnTo>
                  <a:lnTo>
                    <a:pt x="498870" y="296676"/>
                  </a:lnTo>
                  <a:lnTo>
                    <a:pt x="487194" y="339226"/>
                  </a:lnTo>
                  <a:lnTo>
                    <a:pt x="468601" y="378403"/>
                  </a:lnTo>
                  <a:lnTo>
                    <a:pt x="443799" y="413497"/>
                  </a:lnTo>
                  <a:lnTo>
                    <a:pt x="413497" y="443799"/>
                  </a:lnTo>
                  <a:lnTo>
                    <a:pt x="378403" y="468601"/>
                  </a:lnTo>
                  <a:lnTo>
                    <a:pt x="339226" y="487194"/>
                  </a:lnTo>
                  <a:lnTo>
                    <a:pt x="296676" y="498870"/>
                  </a:lnTo>
                  <a:lnTo>
                    <a:pt x="251460" y="502920"/>
                  </a:lnTo>
                  <a:lnTo>
                    <a:pt x="206243" y="498870"/>
                  </a:lnTo>
                  <a:lnTo>
                    <a:pt x="163693" y="487194"/>
                  </a:lnTo>
                  <a:lnTo>
                    <a:pt x="124516" y="468601"/>
                  </a:lnTo>
                  <a:lnTo>
                    <a:pt x="89422" y="443799"/>
                  </a:lnTo>
                  <a:lnTo>
                    <a:pt x="59120" y="413497"/>
                  </a:lnTo>
                  <a:lnTo>
                    <a:pt x="34318" y="378403"/>
                  </a:lnTo>
                  <a:lnTo>
                    <a:pt x="15725" y="339226"/>
                  </a:lnTo>
                  <a:lnTo>
                    <a:pt x="4049" y="296676"/>
                  </a:lnTo>
                  <a:lnTo>
                    <a:pt x="0" y="251460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26892" y="1068324"/>
              <a:ext cx="523493" cy="42595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172967" y="822960"/>
            <a:ext cx="2743200" cy="1783080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endParaRPr sz="1250">
              <a:latin typeface="Times New Roman"/>
              <a:cs typeface="Times New Roman"/>
            </a:endParaRPr>
          </a:p>
          <a:p>
            <a:pPr marL="777240">
              <a:lnSpc>
                <a:spcPct val="100000"/>
              </a:lnSpc>
              <a:spcBef>
                <a:spcPts val="5"/>
              </a:spcBef>
            </a:pP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Reduced</a:t>
            </a:r>
            <a:r>
              <a:rPr dirty="0" sz="1250" spc="-5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Search</a:t>
            </a:r>
            <a:r>
              <a:rPr dirty="0" sz="1250" spc="-5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20" b="1">
                <a:solidFill>
                  <a:srgbClr val="0D2B45"/>
                </a:solidFill>
                <a:latin typeface="Calibri"/>
                <a:cs typeface="Calibri"/>
              </a:rPr>
              <a:t>Time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250">
              <a:latin typeface="Calibri"/>
              <a:cs typeface="Calibri"/>
            </a:endParaRPr>
          </a:p>
          <a:p>
            <a:pPr marL="201295" marR="209550">
              <a:lnSpc>
                <a:spcPct val="100000"/>
              </a:lnSpc>
            </a:pPr>
            <a:r>
              <a:rPr dirty="0" sz="1150">
                <a:latin typeface="Calibri"/>
                <a:cs typeface="Calibri"/>
              </a:rPr>
              <a:t>Semantic</a:t>
            </a:r>
            <a:r>
              <a:rPr dirty="0" sz="1150" spc="-6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retrieval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significantly</a:t>
            </a:r>
            <a:r>
              <a:rPr dirty="0" sz="1150" spc="-5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cuts</a:t>
            </a:r>
            <a:r>
              <a:rPr dirty="0" sz="1150" spc="-50">
                <a:latin typeface="Calibri"/>
                <a:cs typeface="Calibri"/>
              </a:rPr>
              <a:t> </a:t>
            </a:r>
            <a:r>
              <a:rPr dirty="0" sz="1150" spc="-25">
                <a:latin typeface="Calibri"/>
                <a:cs typeface="Calibri"/>
              </a:rPr>
              <a:t>the </a:t>
            </a:r>
            <a:r>
              <a:rPr dirty="0" sz="1150">
                <a:latin typeface="Calibri"/>
                <a:cs typeface="Calibri"/>
              </a:rPr>
              <a:t>time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needed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to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find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relevant information </a:t>
            </a:r>
            <a:r>
              <a:rPr dirty="0" sz="1150">
                <a:latin typeface="Calibri"/>
                <a:cs typeface="Calibri"/>
              </a:rPr>
              <a:t>from</a:t>
            </a:r>
            <a:r>
              <a:rPr dirty="0" sz="1150" spc="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large </a:t>
            </a:r>
            <a:r>
              <a:rPr dirty="0" sz="1150" spc="-20">
                <a:latin typeface="Calibri"/>
                <a:cs typeface="Calibri"/>
              </a:rPr>
              <a:t>study</a:t>
            </a:r>
            <a:r>
              <a:rPr dirty="0" sz="1150" spc="50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materials.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033515" y="713232"/>
            <a:ext cx="2904490" cy="1945639"/>
            <a:chOff x="6033515" y="713232"/>
            <a:chExt cx="2904490" cy="1945639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3515" y="713232"/>
              <a:ext cx="2903982" cy="194538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117335" y="822960"/>
              <a:ext cx="2743200" cy="1783080"/>
            </a:xfrm>
            <a:custGeom>
              <a:avLst/>
              <a:gdLst/>
              <a:ahLst/>
              <a:cxnLst/>
              <a:rect l="l" t="t" r="r" b="b"/>
              <a:pathLst>
                <a:path w="2743200" h="1783080">
                  <a:moveTo>
                    <a:pt x="2743200" y="0"/>
                  </a:moveTo>
                  <a:lnTo>
                    <a:pt x="0" y="0"/>
                  </a:lnTo>
                  <a:lnTo>
                    <a:pt x="0" y="1783080"/>
                  </a:lnTo>
                  <a:lnTo>
                    <a:pt x="2743200" y="1783080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281927" y="100584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460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60" y="502920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20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281927" y="100584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0" y="251460"/>
                  </a:moveTo>
                  <a:lnTo>
                    <a:pt x="4049" y="206243"/>
                  </a:lnTo>
                  <a:lnTo>
                    <a:pt x="15725" y="163693"/>
                  </a:lnTo>
                  <a:lnTo>
                    <a:pt x="34318" y="124516"/>
                  </a:lnTo>
                  <a:lnTo>
                    <a:pt x="59120" y="89422"/>
                  </a:lnTo>
                  <a:lnTo>
                    <a:pt x="89422" y="59120"/>
                  </a:lnTo>
                  <a:lnTo>
                    <a:pt x="124516" y="34318"/>
                  </a:lnTo>
                  <a:lnTo>
                    <a:pt x="163693" y="15725"/>
                  </a:lnTo>
                  <a:lnTo>
                    <a:pt x="206243" y="4049"/>
                  </a:lnTo>
                  <a:lnTo>
                    <a:pt x="251460" y="0"/>
                  </a:lnTo>
                  <a:lnTo>
                    <a:pt x="296676" y="4049"/>
                  </a:lnTo>
                  <a:lnTo>
                    <a:pt x="339226" y="15725"/>
                  </a:lnTo>
                  <a:lnTo>
                    <a:pt x="378403" y="34318"/>
                  </a:lnTo>
                  <a:lnTo>
                    <a:pt x="413497" y="59120"/>
                  </a:lnTo>
                  <a:lnTo>
                    <a:pt x="443799" y="89422"/>
                  </a:lnTo>
                  <a:lnTo>
                    <a:pt x="468601" y="124516"/>
                  </a:lnTo>
                  <a:lnTo>
                    <a:pt x="487194" y="163693"/>
                  </a:lnTo>
                  <a:lnTo>
                    <a:pt x="498870" y="206243"/>
                  </a:lnTo>
                  <a:lnTo>
                    <a:pt x="502920" y="251460"/>
                  </a:lnTo>
                  <a:lnTo>
                    <a:pt x="498870" y="296676"/>
                  </a:lnTo>
                  <a:lnTo>
                    <a:pt x="487194" y="339226"/>
                  </a:lnTo>
                  <a:lnTo>
                    <a:pt x="468601" y="378403"/>
                  </a:lnTo>
                  <a:lnTo>
                    <a:pt x="443799" y="413497"/>
                  </a:lnTo>
                  <a:lnTo>
                    <a:pt x="413497" y="443799"/>
                  </a:lnTo>
                  <a:lnTo>
                    <a:pt x="378403" y="468601"/>
                  </a:lnTo>
                  <a:lnTo>
                    <a:pt x="339226" y="487194"/>
                  </a:lnTo>
                  <a:lnTo>
                    <a:pt x="296676" y="498870"/>
                  </a:lnTo>
                  <a:lnTo>
                    <a:pt x="251460" y="502920"/>
                  </a:lnTo>
                  <a:lnTo>
                    <a:pt x="206243" y="498870"/>
                  </a:lnTo>
                  <a:lnTo>
                    <a:pt x="163693" y="487194"/>
                  </a:lnTo>
                  <a:lnTo>
                    <a:pt x="124516" y="468601"/>
                  </a:lnTo>
                  <a:lnTo>
                    <a:pt x="89422" y="443799"/>
                  </a:lnTo>
                  <a:lnTo>
                    <a:pt x="59120" y="413497"/>
                  </a:lnTo>
                  <a:lnTo>
                    <a:pt x="34318" y="378403"/>
                  </a:lnTo>
                  <a:lnTo>
                    <a:pt x="15725" y="339226"/>
                  </a:lnTo>
                  <a:lnTo>
                    <a:pt x="4049" y="296676"/>
                  </a:lnTo>
                  <a:lnTo>
                    <a:pt x="0" y="251460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71259" y="1068324"/>
              <a:ext cx="523493" cy="425958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117335" y="822960"/>
            <a:ext cx="2743200" cy="1783080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endParaRPr sz="1250">
              <a:latin typeface="Times New Roman"/>
              <a:cs typeface="Times New Roman"/>
            </a:endParaRPr>
          </a:p>
          <a:p>
            <a:pPr marL="777875">
              <a:lnSpc>
                <a:spcPct val="100000"/>
              </a:lnSpc>
              <a:spcBef>
                <a:spcPts val="5"/>
              </a:spcBef>
            </a:pP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Multi-</a:t>
            </a: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Document</a:t>
            </a:r>
            <a:r>
              <a:rPr dirty="0" sz="1250" spc="-3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Support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250">
              <a:latin typeface="Calibri"/>
              <a:cs typeface="Calibri"/>
            </a:endParaRPr>
          </a:p>
          <a:p>
            <a:pPr marL="201930" marR="461009">
              <a:lnSpc>
                <a:spcPct val="100000"/>
              </a:lnSpc>
            </a:pPr>
            <a:r>
              <a:rPr dirty="0" sz="1150" spc="-10">
                <a:latin typeface="Calibri"/>
                <a:cs typeface="Calibri"/>
              </a:rPr>
              <a:t>Processes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multiple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PDF</a:t>
            </a:r>
            <a:r>
              <a:rPr dirty="0" sz="1150" spc="-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documents simultaneously,</a:t>
            </a:r>
            <a:r>
              <a:rPr dirty="0" sz="1150" spc="6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aggregating </a:t>
            </a:r>
            <a:r>
              <a:rPr dirty="0" sz="1150">
                <a:latin typeface="Calibri"/>
                <a:cs typeface="Calibri"/>
              </a:rPr>
              <a:t>knowledge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across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all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uploaded materials.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44779" y="2679179"/>
            <a:ext cx="2904490" cy="1944370"/>
            <a:chOff x="144779" y="2679179"/>
            <a:chExt cx="2904490" cy="1944370"/>
          </a:xfrm>
        </p:grpSpPr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4779" y="2679179"/>
              <a:ext cx="2903982" cy="194386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28599" y="2788919"/>
              <a:ext cx="2743200" cy="1783080"/>
            </a:xfrm>
            <a:custGeom>
              <a:avLst/>
              <a:gdLst/>
              <a:ahLst/>
              <a:cxnLst/>
              <a:rect l="l" t="t" r="r" b="b"/>
              <a:pathLst>
                <a:path w="2743200" h="1783079">
                  <a:moveTo>
                    <a:pt x="2743200" y="0"/>
                  </a:moveTo>
                  <a:lnTo>
                    <a:pt x="0" y="0"/>
                  </a:lnTo>
                  <a:lnTo>
                    <a:pt x="0" y="1783080"/>
                  </a:lnTo>
                  <a:lnTo>
                    <a:pt x="2743200" y="1783080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93191" y="297180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459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59" y="502919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20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93191" y="297180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0" y="251460"/>
                  </a:moveTo>
                  <a:lnTo>
                    <a:pt x="4051" y="206243"/>
                  </a:lnTo>
                  <a:lnTo>
                    <a:pt x="15732" y="163693"/>
                  </a:lnTo>
                  <a:lnTo>
                    <a:pt x="34332" y="124516"/>
                  </a:lnTo>
                  <a:lnTo>
                    <a:pt x="59141" y="89422"/>
                  </a:lnTo>
                  <a:lnTo>
                    <a:pt x="89448" y="59120"/>
                  </a:lnTo>
                  <a:lnTo>
                    <a:pt x="124544" y="34318"/>
                  </a:lnTo>
                  <a:lnTo>
                    <a:pt x="163718" y="15725"/>
                  </a:lnTo>
                  <a:lnTo>
                    <a:pt x="206260" y="4049"/>
                  </a:lnTo>
                  <a:lnTo>
                    <a:pt x="251459" y="0"/>
                  </a:lnTo>
                  <a:lnTo>
                    <a:pt x="296659" y="4049"/>
                  </a:lnTo>
                  <a:lnTo>
                    <a:pt x="339201" y="15725"/>
                  </a:lnTo>
                  <a:lnTo>
                    <a:pt x="378375" y="34318"/>
                  </a:lnTo>
                  <a:lnTo>
                    <a:pt x="413471" y="59120"/>
                  </a:lnTo>
                  <a:lnTo>
                    <a:pt x="443778" y="89422"/>
                  </a:lnTo>
                  <a:lnTo>
                    <a:pt x="468587" y="124516"/>
                  </a:lnTo>
                  <a:lnTo>
                    <a:pt x="487187" y="163693"/>
                  </a:lnTo>
                  <a:lnTo>
                    <a:pt x="498868" y="206243"/>
                  </a:lnTo>
                  <a:lnTo>
                    <a:pt x="502920" y="251460"/>
                  </a:lnTo>
                  <a:lnTo>
                    <a:pt x="498868" y="296676"/>
                  </a:lnTo>
                  <a:lnTo>
                    <a:pt x="487187" y="339226"/>
                  </a:lnTo>
                  <a:lnTo>
                    <a:pt x="468587" y="378403"/>
                  </a:lnTo>
                  <a:lnTo>
                    <a:pt x="443778" y="413497"/>
                  </a:lnTo>
                  <a:lnTo>
                    <a:pt x="413471" y="443799"/>
                  </a:lnTo>
                  <a:lnTo>
                    <a:pt x="378375" y="468601"/>
                  </a:lnTo>
                  <a:lnTo>
                    <a:pt x="339201" y="487194"/>
                  </a:lnTo>
                  <a:lnTo>
                    <a:pt x="296659" y="498870"/>
                  </a:lnTo>
                  <a:lnTo>
                    <a:pt x="251459" y="502919"/>
                  </a:lnTo>
                  <a:lnTo>
                    <a:pt x="206260" y="498870"/>
                  </a:lnTo>
                  <a:lnTo>
                    <a:pt x="163718" y="487194"/>
                  </a:lnTo>
                  <a:lnTo>
                    <a:pt x="124544" y="468601"/>
                  </a:lnTo>
                  <a:lnTo>
                    <a:pt x="89448" y="443799"/>
                  </a:lnTo>
                  <a:lnTo>
                    <a:pt x="59141" y="413497"/>
                  </a:lnTo>
                  <a:lnTo>
                    <a:pt x="34332" y="378403"/>
                  </a:lnTo>
                  <a:lnTo>
                    <a:pt x="15732" y="339226"/>
                  </a:lnTo>
                  <a:lnTo>
                    <a:pt x="4051" y="296676"/>
                  </a:lnTo>
                  <a:lnTo>
                    <a:pt x="0" y="251460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2523" y="3034284"/>
              <a:ext cx="523494" cy="425957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228600" y="2788920"/>
            <a:ext cx="2743200" cy="1783080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882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5"/>
              </a:spcBef>
            </a:pPr>
            <a:endParaRPr sz="1250">
              <a:latin typeface="Times New Roman"/>
              <a:cs typeface="Times New Roman"/>
            </a:endParaRPr>
          </a:p>
          <a:p>
            <a:pPr marL="777240">
              <a:lnSpc>
                <a:spcPct val="100000"/>
              </a:lnSpc>
            </a:pP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Hallucination-</a:t>
            </a:r>
            <a:r>
              <a:rPr dirty="0" sz="1250" spc="-20" b="1">
                <a:solidFill>
                  <a:srgbClr val="0D2B45"/>
                </a:solidFill>
                <a:latin typeface="Calibri"/>
                <a:cs typeface="Calibri"/>
              </a:rPr>
              <a:t>Free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50">
              <a:latin typeface="Calibri"/>
              <a:cs typeface="Calibri"/>
            </a:endParaRPr>
          </a:p>
          <a:p>
            <a:pPr marL="200660" marR="476250">
              <a:lnSpc>
                <a:spcPct val="100000"/>
              </a:lnSpc>
              <a:spcBef>
                <a:spcPts val="5"/>
              </a:spcBef>
            </a:pPr>
            <a:r>
              <a:rPr dirty="0" sz="1150">
                <a:latin typeface="Calibri"/>
                <a:cs typeface="Calibri"/>
              </a:rPr>
              <a:t>The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strict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RAG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prompt</a:t>
            </a:r>
            <a:r>
              <a:rPr dirty="0" sz="1150" spc="-10">
                <a:latin typeface="Calibri"/>
                <a:cs typeface="Calibri"/>
              </a:rPr>
              <a:t> constraint prevents </a:t>
            </a:r>
            <a:r>
              <a:rPr dirty="0" sz="1150">
                <a:latin typeface="Calibri"/>
                <a:cs typeface="Calibri"/>
              </a:rPr>
              <a:t>the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LLM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from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drawing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 spc="-25">
                <a:latin typeface="Calibri"/>
                <a:cs typeface="Calibri"/>
              </a:rPr>
              <a:t>on </a:t>
            </a:r>
            <a:r>
              <a:rPr dirty="0" sz="1150">
                <a:latin typeface="Calibri"/>
                <a:cs typeface="Calibri"/>
              </a:rPr>
              <a:t>unrelated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pre-</a:t>
            </a:r>
            <a:r>
              <a:rPr dirty="0" sz="1150">
                <a:latin typeface="Calibri"/>
                <a:cs typeface="Calibri"/>
              </a:rPr>
              <a:t>trained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knowledge.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089148" y="2679179"/>
            <a:ext cx="2904490" cy="1944370"/>
            <a:chOff x="3089148" y="2679179"/>
            <a:chExt cx="2904490" cy="1944370"/>
          </a:xfrm>
        </p:grpSpPr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89148" y="2679179"/>
              <a:ext cx="2903981" cy="194386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172968" y="2788919"/>
              <a:ext cx="2743200" cy="1783080"/>
            </a:xfrm>
            <a:custGeom>
              <a:avLst/>
              <a:gdLst/>
              <a:ahLst/>
              <a:cxnLst/>
              <a:rect l="l" t="t" r="r" b="b"/>
              <a:pathLst>
                <a:path w="2743200" h="1783079">
                  <a:moveTo>
                    <a:pt x="2743200" y="0"/>
                  </a:moveTo>
                  <a:lnTo>
                    <a:pt x="0" y="0"/>
                  </a:lnTo>
                  <a:lnTo>
                    <a:pt x="0" y="1783080"/>
                  </a:lnTo>
                  <a:lnTo>
                    <a:pt x="2743200" y="1783080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337560" y="297180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460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60" y="502919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19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337560" y="297180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0" y="251460"/>
                  </a:moveTo>
                  <a:lnTo>
                    <a:pt x="4049" y="206243"/>
                  </a:lnTo>
                  <a:lnTo>
                    <a:pt x="15725" y="163693"/>
                  </a:lnTo>
                  <a:lnTo>
                    <a:pt x="34318" y="124516"/>
                  </a:lnTo>
                  <a:lnTo>
                    <a:pt x="59120" y="89422"/>
                  </a:lnTo>
                  <a:lnTo>
                    <a:pt x="89422" y="59120"/>
                  </a:lnTo>
                  <a:lnTo>
                    <a:pt x="124516" y="34318"/>
                  </a:lnTo>
                  <a:lnTo>
                    <a:pt x="163693" y="15725"/>
                  </a:lnTo>
                  <a:lnTo>
                    <a:pt x="206243" y="4049"/>
                  </a:lnTo>
                  <a:lnTo>
                    <a:pt x="251460" y="0"/>
                  </a:lnTo>
                  <a:lnTo>
                    <a:pt x="296676" y="4049"/>
                  </a:lnTo>
                  <a:lnTo>
                    <a:pt x="339226" y="15725"/>
                  </a:lnTo>
                  <a:lnTo>
                    <a:pt x="378403" y="34318"/>
                  </a:lnTo>
                  <a:lnTo>
                    <a:pt x="413497" y="59120"/>
                  </a:lnTo>
                  <a:lnTo>
                    <a:pt x="443799" y="89422"/>
                  </a:lnTo>
                  <a:lnTo>
                    <a:pt x="468601" y="124516"/>
                  </a:lnTo>
                  <a:lnTo>
                    <a:pt x="487194" y="163693"/>
                  </a:lnTo>
                  <a:lnTo>
                    <a:pt x="498870" y="206243"/>
                  </a:lnTo>
                  <a:lnTo>
                    <a:pt x="502919" y="251460"/>
                  </a:lnTo>
                  <a:lnTo>
                    <a:pt x="498870" y="296676"/>
                  </a:lnTo>
                  <a:lnTo>
                    <a:pt x="487194" y="339226"/>
                  </a:lnTo>
                  <a:lnTo>
                    <a:pt x="468601" y="378403"/>
                  </a:lnTo>
                  <a:lnTo>
                    <a:pt x="443799" y="413497"/>
                  </a:lnTo>
                  <a:lnTo>
                    <a:pt x="413497" y="443799"/>
                  </a:lnTo>
                  <a:lnTo>
                    <a:pt x="378403" y="468601"/>
                  </a:lnTo>
                  <a:lnTo>
                    <a:pt x="339226" y="487194"/>
                  </a:lnTo>
                  <a:lnTo>
                    <a:pt x="296676" y="498870"/>
                  </a:lnTo>
                  <a:lnTo>
                    <a:pt x="251460" y="502919"/>
                  </a:lnTo>
                  <a:lnTo>
                    <a:pt x="206243" y="498870"/>
                  </a:lnTo>
                  <a:lnTo>
                    <a:pt x="163693" y="487194"/>
                  </a:lnTo>
                  <a:lnTo>
                    <a:pt x="124516" y="468601"/>
                  </a:lnTo>
                  <a:lnTo>
                    <a:pt x="89422" y="443799"/>
                  </a:lnTo>
                  <a:lnTo>
                    <a:pt x="59120" y="413497"/>
                  </a:lnTo>
                  <a:lnTo>
                    <a:pt x="34318" y="378403"/>
                  </a:lnTo>
                  <a:lnTo>
                    <a:pt x="15725" y="339226"/>
                  </a:lnTo>
                  <a:lnTo>
                    <a:pt x="4049" y="296676"/>
                  </a:lnTo>
                  <a:lnTo>
                    <a:pt x="0" y="251460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26892" y="3034284"/>
              <a:ext cx="523493" cy="425957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3172967" y="2788920"/>
            <a:ext cx="2743200" cy="1783080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882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5"/>
              </a:spcBef>
            </a:pPr>
            <a:endParaRPr sz="1250">
              <a:latin typeface="Times New Roman"/>
              <a:cs typeface="Times New Roman"/>
            </a:endParaRPr>
          </a:p>
          <a:p>
            <a:pPr marL="777240">
              <a:lnSpc>
                <a:spcPct val="100000"/>
              </a:lnSpc>
            </a:pP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User-</a:t>
            </a: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Friendly</a:t>
            </a:r>
            <a:r>
              <a:rPr dirty="0" sz="1250" spc="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Interface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50">
              <a:latin typeface="Calibri"/>
              <a:cs typeface="Calibri"/>
            </a:endParaRPr>
          </a:p>
          <a:p>
            <a:pPr marL="201295" marR="253365">
              <a:lnSpc>
                <a:spcPct val="100000"/>
              </a:lnSpc>
              <a:spcBef>
                <a:spcPts val="5"/>
              </a:spcBef>
            </a:pPr>
            <a:r>
              <a:rPr dirty="0" sz="1150" spc="-10">
                <a:latin typeface="Calibri"/>
                <a:cs typeface="Calibri"/>
              </a:rPr>
              <a:t>Streamlit-</a:t>
            </a:r>
            <a:r>
              <a:rPr dirty="0" sz="1150">
                <a:latin typeface="Calibri"/>
                <a:cs typeface="Calibri"/>
              </a:rPr>
              <a:t>based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interactive</a:t>
            </a:r>
            <a:r>
              <a:rPr dirty="0" sz="1150" spc="1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interface </a:t>
            </a:r>
            <a:r>
              <a:rPr dirty="0" sz="1150">
                <a:latin typeface="Calibri"/>
                <a:cs typeface="Calibri"/>
              </a:rPr>
              <a:t>allows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seamless</a:t>
            </a:r>
            <a:r>
              <a:rPr dirty="0" sz="1150" spc="-5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PDF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upload,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querying, </a:t>
            </a:r>
            <a:r>
              <a:rPr dirty="0" sz="1150">
                <a:latin typeface="Calibri"/>
                <a:cs typeface="Calibri"/>
              </a:rPr>
              <a:t>and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response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viewing.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033515" y="2679179"/>
            <a:ext cx="2904490" cy="1944370"/>
            <a:chOff x="6033515" y="2679179"/>
            <a:chExt cx="2904490" cy="1944370"/>
          </a:xfrm>
        </p:grpSpPr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3515" y="2679179"/>
              <a:ext cx="2903982" cy="194386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117335" y="2788919"/>
              <a:ext cx="2743200" cy="1783080"/>
            </a:xfrm>
            <a:custGeom>
              <a:avLst/>
              <a:gdLst/>
              <a:ahLst/>
              <a:cxnLst/>
              <a:rect l="l" t="t" r="r" b="b"/>
              <a:pathLst>
                <a:path w="2743200" h="1783079">
                  <a:moveTo>
                    <a:pt x="2743200" y="0"/>
                  </a:moveTo>
                  <a:lnTo>
                    <a:pt x="0" y="0"/>
                  </a:lnTo>
                  <a:lnTo>
                    <a:pt x="0" y="1783080"/>
                  </a:lnTo>
                  <a:lnTo>
                    <a:pt x="2743200" y="1783080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281927" y="297180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460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60" y="502919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20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281927" y="297180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0" y="251460"/>
                  </a:moveTo>
                  <a:lnTo>
                    <a:pt x="4049" y="206243"/>
                  </a:lnTo>
                  <a:lnTo>
                    <a:pt x="15725" y="163693"/>
                  </a:lnTo>
                  <a:lnTo>
                    <a:pt x="34318" y="124516"/>
                  </a:lnTo>
                  <a:lnTo>
                    <a:pt x="59120" y="89422"/>
                  </a:lnTo>
                  <a:lnTo>
                    <a:pt x="89422" y="59120"/>
                  </a:lnTo>
                  <a:lnTo>
                    <a:pt x="124516" y="34318"/>
                  </a:lnTo>
                  <a:lnTo>
                    <a:pt x="163693" y="15725"/>
                  </a:lnTo>
                  <a:lnTo>
                    <a:pt x="206243" y="4049"/>
                  </a:lnTo>
                  <a:lnTo>
                    <a:pt x="251460" y="0"/>
                  </a:lnTo>
                  <a:lnTo>
                    <a:pt x="296676" y="4049"/>
                  </a:lnTo>
                  <a:lnTo>
                    <a:pt x="339226" y="15725"/>
                  </a:lnTo>
                  <a:lnTo>
                    <a:pt x="378403" y="34318"/>
                  </a:lnTo>
                  <a:lnTo>
                    <a:pt x="413497" y="59120"/>
                  </a:lnTo>
                  <a:lnTo>
                    <a:pt x="443799" y="89422"/>
                  </a:lnTo>
                  <a:lnTo>
                    <a:pt x="468601" y="124516"/>
                  </a:lnTo>
                  <a:lnTo>
                    <a:pt x="487194" y="163693"/>
                  </a:lnTo>
                  <a:lnTo>
                    <a:pt x="498870" y="206243"/>
                  </a:lnTo>
                  <a:lnTo>
                    <a:pt x="502920" y="251460"/>
                  </a:lnTo>
                  <a:lnTo>
                    <a:pt x="498870" y="296676"/>
                  </a:lnTo>
                  <a:lnTo>
                    <a:pt x="487194" y="339226"/>
                  </a:lnTo>
                  <a:lnTo>
                    <a:pt x="468601" y="378403"/>
                  </a:lnTo>
                  <a:lnTo>
                    <a:pt x="443799" y="413497"/>
                  </a:lnTo>
                  <a:lnTo>
                    <a:pt x="413497" y="443799"/>
                  </a:lnTo>
                  <a:lnTo>
                    <a:pt x="378403" y="468601"/>
                  </a:lnTo>
                  <a:lnTo>
                    <a:pt x="339226" y="487194"/>
                  </a:lnTo>
                  <a:lnTo>
                    <a:pt x="296676" y="498870"/>
                  </a:lnTo>
                  <a:lnTo>
                    <a:pt x="251460" y="502919"/>
                  </a:lnTo>
                  <a:lnTo>
                    <a:pt x="206243" y="498870"/>
                  </a:lnTo>
                  <a:lnTo>
                    <a:pt x="163693" y="487194"/>
                  </a:lnTo>
                  <a:lnTo>
                    <a:pt x="124516" y="468601"/>
                  </a:lnTo>
                  <a:lnTo>
                    <a:pt x="89422" y="443799"/>
                  </a:lnTo>
                  <a:lnTo>
                    <a:pt x="59120" y="413497"/>
                  </a:lnTo>
                  <a:lnTo>
                    <a:pt x="34318" y="378403"/>
                  </a:lnTo>
                  <a:lnTo>
                    <a:pt x="15725" y="339226"/>
                  </a:lnTo>
                  <a:lnTo>
                    <a:pt x="4049" y="296676"/>
                  </a:lnTo>
                  <a:lnTo>
                    <a:pt x="0" y="251460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71259" y="3034284"/>
              <a:ext cx="523493" cy="425957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6117335" y="2788920"/>
            <a:ext cx="2743200" cy="1783080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882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5"/>
              </a:spcBef>
            </a:pPr>
            <a:endParaRPr sz="1250">
              <a:latin typeface="Times New Roman"/>
              <a:cs typeface="Times New Roman"/>
            </a:endParaRPr>
          </a:p>
          <a:p>
            <a:pPr marL="777875">
              <a:lnSpc>
                <a:spcPct val="100000"/>
              </a:lnSpc>
            </a:pP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Source</a:t>
            </a:r>
            <a:r>
              <a:rPr dirty="0" sz="1250" spc="-6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Citations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50">
              <a:latin typeface="Calibri"/>
              <a:cs typeface="Calibri"/>
            </a:endParaRPr>
          </a:p>
          <a:p>
            <a:pPr marL="201930" marR="299720">
              <a:lnSpc>
                <a:spcPct val="100000"/>
              </a:lnSpc>
              <a:spcBef>
                <a:spcPts val="5"/>
              </a:spcBef>
            </a:pPr>
            <a:r>
              <a:rPr dirty="0" sz="1150">
                <a:latin typeface="Calibri"/>
                <a:cs typeface="Calibri"/>
              </a:rPr>
              <a:t>Every</a:t>
            </a:r>
            <a:r>
              <a:rPr dirty="0" sz="1150" spc="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answer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is</a:t>
            </a:r>
            <a:r>
              <a:rPr dirty="0" sz="1150" spc="-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accompanied</a:t>
            </a:r>
            <a:r>
              <a:rPr dirty="0" sz="1150" spc="-25">
                <a:latin typeface="Calibri"/>
                <a:cs typeface="Calibri"/>
              </a:rPr>
              <a:t> by </a:t>
            </a:r>
            <a:r>
              <a:rPr dirty="0" sz="1150">
                <a:latin typeface="Calibri"/>
                <a:cs typeface="Calibri"/>
              </a:rPr>
              <a:t>source</a:t>
            </a:r>
            <a:r>
              <a:rPr dirty="0" sz="1150" spc="-4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chunk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references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and</a:t>
            </a:r>
            <a:r>
              <a:rPr dirty="0" sz="1150" spc="-40">
                <a:latin typeface="Calibri"/>
                <a:cs typeface="Calibri"/>
              </a:rPr>
              <a:t> </a:t>
            </a:r>
            <a:r>
              <a:rPr dirty="0" sz="1150" spc="-20">
                <a:latin typeface="Calibri"/>
                <a:cs typeface="Calibri"/>
              </a:rPr>
              <a:t>page </a:t>
            </a:r>
            <a:r>
              <a:rPr dirty="0" sz="1150">
                <a:latin typeface="Calibri"/>
                <a:cs typeface="Calibri"/>
              </a:rPr>
              <a:t>numbers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from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the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original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document.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Literature</a:t>
            </a:r>
            <a:r>
              <a:rPr dirty="0" spc="-20"/>
              <a:t> </a:t>
            </a:r>
            <a:r>
              <a:rPr dirty="0"/>
              <a:t>Survey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-40"/>
              <a:t> </a:t>
            </a:r>
            <a:r>
              <a:rPr dirty="0"/>
              <a:t>–</a:t>
            </a:r>
            <a:r>
              <a:rPr dirty="0" spc="-55"/>
              <a:t> </a:t>
            </a:r>
            <a:r>
              <a:rPr dirty="0"/>
              <a:t>RAG</a:t>
            </a:r>
            <a:r>
              <a:rPr dirty="0" spc="-50"/>
              <a:t> </a:t>
            </a:r>
            <a:r>
              <a:rPr dirty="0"/>
              <a:t>for</a:t>
            </a:r>
            <a:r>
              <a:rPr dirty="0" spc="-40"/>
              <a:t> </a:t>
            </a:r>
            <a:r>
              <a:rPr dirty="0" spc="-20"/>
              <a:t>Knowledge-</a:t>
            </a:r>
            <a:r>
              <a:rPr dirty="0"/>
              <a:t>Intensive</a:t>
            </a:r>
            <a:r>
              <a:rPr dirty="0" spc="-20"/>
              <a:t> </a:t>
            </a:r>
            <a:r>
              <a:rPr dirty="0"/>
              <a:t>NLP</a:t>
            </a:r>
            <a:r>
              <a:rPr dirty="0" spc="-45"/>
              <a:t> </a:t>
            </a:r>
            <a:r>
              <a:rPr dirty="0" spc="-10"/>
              <a:t>Tasks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7970" y="780033"/>
            <a:ext cx="1384300" cy="287020"/>
          </a:xfrm>
          <a:prstGeom prst="rect">
            <a:avLst/>
          </a:prstGeom>
          <a:solidFill>
            <a:srgbClr val="099295"/>
          </a:solidFill>
          <a:ln w="3175">
            <a:solidFill>
              <a:srgbClr val="099295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434"/>
              </a:spcBef>
            </a:pP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Survey</a:t>
            </a:r>
            <a:r>
              <a:rPr dirty="0" sz="10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dirty="0" sz="10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05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70633" y="810514"/>
            <a:ext cx="1646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latin typeface="Calibri"/>
                <a:cs typeface="Calibri"/>
              </a:rPr>
              <a:t>Patrick</a:t>
            </a:r>
            <a:r>
              <a:rPr dirty="0" sz="1200" spc="-2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Lewis</a:t>
            </a:r>
            <a:r>
              <a:rPr dirty="0" sz="1200" spc="-1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et</a:t>
            </a:r>
            <a:r>
              <a:rPr dirty="0" sz="1200" spc="-1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al.</a:t>
            </a:r>
            <a:r>
              <a:rPr dirty="0" sz="1200" spc="254" i="1">
                <a:latin typeface="Calibri"/>
                <a:cs typeface="Calibri"/>
              </a:rPr>
              <a:t> </a:t>
            </a:r>
            <a:r>
              <a:rPr dirty="0" sz="1200" spc="-10" i="1">
                <a:latin typeface="Calibri"/>
                <a:cs typeface="Calibri"/>
              </a:rPr>
              <a:t>(2020)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0500" y="1078991"/>
            <a:ext cx="8756650" cy="1305560"/>
            <a:chOff x="190500" y="1078991"/>
            <a:chExt cx="8756650" cy="13055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1078991"/>
              <a:ext cx="8756142" cy="130530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4047" y="1188719"/>
              <a:ext cx="8486140" cy="1143000"/>
            </a:xfrm>
            <a:custGeom>
              <a:avLst/>
              <a:gdLst/>
              <a:ahLst/>
              <a:cxnLst/>
              <a:rect l="l" t="t" r="r" b="b"/>
              <a:pathLst>
                <a:path w="8486140" h="1143000">
                  <a:moveTo>
                    <a:pt x="0" y="1142999"/>
                  </a:moveTo>
                  <a:lnTo>
                    <a:pt x="8485632" y="1142999"/>
                  </a:lnTo>
                  <a:lnTo>
                    <a:pt x="8485632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74319" y="1188719"/>
              <a:ext cx="8595360" cy="1143000"/>
            </a:xfrm>
            <a:custGeom>
              <a:avLst/>
              <a:gdLst/>
              <a:ahLst/>
              <a:cxnLst/>
              <a:rect l="l" t="t" r="r" b="b"/>
              <a:pathLst>
                <a:path w="8595360" h="1143000">
                  <a:moveTo>
                    <a:pt x="0" y="1142999"/>
                  </a:moveTo>
                  <a:lnTo>
                    <a:pt x="8595360" y="114299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74319" y="1188719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109728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109728" y="1142999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125E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74319" y="1188719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0" y="1142999"/>
                  </a:moveTo>
                  <a:lnTo>
                    <a:pt x="109728" y="1142999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12700">
              <a:solidFill>
                <a:srgbClr val="125E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02919" y="1282445"/>
            <a:ext cx="7998459" cy="8204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Research</a:t>
            </a:r>
            <a:r>
              <a:rPr dirty="0" sz="1250" spc="-7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Problem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50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Traditional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language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models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often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generate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inaccurate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hallucinated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answers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because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static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pre-</a:t>
            </a:r>
            <a:r>
              <a:rPr dirty="0" sz="1200" spc="-10">
                <a:latin typeface="Calibri"/>
                <a:cs typeface="Calibri"/>
              </a:rPr>
              <a:t>trained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knowledge </a:t>
            </a:r>
            <a:r>
              <a:rPr dirty="0" sz="1200">
                <a:latin typeface="Calibri"/>
                <a:cs typeface="Calibri"/>
              </a:rPr>
              <a:t>without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 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up-</a:t>
            </a:r>
            <a:r>
              <a:rPr dirty="0" sz="1200" spc="-10">
                <a:latin typeface="Calibri"/>
                <a:cs typeface="Calibri"/>
              </a:rPr>
              <a:t>to-date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external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information.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90500" y="2340864"/>
            <a:ext cx="8756650" cy="1304290"/>
            <a:chOff x="190500" y="2340864"/>
            <a:chExt cx="8756650" cy="130429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340864"/>
              <a:ext cx="8756142" cy="130378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84047" y="2450592"/>
              <a:ext cx="8486140" cy="1143000"/>
            </a:xfrm>
            <a:custGeom>
              <a:avLst/>
              <a:gdLst/>
              <a:ahLst/>
              <a:cxnLst/>
              <a:rect l="l" t="t" r="r" b="b"/>
              <a:pathLst>
                <a:path w="8486140" h="1143000">
                  <a:moveTo>
                    <a:pt x="0" y="1143000"/>
                  </a:moveTo>
                  <a:lnTo>
                    <a:pt x="8485632" y="1143000"/>
                  </a:lnTo>
                  <a:lnTo>
                    <a:pt x="8485632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74319" y="2450592"/>
              <a:ext cx="8595360" cy="1143000"/>
            </a:xfrm>
            <a:custGeom>
              <a:avLst/>
              <a:gdLst/>
              <a:ahLst/>
              <a:cxnLst/>
              <a:rect l="l" t="t" r="r" b="b"/>
              <a:pathLst>
                <a:path w="8595360" h="1143000">
                  <a:moveTo>
                    <a:pt x="0" y="1143000"/>
                  </a:moveTo>
                  <a:lnTo>
                    <a:pt x="8595360" y="1143000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74319" y="2450592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109728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109728" y="1143000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125E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74319" y="2450592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0" y="1143000"/>
                  </a:moveTo>
                  <a:lnTo>
                    <a:pt x="109728" y="1143000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125E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02919" y="2544572"/>
            <a:ext cx="7618095" cy="8204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Methodology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50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Proposed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RAG model</a:t>
            </a:r>
            <a:r>
              <a:rPr dirty="0" sz="1200" spc="-10">
                <a:latin typeface="Calibri"/>
                <a:cs typeface="Calibri"/>
              </a:rPr>
              <a:t> integrating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dense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vector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retriever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(fetches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knowledge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base)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generator </a:t>
            </a:r>
            <a:r>
              <a:rPr dirty="0" sz="1200">
                <a:latin typeface="Calibri"/>
                <a:cs typeface="Calibri"/>
              </a:rPr>
              <a:t>(produces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context-aware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responses).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Trained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 Wikipedia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open-domain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QA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datasets.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90500" y="3602761"/>
            <a:ext cx="8756650" cy="1304290"/>
            <a:chOff x="190500" y="3602761"/>
            <a:chExt cx="8756650" cy="130429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602761"/>
              <a:ext cx="8756142" cy="130378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84047" y="3712464"/>
              <a:ext cx="8486140" cy="1143000"/>
            </a:xfrm>
            <a:custGeom>
              <a:avLst/>
              <a:gdLst/>
              <a:ahLst/>
              <a:cxnLst/>
              <a:rect l="l" t="t" r="r" b="b"/>
              <a:pathLst>
                <a:path w="8486140" h="1143000">
                  <a:moveTo>
                    <a:pt x="0" y="1143000"/>
                  </a:moveTo>
                  <a:lnTo>
                    <a:pt x="8485632" y="1143000"/>
                  </a:lnTo>
                  <a:lnTo>
                    <a:pt x="8485632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EBF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74319" y="3712464"/>
              <a:ext cx="8595360" cy="1143000"/>
            </a:xfrm>
            <a:custGeom>
              <a:avLst/>
              <a:gdLst/>
              <a:ahLst/>
              <a:cxnLst/>
              <a:rect l="l" t="t" r="r" b="b"/>
              <a:pathLst>
                <a:path w="8595360" h="1143000">
                  <a:moveTo>
                    <a:pt x="0" y="1143000"/>
                  </a:moveTo>
                  <a:lnTo>
                    <a:pt x="8595360" y="1143000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74319" y="3712464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109728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109728" y="1143000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ED9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74319" y="3712464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0" y="1143000"/>
                  </a:moveTo>
                  <a:lnTo>
                    <a:pt x="109728" y="1143000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ED9B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02919" y="3806748"/>
            <a:ext cx="8051165" cy="8204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Key</a:t>
            </a:r>
            <a:r>
              <a:rPr dirty="0" sz="1250" spc="-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Finding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50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RAG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significantly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improves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answer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accuracy 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substantially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reduces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hallucination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compared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conventional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language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models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— </a:t>
            </a:r>
            <a:r>
              <a:rPr dirty="0" sz="1200">
                <a:latin typeface="Calibri"/>
                <a:cs typeface="Calibri"/>
              </a:rPr>
              <a:t>forming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theoretical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backbone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project.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Literature</a:t>
            </a:r>
            <a:r>
              <a:rPr dirty="0" spc="-25"/>
              <a:t> </a:t>
            </a:r>
            <a:r>
              <a:rPr dirty="0"/>
              <a:t>Survey</a:t>
            </a:r>
            <a:r>
              <a:rPr dirty="0" spc="370"/>
              <a:t> </a:t>
            </a:r>
            <a:r>
              <a:rPr dirty="0"/>
              <a:t>2</a:t>
            </a:r>
            <a:r>
              <a:rPr dirty="0" spc="-55"/>
              <a:t> </a:t>
            </a:r>
            <a:r>
              <a:rPr dirty="0"/>
              <a:t>–</a:t>
            </a:r>
            <a:r>
              <a:rPr dirty="0" spc="-50"/>
              <a:t> </a:t>
            </a:r>
            <a:r>
              <a:rPr dirty="0"/>
              <a:t>Semantic</a:t>
            </a:r>
            <a:r>
              <a:rPr dirty="0" spc="-45"/>
              <a:t> </a:t>
            </a:r>
            <a:r>
              <a:rPr dirty="0"/>
              <a:t>Search</a:t>
            </a:r>
            <a:r>
              <a:rPr dirty="0" spc="-50"/>
              <a:t> </a:t>
            </a:r>
            <a:r>
              <a:rPr dirty="0"/>
              <a:t>Using</a:t>
            </a:r>
            <a:r>
              <a:rPr dirty="0" spc="-70"/>
              <a:t> </a:t>
            </a:r>
            <a:r>
              <a:rPr dirty="0" spc="-10"/>
              <a:t>Sentence</a:t>
            </a:r>
            <a:r>
              <a:rPr dirty="0" spc="-45"/>
              <a:t> </a:t>
            </a:r>
            <a:r>
              <a:rPr dirty="0" spc="-10"/>
              <a:t>Embeddings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7970" y="780033"/>
            <a:ext cx="1384300" cy="287020"/>
          </a:xfrm>
          <a:prstGeom prst="rect">
            <a:avLst/>
          </a:prstGeom>
          <a:solidFill>
            <a:srgbClr val="099295"/>
          </a:solidFill>
          <a:ln w="3175">
            <a:solidFill>
              <a:srgbClr val="099295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434"/>
              </a:spcBef>
            </a:pP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Survey</a:t>
            </a:r>
            <a:r>
              <a:rPr dirty="0" sz="10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dirty="0" sz="10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05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70633" y="810514"/>
            <a:ext cx="23507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latin typeface="Calibri"/>
                <a:cs typeface="Calibri"/>
              </a:rPr>
              <a:t>Nils</a:t>
            </a:r>
            <a:r>
              <a:rPr dirty="0" sz="1200" spc="-2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Reimers</a:t>
            </a:r>
            <a:r>
              <a:rPr dirty="0" sz="1200" spc="-3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&amp;</a:t>
            </a:r>
            <a:r>
              <a:rPr dirty="0" sz="1200" spc="-2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Iryna</a:t>
            </a:r>
            <a:r>
              <a:rPr dirty="0" sz="1200" spc="-4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Gurevych</a:t>
            </a:r>
            <a:r>
              <a:rPr dirty="0" sz="1200" spc="225" i="1">
                <a:latin typeface="Calibri"/>
                <a:cs typeface="Calibri"/>
              </a:rPr>
              <a:t> </a:t>
            </a:r>
            <a:r>
              <a:rPr dirty="0" sz="1200" spc="-10" i="1">
                <a:latin typeface="Calibri"/>
                <a:cs typeface="Calibri"/>
              </a:rPr>
              <a:t>(2019)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0500" y="1078991"/>
            <a:ext cx="8756650" cy="1305560"/>
            <a:chOff x="190500" y="1078991"/>
            <a:chExt cx="8756650" cy="13055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1078991"/>
              <a:ext cx="8756142" cy="130530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4047" y="1188719"/>
              <a:ext cx="8486140" cy="1143000"/>
            </a:xfrm>
            <a:custGeom>
              <a:avLst/>
              <a:gdLst/>
              <a:ahLst/>
              <a:cxnLst/>
              <a:rect l="l" t="t" r="r" b="b"/>
              <a:pathLst>
                <a:path w="8486140" h="1143000">
                  <a:moveTo>
                    <a:pt x="0" y="1142999"/>
                  </a:moveTo>
                  <a:lnTo>
                    <a:pt x="8485632" y="1142999"/>
                  </a:lnTo>
                  <a:lnTo>
                    <a:pt x="8485632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74319" y="1188719"/>
              <a:ext cx="8595360" cy="1143000"/>
            </a:xfrm>
            <a:custGeom>
              <a:avLst/>
              <a:gdLst/>
              <a:ahLst/>
              <a:cxnLst/>
              <a:rect l="l" t="t" r="r" b="b"/>
              <a:pathLst>
                <a:path w="8595360" h="1143000">
                  <a:moveTo>
                    <a:pt x="0" y="1142999"/>
                  </a:moveTo>
                  <a:lnTo>
                    <a:pt x="8595360" y="114299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74319" y="1188719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109728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109728" y="1142999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125E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74319" y="1188719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0" y="1142999"/>
                  </a:moveTo>
                  <a:lnTo>
                    <a:pt x="109728" y="1142999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12700">
              <a:solidFill>
                <a:srgbClr val="125E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02919" y="1282445"/>
            <a:ext cx="7697470" cy="8204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Research</a:t>
            </a:r>
            <a:r>
              <a:rPr dirty="0" sz="1250" spc="-7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Problem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50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Traditional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keyword-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search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fails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capture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actual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meaning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queries,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irrelevant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outputs.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Sentence comparison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BERT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slow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large-</a:t>
            </a:r>
            <a:r>
              <a:rPr dirty="0" sz="1200">
                <a:latin typeface="Calibri"/>
                <a:cs typeface="Calibri"/>
              </a:rPr>
              <a:t>scale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retrieval.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90500" y="2340864"/>
            <a:ext cx="8756650" cy="1304290"/>
            <a:chOff x="190500" y="2340864"/>
            <a:chExt cx="8756650" cy="130429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340864"/>
              <a:ext cx="8756142" cy="130378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84047" y="2450592"/>
              <a:ext cx="8486140" cy="1143000"/>
            </a:xfrm>
            <a:custGeom>
              <a:avLst/>
              <a:gdLst/>
              <a:ahLst/>
              <a:cxnLst/>
              <a:rect l="l" t="t" r="r" b="b"/>
              <a:pathLst>
                <a:path w="8486140" h="1143000">
                  <a:moveTo>
                    <a:pt x="0" y="1143000"/>
                  </a:moveTo>
                  <a:lnTo>
                    <a:pt x="8485632" y="1143000"/>
                  </a:lnTo>
                  <a:lnTo>
                    <a:pt x="8485632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74319" y="2450592"/>
              <a:ext cx="8595360" cy="1143000"/>
            </a:xfrm>
            <a:custGeom>
              <a:avLst/>
              <a:gdLst/>
              <a:ahLst/>
              <a:cxnLst/>
              <a:rect l="l" t="t" r="r" b="b"/>
              <a:pathLst>
                <a:path w="8595360" h="1143000">
                  <a:moveTo>
                    <a:pt x="0" y="1143000"/>
                  </a:moveTo>
                  <a:lnTo>
                    <a:pt x="8595360" y="1143000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74319" y="2450592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109728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109728" y="1143000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125E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74319" y="2450592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0" y="1143000"/>
                  </a:moveTo>
                  <a:lnTo>
                    <a:pt x="109728" y="1143000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125E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02919" y="2544572"/>
            <a:ext cx="8174990" cy="8204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Methodology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50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Introduced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Sentence-</a:t>
            </a:r>
            <a:r>
              <a:rPr dirty="0" sz="1200">
                <a:latin typeface="Calibri"/>
                <a:cs typeface="Calibri"/>
              </a:rPr>
              <a:t>BERT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(SBERT)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—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dense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384-dimensional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vector</a:t>
            </a:r>
            <a:r>
              <a:rPr dirty="0" sz="1200" spc="-10">
                <a:latin typeface="Calibri"/>
                <a:cs typeface="Calibri"/>
              </a:rPr>
              <a:t> embeddings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sentences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Siamese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network. </a:t>
            </a:r>
            <a:r>
              <a:rPr dirty="0" sz="1200">
                <a:latin typeface="Calibri"/>
                <a:cs typeface="Calibri"/>
              </a:rPr>
              <a:t>Uses cosine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similarity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retrieve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semantically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similar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passages.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90500" y="3602761"/>
            <a:ext cx="8756650" cy="1304290"/>
            <a:chOff x="190500" y="3602761"/>
            <a:chExt cx="8756650" cy="130429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602761"/>
              <a:ext cx="8756142" cy="130378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84047" y="3712464"/>
              <a:ext cx="8486140" cy="1143000"/>
            </a:xfrm>
            <a:custGeom>
              <a:avLst/>
              <a:gdLst/>
              <a:ahLst/>
              <a:cxnLst/>
              <a:rect l="l" t="t" r="r" b="b"/>
              <a:pathLst>
                <a:path w="8486140" h="1143000">
                  <a:moveTo>
                    <a:pt x="0" y="1143000"/>
                  </a:moveTo>
                  <a:lnTo>
                    <a:pt x="8485632" y="1143000"/>
                  </a:lnTo>
                  <a:lnTo>
                    <a:pt x="8485632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EBF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74319" y="3712464"/>
              <a:ext cx="8595360" cy="1143000"/>
            </a:xfrm>
            <a:custGeom>
              <a:avLst/>
              <a:gdLst/>
              <a:ahLst/>
              <a:cxnLst/>
              <a:rect l="l" t="t" r="r" b="b"/>
              <a:pathLst>
                <a:path w="8595360" h="1143000">
                  <a:moveTo>
                    <a:pt x="0" y="1143000"/>
                  </a:moveTo>
                  <a:lnTo>
                    <a:pt x="8595360" y="1143000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74319" y="3712464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109728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109728" y="1143000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ED9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74319" y="3712464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0" y="1143000"/>
                  </a:moveTo>
                  <a:lnTo>
                    <a:pt x="109728" y="1143000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ED9B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02919" y="3806748"/>
            <a:ext cx="7937500" cy="8204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Key</a:t>
            </a:r>
            <a:r>
              <a:rPr dirty="0" sz="1250" spc="-6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Finding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50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SBERT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significantly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improves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semantic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search performance —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providing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faster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 </a:t>
            </a:r>
            <a:r>
              <a:rPr dirty="0" sz="1200" spc="-10">
                <a:latin typeface="Calibri"/>
                <a:cs typeface="Calibri"/>
              </a:rPr>
              <a:t>accurate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retrieval.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all-</a:t>
            </a:r>
            <a:r>
              <a:rPr dirty="0" sz="1200" spc="-10">
                <a:latin typeface="Calibri"/>
                <a:cs typeface="Calibri"/>
              </a:rPr>
              <a:t>MiniLM-L6-</a:t>
            </a:r>
            <a:r>
              <a:rPr dirty="0" sz="1200" spc="-25">
                <a:latin typeface="Calibri"/>
                <a:cs typeface="Calibri"/>
              </a:rPr>
              <a:t>v2 </a:t>
            </a:r>
            <a:r>
              <a:rPr dirty="0" sz="1200">
                <a:latin typeface="Calibri"/>
                <a:cs typeface="Calibri"/>
              </a:rPr>
              <a:t>model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distilled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variant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SBERT.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Literature</a:t>
            </a:r>
            <a:r>
              <a:rPr dirty="0" spc="-10"/>
              <a:t> </a:t>
            </a:r>
            <a:r>
              <a:rPr dirty="0"/>
              <a:t>Survey</a:t>
            </a:r>
            <a:r>
              <a:rPr dirty="0" spc="-45"/>
              <a:t> </a:t>
            </a:r>
            <a:r>
              <a:rPr dirty="0"/>
              <a:t>3</a:t>
            </a:r>
            <a:r>
              <a:rPr dirty="0" spc="-40"/>
              <a:t> </a:t>
            </a:r>
            <a:r>
              <a:rPr dirty="0"/>
              <a:t>–</a:t>
            </a:r>
            <a:r>
              <a:rPr dirty="0" spc="-45"/>
              <a:t> </a:t>
            </a:r>
            <a:r>
              <a:rPr dirty="0"/>
              <a:t>Efficient</a:t>
            </a:r>
            <a:r>
              <a:rPr dirty="0" spc="-30"/>
              <a:t> </a:t>
            </a:r>
            <a:r>
              <a:rPr dirty="0"/>
              <a:t>Similarity</a:t>
            </a:r>
            <a:r>
              <a:rPr dirty="0" spc="-45"/>
              <a:t> </a:t>
            </a:r>
            <a:r>
              <a:rPr dirty="0"/>
              <a:t>Search</a:t>
            </a:r>
            <a:r>
              <a:rPr dirty="0" spc="-25"/>
              <a:t> </a:t>
            </a:r>
            <a:r>
              <a:rPr dirty="0"/>
              <a:t>Using</a:t>
            </a:r>
            <a:r>
              <a:rPr dirty="0" spc="-50"/>
              <a:t> </a:t>
            </a:r>
            <a:r>
              <a:rPr dirty="0" spc="-20"/>
              <a:t>FAISS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7970" y="780033"/>
            <a:ext cx="1384300" cy="287020"/>
          </a:xfrm>
          <a:prstGeom prst="rect">
            <a:avLst/>
          </a:prstGeom>
          <a:solidFill>
            <a:srgbClr val="099295"/>
          </a:solidFill>
          <a:ln w="3175">
            <a:solidFill>
              <a:srgbClr val="099295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434"/>
              </a:spcBef>
            </a:pP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Survey</a:t>
            </a:r>
            <a:r>
              <a:rPr dirty="0" sz="10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dirty="0" sz="10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05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70633" y="810514"/>
            <a:ext cx="30505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latin typeface="Calibri"/>
                <a:cs typeface="Calibri"/>
              </a:rPr>
              <a:t>Jeff</a:t>
            </a:r>
            <a:r>
              <a:rPr dirty="0" sz="1200" spc="-3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Johnson</a:t>
            </a:r>
            <a:r>
              <a:rPr dirty="0" sz="1200" spc="-3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et</a:t>
            </a:r>
            <a:r>
              <a:rPr dirty="0" sz="1200" spc="-3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al.</a:t>
            </a:r>
            <a:r>
              <a:rPr dirty="0" sz="1200" spc="-3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(Facebook</a:t>
            </a:r>
            <a:r>
              <a:rPr dirty="0" sz="1200" spc="-1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AI</a:t>
            </a:r>
            <a:r>
              <a:rPr dirty="0" sz="1200" spc="-2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Research)</a:t>
            </a:r>
            <a:r>
              <a:rPr dirty="0" sz="1200" spc="225" i="1">
                <a:latin typeface="Calibri"/>
                <a:cs typeface="Calibri"/>
              </a:rPr>
              <a:t> </a:t>
            </a:r>
            <a:r>
              <a:rPr dirty="0" sz="1200" spc="-10" i="1">
                <a:latin typeface="Calibri"/>
                <a:cs typeface="Calibri"/>
              </a:rPr>
              <a:t>(2017)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0500" y="1078991"/>
            <a:ext cx="8756650" cy="1305560"/>
            <a:chOff x="190500" y="1078991"/>
            <a:chExt cx="8756650" cy="13055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1078991"/>
              <a:ext cx="8756142" cy="130530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4047" y="1188719"/>
              <a:ext cx="8486140" cy="1143000"/>
            </a:xfrm>
            <a:custGeom>
              <a:avLst/>
              <a:gdLst/>
              <a:ahLst/>
              <a:cxnLst/>
              <a:rect l="l" t="t" r="r" b="b"/>
              <a:pathLst>
                <a:path w="8486140" h="1143000">
                  <a:moveTo>
                    <a:pt x="0" y="1142999"/>
                  </a:moveTo>
                  <a:lnTo>
                    <a:pt x="8485632" y="1142999"/>
                  </a:lnTo>
                  <a:lnTo>
                    <a:pt x="8485632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74319" y="1188719"/>
              <a:ext cx="8595360" cy="1143000"/>
            </a:xfrm>
            <a:custGeom>
              <a:avLst/>
              <a:gdLst/>
              <a:ahLst/>
              <a:cxnLst/>
              <a:rect l="l" t="t" r="r" b="b"/>
              <a:pathLst>
                <a:path w="8595360" h="1143000">
                  <a:moveTo>
                    <a:pt x="0" y="1142999"/>
                  </a:moveTo>
                  <a:lnTo>
                    <a:pt x="8595360" y="114299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74319" y="1188719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109728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109728" y="1142999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125E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74319" y="1188719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0" y="1142999"/>
                  </a:moveTo>
                  <a:lnTo>
                    <a:pt x="109728" y="1142999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12700">
              <a:solidFill>
                <a:srgbClr val="125E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02919" y="1282445"/>
            <a:ext cx="8154670" cy="8204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Research</a:t>
            </a:r>
            <a:r>
              <a:rPr dirty="0" sz="1250" spc="-7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Problem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50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Real-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similarity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search on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large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high-</a:t>
            </a:r>
            <a:r>
              <a:rPr dirty="0" sz="1200" spc="-10">
                <a:latin typeface="Calibri"/>
                <a:cs typeface="Calibri"/>
              </a:rPr>
              <a:t>dimensional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vector </a:t>
            </a:r>
            <a:r>
              <a:rPr dirty="0" sz="1200" spc="-10">
                <a:latin typeface="Calibri"/>
                <a:cs typeface="Calibri"/>
              </a:rPr>
              <a:t>datasets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computational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requirements.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Brute-</a:t>
            </a:r>
            <a:r>
              <a:rPr dirty="0" sz="1200" spc="-10">
                <a:latin typeface="Calibri"/>
                <a:cs typeface="Calibri"/>
              </a:rPr>
              <a:t>force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comparison </a:t>
            </a:r>
            <a:r>
              <a:rPr dirty="0" sz="1200">
                <a:latin typeface="Calibri"/>
                <a:cs typeface="Calibri"/>
              </a:rPr>
              <a:t>becomes </a:t>
            </a:r>
            <a:r>
              <a:rPr dirty="0" sz="1200" spc="-10">
                <a:latin typeface="Calibri"/>
                <a:cs typeface="Calibri"/>
              </a:rPr>
              <a:t>infeasible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scale.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90500" y="2340864"/>
            <a:ext cx="8756650" cy="1304290"/>
            <a:chOff x="190500" y="2340864"/>
            <a:chExt cx="8756650" cy="130429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340864"/>
              <a:ext cx="8756142" cy="130378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84047" y="2450592"/>
              <a:ext cx="8486140" cy="1143000"/>
            </a:xfrm>
            <a:custGeom>
              <a:avLst/>
              <a:gdLst/>
              <a:ahLst/>
              <a:cxnLst/>
              <a:rect l="l" t="t" r="r" b="b"/>
              <a:pathLst>
                <a:path w="8486140" h="1143000">
                  <a:moveTo>
                    <a:pt x="0" y="1143000"/>
                  </a:moveTo>
                  <a:lnTo>
                    <a:pt x="8485632" y="1143000"/>
                  </a:lnTo>
                  <a:lnTo>
                    <a:pt x="8485632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74319" y="2450592"/>
              <a:ext cx="8595360" cy="1143000"/>
            </a:xfrm>
            <a:custGeom>
              <a:avLst/>
              <a:gdLst/>
              <a:ahLst/>
              <a:cxnLst/>
              <a:rect l="l" t="t" r="r" b="b"/>
              <a:pathLst>
                <a:path w="8595360" h="1143000">
                  <a:moveTo>
                    <a:pt x="0" y="1143000"/>
                  </a:moveTo>
                  <a:lnTo>
                    <a:pt x="8595360" y="1143000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74319" y="2450592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109728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109728" y="1143000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125E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74319" y="2450592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0" y="1143000"/>
                  </a:moveTo>
                  <a:lnTo>
                    <a:pt x="109728" y="1143000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125E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02919" y="2544572"/>
            <a:ext cx="8083550" cy="8204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Methodology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50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Introduced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FAISS </a:t>
            </a:r>
            <a:r>
              <a:rPr dirty="0" sz="1200" spc="-10">
                <a:latin typeface="Calibri"/>
                <a:cs typeface="Calibri"/>
              </a:rPr>
              <a:t>(Facebook </a:t>
            </a:r>
            <a:r>
              <a:rPr dirty="0" sz="1200">
                <a:latin typeface="Calibri"/>
                <a:cs typeface="Calibri"/>
              </a:rPr>
              <a:t>AI Similarity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Search)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— </a:t>
            </a:r>
            <a:r>
              <a:rPr dirty="0" sz="1200" spc="-10">
                <a:latin typeface="Calibri"/>
                <a:cs typeface="Calibri"/>
              </a:rPr>
              <a:t>employs </a:t>
            </a:r>
            <a:r>
              <a:rPr dirty="0" sz="1200">
                <a:latin typeface="Calibri"/>
                <a:cs typeface="Calibri"/>
              </a:rPr>
              <a:t>advanced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Inverted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 </a:t>
            </a:r>
            <a:r>
              <a:rPr dirty="0" sz="1200" spc="-10">
                <a:latin typeface="Calibri"/>
                <a:cs typeface="Calibri"/>
              </a:rPr>
              <a:t>Indexing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(IVF),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quantization,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BLAS-</a:t>
            </a:r>
            <a:r>
              <a:rPr dirty="0" sz="1200">
                <a:latin typeface="Calibri"/>
                <a:cs typeface="Calibri"/>
              </a:rPr>
              <a:t>level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optimisations </a:t>
            </a:r>
            <a:r>
              <a:rPr dirty="0" sz="1200">
                <a:latin typeface="Calibri"/>
                <a:cs typeface="Calibri"/>
              </a:rPr>
              <a:t>for </a:t>
            </a:r>
            <a:r>
              <a:rPr dirty="0" sz="1200" spc="-10">
                <a:latin typeface="Calibri"/>
                <a:cs typeface="Calibri"/>
              </a:rPr>
              <a:t>nearest-neighbour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search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high-</a:t>
            </a:r>
            <a:r>
              <a:rPr dirty="0" sz="1200" spc="-10">
                <a:latin typeface="Calibri"/>
                <a:cs typeface="Calibri"/>
              </a:rPr>
              <a:t>dimensional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vectors.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90500" y="3602761"/>
            <a:ext cx="8756650" cy="1304290"/>
            <a:chOff x="190500" y="3602761"/>
            <a:chExt cx="8756650" cy="130429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602761"/>
              <a:ext cx="8756142" cy="130378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84047" y="3712464"/>
              <a:ext cx="8486140" cy="1143000"/>
            </a:xfrm>
            <a:custGeom>
              <a:avLst/>
              <a:gdLst/>
              <a:ahLst/>
              <a:cxnLst/>
              <a:rect l="l" t="t" r="r" b="b"/>
              <a:pathLst>
                <a:path w="8486140" h="1143000">
                  <a:moveTo>
                    <a:pt x="0" y="1143000"/>
                  </a:moveTo>
                  <a:lnTo>
                    <a:pt x="8485632" y="1143000"/>
                  </a:lnTo>
                  <a:lnTo>
                    <a:pt x="8485632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EBF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74319" y="3712464"/>
              <a:ext cx="8595360" cy="1143000"/>
            </a:xfrm>
            <a:custGeom>
              <a:avLst/>
              <a:gdLst/>
              <a:ahLst/>
              <a:cxnLst/>
              <a:rect l="l" t="t" r="r" b="b"/>
              <a:pathLst>
                <a:path w="8595360" h="1143000">
                  <a:moveTo>
                    <a:pt x="0" y="1143000"/>
                  </a:moveTo>
                  <a:lnTo>
                    <a:pt x="8595360" y="1143000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74319" y="3712464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109728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109728" y="1143000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ED9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74319" y="3712464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0" y="1143000"/>
                  </a:moveTo>
                  <a:lnTo>
                    <a:pt x="109728" y="1143000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ED9B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02919" y="3806748"/>
            <a:ext cx="8034655" cy="8204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Key</a:t>
            </a:r>
            <a:r>
              <a:rPr dirty="0" sz="1250" spc="-6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Finding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50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FAISS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delivers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highly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scalable,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sub-</a:t>
            </a:r>
            <a:r>
              <a:rPr dirty="0" sz="1200" spc="-10">
                <a:latin typeface="Calibri"/>
                <a:cs typeface="Calibri"/>
              </a:rPr>
              <a:t>millisecond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similarity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search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—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suitable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real-time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AI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chatbot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retrieval.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project </a:t>
            </a:r>
            <a:r>
              <a:rPr dirty="0" sz="1200">
                <a:latin typeface="Calibri"/>
                <a:cs typeface="Calibri"/>
              </a:rPr>
              <a:t>uses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FAISS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vector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database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chunk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retrieval.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Literature</a:t>
            </a:r>
            <a:r>
              <a:rPr dirty="0" spc="-20"/>
              <a:t> </a:t>
            </a:r>
            <a:r>
              <a:rPr dirty="0"/>
              <a:t>Survey</a:t>
            </a:r>
            <a:r>
              <a:rPr dirty="0" spc="-60"/>
              <a:t> </a:t>
            </a:r>
            <a:r>
              <a:rPr dirty="0"/>
              <a:t>4</a:t>
            </a:r>
            <a:r>
              <a:rPr dirty="0" spc="-45"/>
              <a:t> </a:t>
            </a:r>
            <a:r>
              <a:rPr dirty="0"/>
              <a:t>–</a:t>
            </a:r>
            <a:r>
              <a:rPr dirty="0" spc="-55"/>
              <a:t> </a:t>
            </a:r>
            <a:r>
              <a:rPr dirty="0" spc="-10"/>
              <a:t>Domain-</a:t>
            </a:r>
            <a:r>
              <a:rPr dirty="0"/>
              <a:t>Specific</a:t>
            </a:r>
            <a:r>
              <a:rPr dirty="0" spc="-35"/>
              <a:t> </a:t>
            </a:r>
            <a:r>
              <a:rPr dirty="0"/>
              <a:t>Chatbots</a:t>
            </a:r>
            <a:r>
              <a:rPr dirty="0" spc="-35"/>
              <a:t> </a:t>
            </a:r>
            <a:r>
              <a:rPr dirty="0"/>
              <a:t>Using</a:t>
            </a:r>
            <a:r>
              <a:rPr dirty="0" spc="-65"/>
              <a:t> </a:t>
            </a:r>
            <a:r>
              <a:rPr dirty="0"/>
              <a:t>NLP</a:t>
            </a:r>
            <a:r>
              <a:rPr dirty="0" spc="-60"/>
              <a:t> </a:t>
            </a:r>
            <a:r>
              <a:rPr dirty="0"/>
              <a:t>&amp;</a:t>
            </a:r>
            <a:r>
              <a:rPr dirty="0" spc="-60"/>
              <a:t> </a:t>
            </a:r>
            <a:r>
              <a:rPr dirty="0"/>
              <a:t>Deep</a:t>
            </a:r>
            <a:r>
              <a:rPr dirty="0" spc="-40"/>
              <a:t> </a:t>
            </a:r>
            <a:r>
              <a:rPr dirty="0" spc="-1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7970" y="780033"/>
            <a:ext cx="1384300" cy="287020"/>
          </a:xfrm>
          <a:prstGeom prst="rect">
            <a:avLst/>
          </a:prstGeom>
          <a:solidFill>
            <a:srgbClr val="099295"/>
          </a:solidFill>
          <a:ln w="3175">
            <a:solidFill>
              <a:srgbClr val="099295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434"/>
              </a:spcBef>
            </a:pP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Survey</a:t>
            </a:r>
            <a:r>
              <a:rPr dirty="0" sz="10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dirty="0" sz="10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05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70633" y="810514"/>
            <a:ext cx="21189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latin typeface="Calibri"/>
                <a:cs typeface="Calibri"/>
              </a:rPr>
              <a:t>Various</a:t>
            </a:r>
            <a:r>
              <a:rPr dirty="0" sz="1200" spc="-2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Researchers</a:t>
            </a:r>
            <a:r>
              <a:rPr dirty="0" sz="1200" spc="250" i="1">
                <a:latin typeface="Calibri"/>
                <a:cs typeface="Calibri"/>
              </a:rPr>
              <a:t> </a:t>
            </a:r>
            <a:r>
              <a:rPr dirty="0" sz="1200" spc="-10" i="1">
                <a:latin typeface="Calibri"/>
                <a:cs typeface="Calibri"/>
              </a:rPr>
              <a:t>(2022–2024)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0500" y="1078991"/>
            <a:ext cx="8756650" cy="1305560"/>
            <a:chOff x="190500" y="1078991"/>
            <a:chExt cx="8756650" cy="13055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1078991"/>
              <a:ext cx="8756142" cy="130530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4047" y="1188719"/>
              <a:ext cx="8486140" cy="1143000"/>
            </a:xfrm>
            <a:custGeom>
              <a:avLst/>
              <a:gdLst/>
              <a:ahLst/>
              <a:cxnLst/>
              <a:rect l="l" t="t" r="r" b="b"/>
              <a:pathLst>
                <a:path w="8486140" h="1143000">
                  <a:moveTo>
                    <a:pt x="0" y="1142999"/>
                  </a:moveTo>
                  <a:lnTo>
                    <a:pt x="8485632" y="1142999"/>
                  </a:lnTo>
                  <a:lnTo>
                    <a:pt x="8485632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74319" y="1188719"/>
              <a:ext cx="8595360" cy="1143000"/>
            </a:xfrm>
            <a:custGeom>
              <a:avLst/>
              <a:gdLst/>
              <a:ahLst/>
              <a:cxnLst/>
              <a:rect l="l" t="t" r="r" b="b"/>
              <a:pathLst>
                <a:path w="8595360" h="1143000">
                  <a:moveTo>
                    <a:pt x="0" y="1142999"/>
                  </a:moveTo>
                  <a:lnTo>
                    <a:pt x="8595360" y="114299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74319" y="1188719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109728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109728" y="1142999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125E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74319" y="1188719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0" y="1142999"/>
                  </a:moveTo>
                  <a:lnTo>
                    <a:pt x="109728" y="1142999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12700">
              <a:solidFill>
                <a:srgbClr val="125E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02919" y="1282445"/>
            <a:ext cx="7880984" cy="8204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Research</a:t>
            </a:r>
            <a:r>
              <a:rPr dirty="0" sz="1250" spc="-7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Problem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50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General-</a:t>
            </a:r>
            <a:r>
              <a:rPr dirty="0" sz="1200">
                <a:latin typeface="Calibri"/>
                <a:cs typeface="Calibri"/>
              </a:rPr>
              <a:t>purpose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chatbots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fail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deliver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accurate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responses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specialized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domains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due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lack 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domain-</a:t>
            </a:r>
            <a:r>
              <a:rPr dirty="0" sz="1200" spc="-10">
                <a:latin typeface="Calibri"/>
                <a:cs typeface="Calibri"/>
              </a:rPr>
              <a:t>specific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knowledge, </a:t>
            </a:r>
            <a:r>
              <a:rPr dirty="0" sz="1200">
                <a:latin typeface="Calibri"/>
                <a:cs typeface="Calibri"/>
              </a:rPr>
              <a:t>leading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10">
                <a:latin typeface="Calibri"/>
                <a:cs typeface="Calibri"/>
              </a:rPr>
              <a:t> satisfaction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academic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settings.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90500" y="2340864"/>
            <a:ext cx="8756650" cy="1304290"/>
            <a:chOff x="190500" y="2340864"/>
            <a:chExt cx="8756650" cy="130429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340864"/>
              <a:ext cx="8756142" cy="130378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84047" y="2450592"/>
              <a:ext cx="8486140" cy="1143000"/>
            </a:xfrm>
            <a:custGeom>
              <a:avLst/>
              <a:gdLst/>
              <a:ahLst/>
              <a:cxnLst/>
              <a:rect l="l" t="t" r="r" b="b"/>
              <a:pathLst>
                <a:path w="8486140" h="1143000">
                  <a:moveTo>
                    <a:pt x="0" y="1143000"/>
                  </a:moveTo>
                  <a:lnTo>
                    <a:pt x="8485632" y="1143000"/>
                  </a:lnTo>
                  <a:lnTo>
                    <a:pt x="8485632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74319" y="2450592"/>
              <a:ext cx="8595360" cy="1143000"/>
            </a:xfrm>
            <a:custGeom>
              <a:avLst/>
              <a:gdLst/>
              <a:ahLst/>
              <a:cxnLst/>
              <a:rect l="l" t="t" r="r" b="b"/>
              <a:pathLst>
                <a:path w="8595360" h="1143000">
                  <a:moveTo>
                    <a:pt x="0" y="1143000"/>
                  </a:moveTo>
                  <a:lnTo>
                    <a:pt x="8595360" y="1143000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74319" y="2450592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109728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109728" y="1143000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125E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74319" y="2450592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0" y="1143000"/>
                  </a:moveTo>
                  <a:lnTo>
                    <a:pt x="109728" y="1143000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125E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02919" y="2544572"/>
            <a:ext cx="7618730" cy="8204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Methodology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50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Leveraged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NLP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deep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learning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models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trained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domain-</a:t>
            </a:r>
            <a:r>
              <a:rPr dirty="0" sz="1200" spc="-10">
                <a:latin typeface="Calibri"/>
                <a:cs typeface="Calibri"/>
              </a:rPr>
              <a:t>specific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datasets.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Techniques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recognition,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entity extraction,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contextual </a:t>
            </a:r>
            <a:r>
              <a:rPr dirty="0" sz="1200">
                <a:latin typeface="Calibri"/>
                <a:cs typeface="Calibri"/>
              </a:rPr>
              <a:t>response </a:t>
            </a:r>
            <a:r>
              <a:rPr dirty="0" sz="1200" spc="-10">
                <a:latin typeface="Calibri"/>
                <a:cs typeface="Calibri"/>
              </a:rPr>
              <a:t>generation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fine-tuned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transformer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models.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90500" y="3602761"/>
            <a:ext cx="8756650" cy="1304290"/>
            <a:chOff x="190500" y="3602761"/>
            <a:chExt cx="8756650" cy="130429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602761"/>
              <a:ext cx="8756142" cy="130378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84047" y="3712464"/>
              <a:ext cx="8486140" cy="1143000"/>
            </a:xfrm>
            <a:custGeom>
              <a:avLst/>
              <a:gdLst/>
              <a:ahLst/>
              <a:cxnLst/>
              <a:rect l="l" t="t" r="r" b="b"/>
              <a:pathLst>
                <a:path w="8486140" h="1143000">
                  <a:moveTo>
                    <a:pt x="0" y="1143000"/>
                  </a:moveTo>
                  <a:lnTo>
                    <a:pt x="8485632" y="1143000"/>
                  </a:lnTo>
                  <a:lnTo>
                    <a:pt x="8485632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EBF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74319" y="3712464"/>
              <a:ext cx="8595360" cy="1143000"/>
            </a:xfrm>
            <a:custGeom>
              <a:avLst/>
              <a:gdLst/>
              <a:ahLst/>
              <a:cxnLst/>
              <a:rect l="l" t="t" r="r" b="b"/>
              <a:pathLst>
                <a:path w="8595360" h="1143000">
                  <a:moveTo>
                    <a:pt x="0" y="1143000"/>
                  </a:moveTo>
                  <a:lnTo>
                    <a:pt x="8595360" y="1143000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74319" y="3712464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109728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109728" y="1143000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ED9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74319" y="3712464"/>
              <a:ext cx="109855" cy="1143000"/>
            </a:xfrm>
            <a:custGeom>
              <a:avLst/>
              <a:gdLst/>
              <a:ahLst/>
              <a:cxnLst/>
              <a:rect l="l" t="t" r="r" b="b"/>
              <a:pathLst>
                <a:path w="109854" h="1143000">
                  <a:moveTo>
                    <a:pt x="0" y="1143000"/>
                  </a:moveTo>
                  <a:lnTo>
                    <a:pt x="109728" y="1143000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700">
              <a:solidFill>
                <a:srgbClr val="ED9B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02919" y="3806748"/>
            <a:ext cx="8239759" cy="8204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Key</a:t>
            </a:r>
            <a:r>
              <a:rPr dirty="0" sz="1250" spc="-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Finding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50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Domain-specific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chatbots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significantly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outperform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general </a:t>
            </a:r>
            <a:r>
              <a:rPr dirty="0" sz="1200" spc="-10">
                <a:latin typeface="Calibri"/>
                <a:cs typeface="Calibri"/>
              </a:rPr>
              <a:t>systems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accuracy,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relevance,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satisfaction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—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validating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need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RAG-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academic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assistant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grounded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uploaded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study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materials.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Modules</a:t>
            </a:r>
            <a:r>
              <a:rPr dirty="0" spc="-50"/>
              <a:t> </a:t>
            </a:r>
            <a:r>
              <a:rPr dirty="0"/>
              <a:t>–</a:t>
            </a:r>
            <a:r>
              <a:rPr dirty="0" spc="-50"/>
              <a:t> </a:t>
            </a:r>
            <a:r>
              <a:rPr dirty="0" spc="-10"/>
              <a:t>System</a:t>
            </a:r>
            <a:r>
              <a:rPr dirty="0" spc="-70"/>
              <a:t> </a:t>
            </a:r>
            <a:r>
              <a:rPr dirty="0" spc="-10"/>
              <a:t>Architecture</a:t>
            </a:r>
            <a:r>
              <a:rPr dirty="0" spc="-20"/>
              <a:t> </a:t>
            </a:r>
            <a:r>
              <a:rPr dirty="0" spc="-1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620" y="805941"/>
            <a:ext cx="12928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125E89"/>
                </a:solidFill>
                <a:latin typeface="Calibri"/>
                <a:cs typeface="Calibri"/>
              </a:rPr>
              <a:t>The</a:t>
            </a:r>
            <a:r>
              <a:rPr dirty="0" sz="1400" spc="-4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25E89"/>
                </a:solidFill>
                <a:latin typeface="Calibri"/>
                <a:cs typeface="Calibri"/>
              </a:rPr>
              <a:t>RAG</a:t>
            </a:r>
            <a:r>
              <a:rPr dirty="0" sz="1400" spc="-3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25E89"/>
                </a:solidFill>
                <a:latin typeface="Calibri"/>
                <a:cs typeface="Calibri"/>
              </a:rPr>
              <a:t>Pipeline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6031" y="1234439"/>
            <a:ext cx="1051560" cy="548640"/>
          </a:xfrm>
          <a:custGeom>
            <a:avLst/>
            <a:gdLst/>
            <a:ahLst/>
            <a:cxnLst/>
            <a:rect l="l" t="t" r="r" b="b"/>
            <a:pathLst>
              <a:path w="1051560" h="548639">
                <a:moveTo>
                  <a:pt x="0" y="548639"/>
                </a:moveTo>
                <a:lnTo>
                  <a:pt x="1051560" y="548639"/>
                </a:lnTo>
                <a:lnTo>
                  <a:pt x="1051560" y="0"/>
                </a:lnTo>
                <a:lnTo>
                  <a:pt x="0" y="0"/>
                </a:lnTo>
                <a:lnTo>
                  <a:pt x="0" y="548639"/>
                </a:lnTo>
                <a:close/>
              </a:path>
            </a:pathLst>
          </a:custGeom>
          <a:ln w="12700">
            <a:solidFill>
              <a:srgbClr val="055A8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9681" y="1228089"/>
            <a:ext cx="1064260" cy="561340"/>
          </a:xfrm>
          <a:prstGeom prst="rect">
            <a:avLst/>
          </a:prstGeom>
          <a:solidFill>
            <a:srgbClr val="055A82"/>
          </a:solidFill>
        </p:spPr>
        <p:txBody>
          <a:bodyPr wrap="square" lIns="0" tIns="965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dirty="0" sz="22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98066" y="1228089"/>
            <a:ext cx="1250315" cy="561340"/>
            <a:chOff x="1298066" y="1228089"/>
            <a:chExt cx="1250315" cy="561340"/>
          </a:xfrm>
        </p:grpSpPr>
        <p:sp>
          <p:nvSpPr>
            <p:cNvPr id="7" name="object 7"/>
            <p:cNvSpPr/>
            <p:nvPr/>
          </p:nvSpPr>
          <p:spPr>
            <a:xfrm>
              <a:off x="1307591" y="1508759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80" h="0">
                  <a:moveTo>
                    <a:pt x="0" y="0"/>
                  </a:moveTo>
                  <a:lnTo>
                    <a:pt x="182880" y="0"/>
                  </a:lnTo>
                </a:path>
              </a:pathLst>
            </a:custGeom>
            <a:ln w="19050">
              <a:solidFill>
                <a:srgbClr val="6374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90471" y="1234439"/>
              <a:ext cx="1051560" cy="548640"/>
            </a:xfrm>
            <a:custGeom>
              <a:avLst/>
              <a:gdLst/>
              <a:ahLst/>
              <a:cxnLst/>
              <a:rect l="l" t="t" r="r" b="b"/>
              <a:pathLst>
                <a:path w="1051560" h="548639">
                  <a:moveTo>
                    <a:pt x="0" y="548639"/>
                  </a:moveTo>
                  <a:lnTo>
                    <a:pt x="1051560" y="548639"/>
                  </a:lnTo>
                  <a:lnTo>
                    <a:pt x="1051560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89305" y="1880742"/>
            <a:ext cx="57467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2545" marR="5080" indent="-3048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0D2B45"/>
                </a:solidFill>
                <a:latin typeface="Calibri"/>
                <a:cs typeface="Calibri"/>
              </a:rPr>
              <a:t>Document Ingestion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7301" y="2330323"/>
            <a:ext cx="638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PyPDFLoader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84122" y="1228089"/>
            <a:ext cx="1064260" cy="561340"/>
          </a:xfrm>
          <a:prstGeom prst="rect">
            <a:avLst/>
          </a:prstGeom>
          <a:solidFill>
            <a:srgbClr val="099295"/>
          </a:solidFill>
        </p:spPr>
        <p:txBody>
          <a:bodyPr wrap="square" lIns="0" tIns="965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dirty="0" sz="22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32507" y="1228089"/>
            <a:ext cx="1250315" cy="561340"/>
            <a:chOff x="2532507" y="1228089"/>
            <a:chExt cx="1250315" cy="561340"/>
          </a:xfrm>
        </p:grpSpPr>
        <p:sp>
          <p:nvSpPr>
            <p:cNvPr id="13" name="object 13"/>
            <p:cNvSpPr/>
            <p:nvPr/>
          </p:nvSpPr>
          <p:spPr>
            <a:xfrm>
              <a:off x="2542032" y="1508759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80" h="0">
                  <a:moveTo>
                    <a:pt x="0" y="0"/>
                  </a:moveTo>
                  <a:lnTo>
                    <a:pt x="182880" y="0"/>
                  </a:lnTo>
                </a:path>
              </a:pathLst>
            </a:custGeom>
            <a:ln w="19050">
              <a:solidFill>
                <a:srgbClr val="6374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724912" y="1234439"/>
              <a:ext cx="1051560" cy="548640"/>
            </a:xfrm>
            <a:custGeom>
              <a:avLst/>
              <a:gdLst/>
              <a:ahLst/>
              <a:cxnLst/>
              <a:rect l="l" t="t" r="r" b="b"/>
              <a:pathLst>
                <a:path w="1051560" h="548639">
                  <a:moveTo>
                    <a:pt x="0" y="548639"/>
                  </a:moveTo>
                  <a:lnTo>
                    <a:pt x="1051560" y="548639"/>
                  </a:lnTo>
                  <a:lnTo>
                    <a:pt x="1051560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ln w="12700">
              <a:solidFill>
                <a:srgbClr val="0D73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623186" y="1956942"/>
            <a:ext cx="7772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0D2B45"/>
                </a:solidFill>
                <a:latin typeface="Calibri"/>
                <a:cs typeface="Calibri"/>
              </a:rPr>
              <a:t>Text</a:t>
            </a:r>
            <a:r>
              <a:rPr dirty="0" sz="1000" spc="-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0D2B45"/>
                </a:solidFill>
                <a:latin typeface="Calibri"/>
                <a:cs typeface="Calibri"/>
              </a:rPr>
              <a:t>Chunking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21078" y="2261742"/>
            <a:ext cx="97916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RecursiveCharacterT</a:t>
            </a:r>
            <a:endParaRPr sz="9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</a:pPr>
            <a:r>
              <a:rPr dirty="0" sz="900" spc="-10">
                <a:latin typeface="Calibri"/>
                <a:cs typeface="Calibri"/>
              </a:rPr>
              <a:t>extSplitter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18561" y="1228089"/>
            <a:ext cx="1064260" cy="561340"/>
          </a:xfrm>
          <a:prstGeom prst="rect">
            <a:avLst/>
          </a:prstGeom>
          <a:solidFill>
            <a:srgbClr val="0D7377"/>
          </a:solidFill>
        </p:spPr>
        <p:txBody>
          <a:bodyPr wrap="square" lIns="0" tIns="965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dirty="0" sz="22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766946" y="1228089"/>
            <a:ext cx="1250315" cy="561340"/>
            <a:chOff x="3766946" y="1228089"/>
            <a:chExt cx="1250315" cy="561340"/>
          </a:xfrm>
        </p:grpSpPr>
        <p:sp>
          <p:nvSpPr>
            <p:cNvPr id="19" name="object 19"/>
            <p:cNvSpPr/>
            <p:nvPr/>
          </p:nvSpPr>
          <p:spPr>
            <a:xfrm>
              <a:off x="3776471" y="1508759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 h="0">
                  <a:moveTo>
                    <a:pt x="0" y="0"/>
                  </a:moveTo>
                  <a:lnTo>
                    <a:pt x="182879" y="0"/>
                  </a:lnTo>
                </a:path>
              </a:pathLst>
            </a:custGeom>
            <a:ln w="19050">
              <a:solidFill>
                <a:srgbClr val="6374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959351" y="1234439"/>
              <a:ext cx="1051560" cy="548640"/>
            </a:xfrm>
            <a:custGeom>
              <a:avLst/>
              <a:gdLst/>
              <a:ahLst/>
              <a:cxnLst/>
              <a:rect l="l" t="t" r="r" b="b"/>
              <a:pathLst>
                <a:path w="1051560" h="548639">
                  <a:moveTo>
                    <a:pt x="0" y="548639"/>
                  </a:moveTo>
                  <a:lnTo>
                    <a:pt x="1051560" y="548639"/>
                  </a:lnTo>
                  <a:lnTo>
                    <a:pt x="1051560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ln w="12700">
              <a:solidFill>
                <a:srgbClr val="139F9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2934080" y="1880742"/>
            <a:ext cx="62166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54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0D2B45"/>
                </a:solidFill>
                <a:latin typeface="Calibri"/>
                <a:cs typeface="Calibri"/>
              </a:rPr>
              <a:t>Embedding Generation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41117" y="2330323"/>
            <a:ext cx="8089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all-MiniLM-</a:t>
            </a:r>
            <a:r>
              <a:rPr dirty="0" sz="900">
                <a:latin typeface="Calibri"/>
                <a:cs typeface="Calibri"/>
              </a:rPr>
              <a:t>L6-</a:t>
            </a:r>
            <a:r>
              <a:rPr dirty="0" sz="900" spc="-25">
                <a:latin typeface="Calibri"/>
                <a:cs typeface="Calibri"/>
              </a:rPr>
              <a:t>v2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53002" y="1228089"/>
            <a:ext cx="1064260" cy="561340"/>
          </a:xfrm>
          <a:prstGeom prst="rect">
            <a:avLst/>
          </a:prstGeom>
          <a:solidFill>
            <a:srgbClr val="139F97"/>
          </a:solidFill>
        </p:spPr>
        <p:txBody>
          <a:bodyPr wrap="square" lIns="0" tIns="965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dirty="0" sz="22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001386" y="1228089"/>
            <a:ext cx="1250315" cy="561340"/>
            <a:chOff x="5001386" y="1228089"/>
            <a:chExt cx="1250315" cy="561340"/>
          </a:xfrm>
        </p:grpSpPr>
        <p:sp>
          <p:nvSpPr>
            <p:cNvPr id="25" name="object 25"/>
            <p:cNvSpPr/>
            <p:nvPr/>
          </p:nvSpPr>
          <p:spPr>
            <a:xfrm>
              <a:off x="5010911" y="1508759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 h="0">
                  <a:moveTo>
                    <a:pt x="0" y="0"/>
                  </a:moveTo>
                  <a:lnTo>
                    <a:pt x="182879" y="0"/>
                  </a:lnTo>
                </a:path>
              </a:pathLst>
            </a:custGeom>
            <a:ln w="19050">
              <a:solidFill>
                <a:srgbClr val="6374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193791" y="1234439"/>
              <a:ext cx="1051560" cy="548640"/>
            </a:xfrm>
            <a:custGeom>
              <a:avLst/>
              <a:gdLst/>
              <a:ahLst/>
              <a:cxnLst/>
              <a:rect l="l" t="t" r="r" b="b"/>
              <a:pathLst>
                <a:path w="1051560" h="548639">
                  <a:moveTo>
                    <a:pt x="0" y="548639"/>
                  </a:moveTo>
                  <a:lnTo>
                    <a:pt x="1051560" y="548639"/>
                  </a:lnTo>
                  <a:lnTo>
                    <a:pt x="1051560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ln w="12700">
              <a:solidFill>
                <a:srgbClr val="1D8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077461" y="1956942"/>
            <a:ext cx="8051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0D2B45"/>
                </a:solidFill>
                <a:latin typeface="Calibri"/>
                <a:cs typeface="Calibri"/>
              </a:rPr>
              <a:t>Vector</a:t>
            </a:r>
            <a:r>
              <a:rPr dirty="0" sz="1000" spc="-3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0D2B45"/>
                </a:solidFill>
                <a:latin typeface="Calibri"/>
                <a:cs typeface="Calibri"/>
              </a:rPr>
              <a:t>Storage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42638" y="2330323"/>
            <a:ext cx="2762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FAISS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87441" y="1228089"/>
            <a:ext cx="1064260" cy="561340"/>
          </a:xfrm>
          <a:prstGeom prst="rect">
            <a:avLst/>
          </a:prstGeom>
          <a:solidFill>
            <a:srgbClr val="1D8999"/>
          </a:solidFill>
        </p:spPr>
        <p:txBody>
          <a:bodyPr wrap="square" lIns="0" tIns="9652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760"/>
              </a:spcBef>
            </a:pPr>
            <a:r>
              <a:rPr dirty="0" sz="2200" spc="-5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235827" y="1228089"/>
            <a:ext cx="1250315" cy="561340"/>
            <a:chOff x="6235827" y="1228089"/>
            <a:chExt cx="1250315" cy="561340"/>
          </a:xfrm>
        </p:grpSpPr>
        <p:sp>
          <p:nvSpPr>
            <p:cNvPr id="31" name="object 31"/>
            <p:cNvSpPr/>
            <p:nvPr/>
          </p:nvSpPr>
          <p:spPr>
            <a:xfrm>
              <a:off x="6245352" y="1508759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 h="0">
                  <a:moveTo>
                    <a:pt x="0" y="0"/>
                  </a:moveTo>
                  <a:lnTo>
                    <a:pt x="182880" y="0"/>
                  </a:lnTo>
                </a:path>
              </a:pathLst>
            </a:custGeom>
            <a:ln w="19050">
              <a:solidFill>
                <a:srgbClr val="6374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428232" y="1234439"/>
              <a:ext cx="1051560" cy="548640"/>
            </a:xfrm>
            <a:custGeom>
              <a:avLst/>
              <a:gdLst/>
              <a:ahLst/>
              <a:cxnLst/>
              <a:rect l="l" t="t" r="r" b="b"/>
              <a:pathLst>
                <a:path w="1051559" h="548639">
                  <a:moveTo>
                    <a:pt x="0" y="548639"/>
                  </a:moveTo>
                  <a:lnTo>
                    <a:pt x="1051560" y="548639"/>
                  </a:lnTo>
                  <a:lnTo>
                    <a:pt x="1051560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ln w="12700">
              <a:solidFill>
                <a:srgbClr val="2B9EB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5247894" y="1956942"/>
            <a:ext cx="9353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0D2B45"/>
                </a:solidFill>
                <a:latin typeface="Calibri"/>
                <a:cs typeface="Calibri"/>
              </a:rPr>
              <a:t>Query</a:t>
            </a:r>
            <a:r>
              <a:rPr dirty="0" sz="1000" spc="-2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0D2B45"/>
                </a:solidFill>
                <a:latin typeface="Calibri"/>
                <a:cs typeface="Calibri"/>
              </a:rPr>
              <a:t>Processing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33238" y="2261742"/>
            <a:ext cx="7651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Normalization</a:t>
            </a:r>
            <a:r>
              <a:rPr dirty="0" sz="900" spc="7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+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900" spc="-10">
                <a:latin typeface="Calibri"/>
                <a:cs typeface="Calibri"/>
              </a:rPr>
              <a:t>Embedding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21882" y="1228089"/>
            <a:ext cx="1064260" cy="561340"/>
          </a:xfrm>
          <a:prstGeom prst="rect">
            <a:avLst/>
          </a:prstGeom>
          <a:solidFill>
            <a:srgbClr val="2B9EB3"/>
          </a:solidFill>
        </p:spPr>
        <p:txBody>
          <a:bodyPr wrap="square" lIns="0" tIns="9652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760"/>
              </a:spcBef>
            </a:pPr>
            <a:r>
              <a:rPr dirty="0" sz="2200" spc="-50" b="1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479792" y="1228089"/>
            <a:ext cx="1240790" cy="561340"/>
            <a:chOff x="7479792" y="1228089"/>
            <a:chExt cx="1240790" cy="561340"/>
          </a:xfrm>
        </p:grpSpPr>
        <p:sp>
          <p:nvSpPr>
            <p:cNvPr id="37" name="object 37"/>
            <p:cNvSpPr/>
            <p:nvPr/>
          </p:nvSpPr>
          <p:spPr>
            <a:xfrm>
              <a:off x="7479792" y="1508759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 h="0">
                  <a:moveTo>
                    <a:pt x="0" y="0"/>
                  </a:moveTo>
                  <a:lnTo>
                    <a:pt x="182879" y="0"/>
                  </a:lnTo>
                </a:path>
              </a:pathLst>
            </a:custGeom>
            <a:ln w="19050">
              <a:solidFill>
                <a:srgbClr val="6374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7662672" y="1234439"/>
              <a:ext cx="1051560" cy="548640"/>
            </a:xfrm>
            <a:custGeom>
              <a:avLst/>
              <a:gdLst/>
              <a:ahLst/>
              <a:cxnLst/>
              <a:rect l="l" t="t" r="r" b="b"/>
              <a:pathLst>
                <a:path w="1051559" h="548639">
                  <a:moveTo>
                    <a:pt x="0" y="548639"/>
                  </a:moveTo>
                  <a:lnTo>
                    <a:pt x="1051559" y="548639"/>
                  </a:lnTo>
                  <a:lnTo>
                    <a:pt x="1051559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ln w="12700">
              <a:solidFill>
                <a:srgbClr val="39AE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6494779" y="1956942"/>
            <a:ext cx="9080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0D2B45"/>
                </a:solidFill>
                <a:latin typeface="Calibri"/>
                <a:cs typeface="Calibri"/>
              </a:rPr>
              <a:t>Similarity</a:t>
            </a:r>
            <a:r>
              <a:rPr dirty="0" sz="1000" spc="-5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0D2B45"/>
                </a:solidFill>
                <a:latin typeface="Calibri"/>
                <a:cs typeface="Calibri"/>
              </a:rPr>
              <a:t>Search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570980" y="2330323"/>
            <a:ext cx="7588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Cosine</a:t>
            </a:r>
            <a:r>
              <a:rPr dirty="0" sz="900" spc="-3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Distance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656321" y="1228089"/>
            <a:ext cx="1064260" cy="561340"/>
          </a:xfrm>
          <a:prstGeom prst="rect">
            <a:avLst/>
          </a:prstGeom>
          <a:solidFill>
            <a:srgbClr val="39AEA9"/>
          </a:solidFill>
        </p:spPr>
        <p:txBody>
          <a:bodyPr wrap="square" lIns="0" tIns="9652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760"/>
              </a:spcBef>
            </a:pPr>
            <a:r>
              <a:rPr dirty="0" sz="2200" spc="-50" b="1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872476" y="1880742"/>
            <a:ext cx="62166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572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0D2B45"/>
                </a:solidFill>
                <a:latin typeface="Calibri"/>
                <a:cs typeface="Calibri"/>
              </a:rPr>
              <a:t>Response Generation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688071" y="2330323"/>
            <a:ext cx="9925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Qwen2-</a:t>
            </a:r>
            <a:r>
              <a:rPr dirty="0" sz="900">
                <a:latin typeface="Calibri"/>
                <a:cs typeface="Calibri"/>
              </a:rPr>
              <a:t>1.5B-</a:t>
            </a:r>
            <a:r>
              <a:rPr dirty="0" sz="900" spc="-10">
                <a:latin typeface="Calibri"/>
                <a:cs typeface="Calibri"/>
              </a:rPr>
              <a:t>Instruct</a:t>
            </a:r>
            <a:endParaRPr sz="900">
              <a:latin typeface="Calibri"/>
              <a:cs typeface="Calibri"/>
            </a:endParaRPr>
          </a:p>
        </p:txBody>
      </p: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271145" y="2694304"/>
          <a:ext cx="8677910" cy="2285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0320"/>
                <a:gridCol w="6035039"/>
              </a:tblGrid>
              <a:tr h="2857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Stage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Tool</a:t>
                      </a:r>
                      <a:r>
                        <a:rPr dirty="0" sz="11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0D2B4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Document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Ingestion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PyPDFLoader</a:t>
                      </a:r>
                      <a:r>
                        <a:rPr dirty="0" sz="11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(LangChain)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Text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Chunking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RecursiveCharacterTextSplitter</a:t>
                      </a:r>
                      <a:r>
                        <a:rPr dirty="0" sz="11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(500</a:t>
                      </a:r>
                      <a:r>
                        <a:rPr dirty="0" sz="110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chars,</a:t>
                      </a:r>
                      <a:r>
                        <a:rPr dirty="0" sz="11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100</a:t>
                      </a:r>
                      <a:r>
                        <a:rPr dirty="0" sz="110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overlap)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Embedding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sentence-transformers/all-MiniLM-L6-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v2</a:t>
                      </a:r>
                      <a:r>
                        <a:rPr dirty="0" sz="11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10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384-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dim</a:t>
                      </a:r>
                      <a:r>
                        <a:rPr dirty="0" sz="110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vectors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Vector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Storage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FAISS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(Facebook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AI</a:t>
                      </a:r>
                      <a:r>
                        <a:rPr dirty="0" sz="11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Similarity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Search)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Similarity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Search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Cosine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Similarity,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Top-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K=5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Response</a:t>
                      </a:r>
                      <a:r>
                        <a:rPr dirty="0" sz="11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Generation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Qwen2-1.5B-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Instruct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via</a:t>
                      </a:r>
                      <a:r>
                        <a:rPr dirty="0" sz="11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OllamaLLM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Interface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Streamlit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(Python)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-55"/>
              <a:t> </a:t>
            </a:r>
            <a:r>
              <a:rPr dirty="0"/>
              <a:t>–</a:t>
            </a:r>
            <a:r>
              <a:rPr dirty="0" spc="-65"/>
              <a:t> </a:t>
            </a:r>
            <a:r>
              <a:rPr dirty="0"/>
              <a:t>Document</a:t>
            </a:r>
            <a:r>
              <a:rPr dirty="0" spc="-35"/>
              <a:t> </a:t>
            </a:r>
            <a:r>
              <a:rPr dirty="0"/>
              <a:t>Ingestion</a:t>
            </a:r>
            <a:r>
              <a:rPr dirty="0" spc="-50"/>
              <a:t> </a:t>
            </a:r>
            <a:r>
              <a:rPr dirty="0"/>
              <a:t>&amp;</a:t>
            </a:r>
            <a:r>
              <a:rPr dirty="0" spc="-75"/>
              <a:t> </a:t>
            </a:r>
            <a:r>
              <a:rPr dirty="0" spc="-45"/>
              <a:t>Text </a:t>
            </a:r>
            <a:r>
              <a:rPr dirty="0" spc="-10"/>
              <a:t>Extraction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667512"/>
            <a:ext cx="8756142" cy="139674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4320" y="777240"/>
            <a:ext cx="8595360" cy="1234440"/>
          </a:xfrm>
          <a:prstGeom prst="rect">
            <a:avLst/>
          </a:prstGeom>
          <a:solidFill>
            <a:srgbClr val="EBF8FF"/>
          </a:solidFill>
          <a:ln w="12700">
            <a:solidFill>
              <a:srgbClr val="D3E9F7"/>
            </a:solidFill>
          </a:ln>
        </p:spPr>
        <p:txBody>
          <a:bodyPr wrap="square" lIns="0" tIns="90805" rIns="0" bIns="0" rtlCol="0" vert="horz">
            <a:spAutoFit/>
          </a:bodyPr>
          <a:lstStyle/>
          <a:p>
            <a:pPr marL="182245">
              <a:lnSpc>
                <a:spcPct val="100000"/>
              </a:lnSpc>
              <a:spcBef>
                <a:spcPts val="715"/>
              </a:spcBef>
            </a:pPr>
            <a:r>
              <a:rPr dirty="0" sz="1300" spc="-20" b="1">
                <a:solidFill>
                  <a:srgbClr val="125E89"/>
                </a:solidFill>
                <a:latin typeface="Calibri"/>
                <a:cs typeface="Calibri"/>
              </a:rPr>
              <a:t>Tool</a:t>
            </a:r>
            <a:r>
              <a:rPr dirty="0" sz="1300" spc="-3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25E89"/>
                </a:solidFill>
                <a:latin typeface="Calibri"/>
                <a:cs typeface="Calibri"/>
              </a:rPr>
              <a:t>Used:</a:t>
            </a:r>
            <a:r>
              <a:rPr dirty="0" sz="1300" spc="-2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25E89"/>
                </a:solidFill>
                <a:latin typeface="Calibri"/>
                <a:cs typeface="Calibri"/>
              </a:rPr>
              <a:t>PyPDFLoader</a:t>
            </a:r>
            <a:r>
              <a:rPr dirty="0" sz="1300" spc="-2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25E89"/>
                </a:solidFill>
                <a:latin typeface="Calibri"/>
                <a:cs typeface="Calibri"/>
              </a:rPr>
              <a:t>(LangChain</a:t>
            </a:r>
            <a:r>
              <a:rPr dirty="0" sz="1300" spc="-2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25E89"/>
                </a:solidFill>
                <a:latin typeface="Calibri"/>
                <a:cs typeface="Calibri"/>
              </a:rPr>
              <a:t>Community</a:t>
            </a:r>
            <a:r>
              <a:rPr dirty="0" sz="1300" spc="-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25E89"/>
                </a:solidFill>
                <a:latin typeface="Calibri"/>
                <a:cs typeface="Calibri"/>
              </a:rPr>
              <a:t>Library)</a:t>
            </a:r>
            <a:endParaRPr sz="1300">
              <a:latin typeface="Calibri"/>
              <a:cs typeface="Calibri"/>
            </a:endParaRPr>
          </a:p>
          <a:p>
            <a:pPr marL="274320" marR="326390">
              <a:lnSpc>
                <a:spcPct val="100000"/>
              </a:lnSpc>
              <a:spcBef>
                <a:spcPts val="1450"/>
              </a:spcBef>
            </a:pP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The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user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uploads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one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or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more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PDF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files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through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the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Streamlit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sidebar.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Each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file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is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temporarily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stored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locally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and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then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loaded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using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PyPDFLoader,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which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iterates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over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every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page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to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extract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raw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textual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content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along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with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page-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level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metadata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(page 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number,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source</a:t>
            </a:r>
            <a:r>
              <a:rPr dirty="0" sz="12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filename).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1620" y="2126995"/>
            <a:ext cx="127698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125E89"/>
                </a:solidFill>
                <a:latin typeface="Calibri"/>
                <a:cs typeface="Calibri"/>
              </a:rPr>
              <a:t>Key</a:t>
            </a:r>
            <a:r>
              <a:rPr dirty="0" sz="1350" spc="-5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125E89"/>
                </a:solidFill>
                <a:latin typeface="Calibri"/>
                <a:cs typeface="Calibri"/>
              </a:rPr>
              <a:t>Process</a:t>
            </a:r>
            <a:r>
              <a:rPr dirty="0" sz="1350" spc="-7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50" spc="-20" b="1">
                <a:solidFill>
                  <a:srgbClr val="125E89"/>
                </a:solidFill>
                <a:latin typeface="Calibri"/>
                <a:cs typeface="Calibri"/>
              </a:rPr>
              <a:t>Steps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4320" y="2487167"/>
            <a:ext cx="1005840" cy="502920"/>
          </a:xfrm>
          <a:custGeom>
            <a:avLst/>
            <a:gdLst/>
            <a:ahLst/>
            <a:cxnLst/>
            <a:rect l="l" t="t" r="r" b="b"/>
            <a:pathLst>
              <a:path w="1005840" h="502919">
                <a:moveTo>
                  <a:pt x="0" y="502919"/>
                </a:moveTo>
                <a:lnTo>
                  <a:pt x="1005840" y="502919"/>
                </a:lnTo>
                <a:lnTo>
                  <a:pt x="1005840" y="0"/>
                </a:lnTo>
                <a:lnTo>
                  <a:pt x="0" y="0"/>
                </a:lnTo>
                <a:lnTo>
                  <a:pt x="0" y="502919"/>
                </a:lnTo>
                <a:close/>
              </a:path>
            </a:pathLst>
          </a:custGeom>
          <a:ln w="12699">
            <a:solidFill>
              <a:srgbClr val="09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67970" y="2480817"/>
            <a:ext cx="1018540" cy="515620"/>
          </a:xfrm>
          <a:prstGeom prst="rect">
            <a:avLst/>
          </a:prstGeom>
          <a:solidFill>
            <a:srgbClr val="099295"/>
          </a:solidFill>
        </p:spPr>
        <p:txBody>
          <a:bodyPr wrap="square" lIns="0" tIns="158115" rIns="0" bIns="0" rtlCol="0" vert="horz">
            <a:spAutoFit/>
          </a:bodyPr>
          <a:lstStyle/>
          <a:p>
            <a:pPr marL="279400">
              <a:lnSpc>
                <a:spcPct val="100000"/>
              </a:lnSpc>
              <a:spcBef>
                <a:spcPts val="1245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Upload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4874" y="2621660"/>
            <a:ext cx="42741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User</a:t>
            </a:r>
            <a:r>
              <a:rPr dirty="0" sz="1200" spc="-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uploads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single/multiple</a:t>
            </a:r>
            <a:r>
              <a:rPr dirty="0" sz="1200" spc="-5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PDFs</a:t>
            </a:r>
            <a:r>
              <a:rPr dirty="0" sz="1200" spc="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via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Streamlit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sidebar</a:t>
            </a:r>
            <a:r>
              <a:rPr dirty="0" sz="120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file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 uploader.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4320" y="3136392"/>
            <a:ext cx="1005840" cy="502920"/>
          </a:xfrm>
          <a:custGeom>
            <a:avLst/>
            <a:gdLst/>
            <a:ahLst/>
            <a:cxnLst/>
            <a:rect l="l" t="t" r="r" b="b"/>
            <a:pathLst>
              <a:path w="1005840" h="502920">
                <a:moveTo>
                  <a:pt x="0" y="502919"/>
                </a:moveTo>
                <a:lnTo>
                  <a:pt x="1005840" y="502919"/>
                </a:lnTo>
                <a:lnTo>
                  <a:pt x="1005840" y="0"/>
                </a:lnTo>
                <a:lnTo>
                  <a:pt x="0" y="0"/>
                </a:lnTo>
                <a:lnTo>
                  <a:pt x="0" y="502919"/>
                </a:lnTo>
                <a:close/>
              </a:path>
            </a:pathLst>
          </a:custGeom>
          <a:ln w="12699">
            <a:solidFill>
              <a:srgbClr val="09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67970" y="3130042"/>
            <a:ext cx="1018540" cy="515620"/>
          </a:xfrm>
          <a:prstGeom prst="rect">
            <a:avLst/>
          </a:prstGeom>
          <a:solidFill>
            <a:srgbClr val="099295"/>
          </a:solidFill>
        </p:spPr>
        <p:txBody>
          <a:bodyPr wrap="square" lIns="0" tIns="158115" rIns="0" bIns="0" rtlCol="0" vert="horz">
            <a:spAutoFit/>
          </a:bodyPr>
          <a:lstStyle/>
          <a:p>
            <a:pPr marL="287020">
              <a:lnSpc>
                <a:spcPct val="100000"/>
              </a:lnSpc>
              <a:spcBef>
                <a:spcPts val="1245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Extract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04874" y="3270884"/>
            <a:ext cx="45262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PyPDFLoader</a:t>
            </a:r>
            <a:r>
              <a:rPr dirty="0" sz="1200" spc="-4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reads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each</a:t>
            </a:r>
            <a:r>
              <a:rPr dirty="0" sz="1200" spc="-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page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and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extracts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raw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text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content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+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metadata.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7970" y="3779265"/>
            <a:ext cx="1018540" cy="515620"/>
          </a:xfrm>
          <a:prstGeom prst="rect">
            <a:avLst/>
          </a:prstGeom>
          <a:solidFill>
            <a:srgbClr val="099295"/>
          </a:solidFill>
          <a:ln w="3175">
            <a:solidFill>
              <a:srgbClr val="099295"/>
            </a:solidFill>
          </a:ln>
        </p:spPr>
        <p:txBody>
          <a:bodyPr wrap="square" lIns="0" tIns="158115" rIns="0" bIns="0" rtlCol="0" vert="horz">
            <a:spAutoFit/>
          </a:bodyPr>
          <a:lstStyle/>
          <a:p>
            <a:pPr marL="189230">
              <a:lnSpc>
                <a:spcPct val="100000"/>
              </a:lnSpc>
              <a:spcBef>
                <a:spcPts val="1245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Aggregate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04874" y="3920438"/>
            <a:ext cx="42564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Documents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from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all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uploaded</a:t>
            </a:r>
            <a:r>
              <a:rPr dirty="0" sz="1200" spc="-4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files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are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combined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into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one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collection.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7970" y="4428490"/>
            <a:ext cx="1018540" cy="515620"/>
          </a:xfrm>
          <a:prstGeom prst="rect">
            <a:avLst/>
          </a:prstGeom>
          <a:solidFill>
            <a:srgbClr val="099295"/>
          </a:solidFill>
          <a:ln w="3175">
            <a:solidFill>
              <a:srgbClr val="099295"/>
            </a:solidFill>
          </a:ln>
        </p:spPr>
        <p:txBody>
          <a:bodyPr wrap="square" lIns="0" tIns="158115" rIns="0" bIns="0" rtlCol="0" vert="horz">
            <a:spAutoFit/>
          </a:bodyPr>
          <a:lstStyle/>
          <a:p>
            <a:pPr marL="332740">
              <a:lnSpc>
                <a:spcPct val="100000"/>
              </a:lnSpc>
              <a:spcBef>
                <a:spcPts val="1245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Clean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04874" y="4569358"/>
            <a:ext cx="494728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A</a:t>
            </a:r>
            <a:r>
              <a:rPr dirty="0" sz="1200" spc="-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custom function</a:t>
            </a:r>
            <a:r>
              <a:rPr dirty="0" sz="120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removes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email</a:t>
            </a:r>
            <a:r>
              <a:rPr dirty="0" sz="1200" spc="-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addresses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and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hyperlinks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from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extracted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text.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dirty="0" spc="-40"/>
              <a:t> </a:t>
            </a:r>
            <a:r>
              <a:rPr dirty="0"/>
              <a:t>2</a:t>
            </a:r>
            <a:r>
              <a:rPr dirty="0" spc="-45"/>
              <a:t> </a:t>
            </a:r>
            <a:r>
              <a:rPr dirty="0"/>
              <a:t>–</a:t>
            </a:r>
            <a:r>
              <a:rPr dirty="0" spc="-50"/>
              <a:t> </a:t>
            </a:r>
            <a:r>
              <a:rPr dirty="0"/>
              <a:t>Recursive</a:t>
            </a:r>
            <a:r>
              <a:rPr dirty="0" spc="-40"/>
              <a:t> </a:t>
            </a:r>
            <a:r>
              <a:rPr dirty="0"/>
              <a:t>Text</a:t>
            </a:r>
            <a:r>
              <a:rPr dirty="0" spc="-40"/>
              <a:t> </a:t>
            </a:r>
            <a:r>
              <a:rPr dirty="0" spc="-10"/>
              <a:t>Chunking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667499"/>
            <a:ext cx="8756142" cy="8008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4320" y="777240"/>
            <a:ext cx="8595360" cy="640080"/>
          </a:xfrm>
          <a:prstGeom prst="rect">
            <a:avLst/>
          </a:prstGeom>
          <a:solidFill>
            <a:srgbClr val="EBF8FF"/>
          </a:solidFill>
          <a:ln w="12700">
            <a:solidFill>
              <a:srgbClr val="D3E9F7"/>
            </a:solidFill>
          </a:ln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endParaRPr sz="1250">
              <a:latin typeface="Times New Roman"/>
              <a:cs typeface="Times New Roman"/>
            </a:endParaRPr>
          </a:p>
          <a:p>
            <a:pPr marL="274320">
              <a:lnSpc>
                <a:spcPct val="100000"/>
              </a:lnSpc>
            </a:pPr>
            <a:r>
              <a:rPr dirty="0" sz="1250" spc="-20" b="1">
                <a:solidFill>
                  <a:srgbClr val="125E89"/>
                </a:solidFill>
                <a:latin typeface="Calibri"/>
                <a:cs typeface="Calibri"/>
              </a:rPr>
              <a:t>Tool</a:t>
            </a:r>
            <a:r>
              <a:rPr dirty="0" sz="1250" spc="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Used:</a:t>
            </a:r>
            <a:r>
              <a:rPr dirty="0" sz="1250" spc="-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20" b="1">
                <a:solidFill>
                  <a:srgbClr val="125E89"/>
                </a:solidFill>
                <a:latin typeface="Calibri"/>
                <a:cs typeface="Calibri"/>
              </a:rPr>
              <a:t>RecursiveCharacterTextSplitter</a:t>
            </a:r>
            <a:r>
              <a:rPr dirty="0" sz="1250" spc="5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(LangChain)</a:t>
            </a:r>
            <a:r>
              <a:rPr dirty="0" sz="1250" spc="27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|</a:t>
            </a:r>
            <a:r>
              <a:rPr dirty="0" sz="1250" spc="28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chunk_size</a:t>
            </a:r>
            <a:r>
              <a:rPr dirty="0" sz="1250" spc="1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=</a:t>
            </a:r>
            <a:r>
              <a:rPr dirty="0" sz="1250" spc="-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500</a:t>
            </a:r>
            <a:r>
              <a:rPr dirty="0" sz="1250" spc="27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|</a:t>
            </a:r>
            <a:r>
              <a:rPr dirty="0" sz="1250" spc="28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chunk_overlap</a:t>
            </a:r>
            <a:r>
              <a:rPr dirty="0" sz="1250" spc="1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=</a:t>
            </a:r>
            <a:r>
              <a:rPr dirty="0" sz="1250" spc="-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25" b="1">
                <a:solidFill>
                  <a:srgbClr val="125E89"/>
                </a:solidFill>
                <a:latin typeface="Calibri"/>
                <a:cs typeface="Calibri"/>
              </a:rPr>
              <a:t>100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3059" y="1639950"/>
            <a:ext cx="843153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Raw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PDF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text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is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too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large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for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embedding</a:t>
            </a:r>
            <a:r>
              <a:rPr dirty="0" sz="1250" spc="-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models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or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LLM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prompts.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The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splitter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recursively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applies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a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separator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hierarchy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(paragraphs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→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newlines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→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 sentences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→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words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→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 characters)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until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each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segment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meets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the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configured</a:t>
            </a:r>
            <a:r>
              <a:rPr dirty="0" sz="1250" spc="1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size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constraint.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0500" y="2176259"/>
            <a:ext cx="4321810" cy="2218690"/>
            <a:chOff x="190500" y="2176259"/>
            <a:chExt cx="4321810" cy="221869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176259"/>
              <a:ext cx="4321302" cy="221818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4319" y="2395727"/>
              <a:ext cx="4160520" cy="1948180"/>
            </a:xfrm>
            <a:custGeom>
              <a:avLst/>
              <a:gdLst/>
              <a:ahLst/>
              <a:cxnLst/>
              <a:rect l="l" t="t" r="r" b="b"/>
              <a:pathLst>
                <a:path w="4160520" h="1948179">
                  <a:moveTo>
                    <a:pt x="0" y="1947672"/>
                  </a:moveTo>
                  <a:lnTo>
                    <a:pt x="4160520" y="1947672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947672"/>
                  </a:lnTo>
                  <a:close/>
                </a:path>
              </a:pathLst>
            </a:custGeom>
            <a:solidFill>
              <a:srgbClr val="FFF3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74319" y="2285999"/>
              <a:ext cx="4160520" cy="2057400"/>
            </a:xfrm>
            <a:custGeom>
              <a:avLst/>
              <a:gdLst/>
              <a:ahLst/>
              <a:cxnLst/>
              <a:rect l="l" t="t" r="r" b="b"/>
              <a:pathLst>
                <a:path w="4160520" h="2057400">
                  <a:moveTo>
                    <a:pt x="0" y="2057400"/>
                  </a:moveTo>
                  <a:lnTo>
                    <a:pt x="4160520" y="205740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2057400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74319" y="2285999"/>
              <a:ext cx="4160520" cy="109855"/>
            </a:xfrm>
            <a:custGeom>
              <a:avLst/>
              <a:gdLst/>
              <a:ahLst/>
              <a:cxnLst/>
              <a:rect l="l" t="t" r="r" b="b"/>
              <a:pathLst>
                <a:path w="4160520" h="109855">
                  <a:moveTo>
                    <a:pt x="4160520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4160520" y="109727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ED9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74319" y="2285999"/>
              <a:ext cx="4160520" cy="109855"/>
            </a:xfrm>
            <a:custGeom>
              <a:avLst/>
              <a:gdLst/>
              <a:ahLst/>
              <a:cxnLst/>
              <a:rect l="l" t="t" r="r" b="b"/>
              <a:pathLst>
                <a:path w="4160520" h="109855">
                  <a:moveTo>
                    <a:pt x="0" y="109727"/>
                  </a:moveTo>
                  <a:lnTo>
                    <a:pt x="4160520" y="109727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12700">
              <a:solidFill>
                <a:srgbClr val="ED9B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84047" y="2502788"/>
            <a:ext cx="11760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chunk_size</a:t>
            </a:r>
            <a:r>
              <a:rPr dirty="0" sz="1300" spc="-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=</a:t>
            </a:r>
            <a:r>
              <a:rPr dirty="0" sz="1300" spc="-1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0D2B45"/>
                </a:solidFill>
                <a:latin typeface="Calibri"/>
                <a:cs typeface="Calibri"/>
              </a:rPr>
              <a:t>500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5487" y="3225164"/>
            <a:ext cx="356362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chunk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limited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500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characters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represent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coherent,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self-contained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while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staying </a:t>
            </a:r>
            <a:r>
              <a:rPr dirty="0" sz="1200">
                <a:latin typeface="Calibri"/>
                <a:cs typeface="Calibri"/>
              </a:rPr>
              <a:t>within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embedding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model's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constraints.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625340" y="2176259"/>
            <a:ext cx="4321810" cy="2218690"/>
            <a:chOff x="4625340" y="2176259"/>
            <a:chExt cx="4321810" cy="221869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25340" y="2176259"/>
              <a:ext cx="4321302" cy="221818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709160" y="2395727"/>
              <a:ext cx="4160520" cy="1948180"/>
            </a:xfrm>
            <a:custGeom>
              <a:avLst/>
              <a:gdLst/>
              <a:ahLst/>
              <a:cxnLst/>
              <a:rect l="l" t="t" r="r" b="b"/>
              <a:pathLst>
                <a:path w="4160520" h="1948179">
                  <a:moveTo>
                    <a:pt x="0" y="1947672"/>
                  </a:moveTo>
                  <a:lnTo>
                    <a:pt x="4160520" y="1947672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947672"/>
                  </a:lnTo>
                  <a:close/>
                </a:path>
              </a:pathLst>
            </a:custGeom>
            <a:solidFill>
              <a:srgbClr val="E2F1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709160" y="2285999"/>
              <a:ext cx="4160520" cy="2057400"/>
            </a:xfrm>
            <a:custGeom>
              <a:avLst/>
              <a:gdLst/>
              <a:ahLst/>
              <a:cxnLst/>
              <a:rect l="l" t="t" r="r" b="b"/>
              <a:pathLst>
                <a:path w="4160520" h="2057400">
                  <a:moveTo>
                    <a:pt x="0" y="2057400"/>
                  </a:moveTo>
                  <a:lnTo>
                    <a:pt x="4160520" y="205740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2057400"/>
                  </a:lnTo>
                  <a:close/>
                </a:path>
              </a:pathLst>
            </a:custGeom>
            <a:ln w="12699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709160" y="2285999"/>
              <a:ext cx="4160520" cy="109855"/>
            </a:xfrm>
            <a:custGeom>
              <a:avLst/>
              <a:gdLst/>
              <a:ahLst/>
              <a:cxnLst/>
              <a:rect l="l" t="t" r="r" b="b"/>
              <a:pathLst>
                <a:path w="4160520" h="109855">
                  <a:moveTo>
                    <a:pt x="4160520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4160520" y="109727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25E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709160" y="2285999"/>
              <a:ext cx="4160520" cy="109855"/>
            </a:xfrm>
            <a:custGeom>
              <a:avLst/>
              <a:gdLst/>
              <a:ahLst/>
              <a:cxnLst/>
              <a:rect l="l" t="t" r="r" b="b"/>
              <a:pathLst>
                <a:path w="4160520" h="109855">
                  <a:moveTo>
                    <a:pt x="0" y="109727"/>
                  </a:moveTo>
                  <a:lnTo>
                    <a:pt x="4160520" y="109727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12700">
              <a:solidFill>
                <a:srgbClr val="125E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819522" y="2502788"/>
            <a:ext cx="143827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0D2B45"/>
                </a:solidFill>
                <a:latin typeface="Calibri"/>
                <a:cs typeface="Calibri"/>
              </a:rPr>
              <a:t>chunk_overlap</a:t>
            </a:r>
            <a:r>
              <a:rPr dirty="0" sz="1300" spc="3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=</a:t>
            </a:r>
            <a:r>
              <a:rPr dirty="0" sz="1300" spc="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0D2B45"/>
                </a:solidFill>
                <a:latin typeface="Calibri"/>
                <a:cs typeface="Calibri"/>
              </a:rPr>
              <a:t>100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10963" y="3133725"/>
            <a:ext cx="361251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Consecutive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chunks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100-</a:t>
            </a:r>
            <a:r>
              <a:rPr dirty="0" sz="1200" spc="-10">
                <a:latin typeface="Calibri"/>
                <a:cs typeface="Calibri"/>
              </a:rPr>
              <a:t>character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boundary.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This </a:t>
            </a:r>
            <a:r>
              <a:rPr dirty="0" sz="1200" spc="-10">
                <a:latin typeface="Calibri"/>
                <a:cs typeface="Calibri"/>
              </a:rPr>
              <a:t>sliding-window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prevents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contextual </a:t>
            </a:r>
            <a:r>
              <a:rPr dirty="0" sz="1200">
                <a:latin typeface="Calibri"/>
                <a:cs typeface="Calibri"/>
              </a:rPr>
              <a:t>loss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 chunk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edges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— </a:t>
            </a:r>
            <a:r>
              <a:rPr dirty="0" sz="1200">
                <a:latin typeface="Calibri"/>
                <a:cs typeface="Calibri"/>
              </a:rPr>
              <a:t>ensuring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queries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near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boundary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still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captured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at </a:t>
            </a:r>
            <a:r>
              <a:rPr dirty="0" sz="1200">
                <a:latin typeface="Calibri"/>
                <a:cs typeface="Calibri"/>
              </a:rPr>
              <a:t>least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 </a:t>
            </a:r>
            <a:r>
              <a:rPr dirty="0" sz="1200" spc="-10">
                <a:latin typeface="Calibri"/>
                <a:cs typeface="Calibri"/>
              </a:rPr>
              <a:t>overlapping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chunk.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3059" y="4601362"/>
            <a:ext cx="83820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latin typeface="Calibri"/>
                <a:cs typeface="Calibri"/>
              </a:rPr>
              <a:t>Result:</a:t>
            </a:r>
            <a:r>
              <a:rPr dirty="0" sz="1200" spc="-3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A</a:t>
            </a:r>
            <a:r>
              <a:rPr dirty="0" sz="1200" spc="-2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collection</a:t>
            </a:r>
            <a:r>
              <a:rPr dirty="0" sz="1200" spc="-4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of</a:t>
            </a:r>
            <a:r>
              <a:rPr dirty="0" sz="1200" spc="-3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Document</a:t>
            </a:r>
            <a:r>
              <a:rPr dirty="0" sz="1200" spc="-3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Chunk</a:t>
            </a:r>
            <a:r>
              <a:rPr dirty="0" sz="1200" spc="-2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objects,</a:t>
            </a:r>
            <a:r>
              <a:rPr dirty="0" sz="1200" spc="-4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each</a:t>
            </a:r>
            <a:r>
              <a:rPr dirty="0" sz="1200" spc="-3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carrying</a:t>
            </a:r>
            <a:r>
              <a:rPr dirty="0" sz="1200" spc="-30" i="1">
                <a:latin typeface="Calibri"/>
                <a:cs typeface="Calibri"/>
              </a:rPr>
              <a:t> </a:t>
            </a:r>
            <a:r>
              <a:rPr dirty="0" sz="1200" spc="-10" i="1">
                <a:latin typeface="Calibri"/>
                <a:cs typeface="Calibri"/>
              </a:rPr>
              <a:t>extracted</a:t>
            </a:r>
            <a:r>
              <a:rPr dirty="0" sz="1200" spc="-4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text</a:t>
            </a:r>
            <a:r>
              <a:rPr dirty="0" sz="1200" spc="-2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+</a:t>
            </a:r>
            <a:r>
              <a:rPr dirty="0" sz="1200" spc="-2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page-level</a:t>
            </a:r>
            <a:r>
              <a:rPr dirty="0" sz="1200" spc="-35" i="1">
                <a:latin typeface="Calibri"/>
                <a:cs typeface="Calibri"/>
              </a:rPr>
              <a:t> </a:t>
            </a:r>
            <a:r>
              <a:rPr dirty="0" sz="1200" spc="-10" i="1">
                <a:latin typeface="Calibri"/>
                <a:cs typeface="Calibri"/>
              </a:rPr>
              <a:t>metadata</a:t>
            </a:r>
            <a:r>
              <a:rPr dirty="0" sz="1200" spc="-4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(source</a:t>
            </a:r>
            <a:r>
              <a:rPr dirty="0" sz="1200" spc="-2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filename</a:t>
            </a:r>
            <a:r>
              <a:rPr dirty="0" sz="1200" spc="-3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and</a:t>
            </a:r>
            <a:r>
              <a:rPr dirty="0" sz="1200" spc="-3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page</a:t>
            </a:r>
            <a:r>
              <a:rPr dirty="0" sz="1200" spc="-20" i="1">
                <a:latin typeface="Calibri"/>
                <a:cs typeface="Calibri"/>
              </a:rPr>
              <a:t> </a:t>
            </a:r>
            <a:r>
              <a:rPr dirty="0" sz="1200" spc="-10" i="1">
                <a:latin typeface="Calibri"/>
                <a:cs typeface="Calibri"/>
              </a:rPr>
              <a:t>number).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dirty="0" spc="-10"/>
              <a:t> </a:t>
            </a:r>
            <a:r>
              <a:rPr dirty="0"/>
              <a:t>3</a:t>
            </a:r>
            <a:r>
              <a:rPr dirty="0" spc="-15"/>
              <a:t> </a:t>
            </a:r>
            <a:r>
              <a:rPr dirty="0"/>
              <a:t>–</a:t>
            </a:r>
            <a:r>
              <a:rPr dirty="0" spc="-25"/>
              <a:t> </a:t>
            </a:r>
            <a:r>
              <a:rPr dirty="0" spc="-20"/>
              <a:t>Text-</a:t>
            </a:r>
            <a:r>
              <a:rPr dirty="0" spc="-25"/>
              <a:t>to-</a:t>
            </a:r>
            <a:r>
              <a:rPr dirty="0"/>
              <a:t>Vector</a:t>
            </a:r>
            <a:r>
              <a:rPr dirty="0" spc="25"/>
              <a:t> </a:t>
            </a:r>
            <a:r>
              <a:rPr dirty="0"/>
              <a:t>Embedding</a:t>
            </a:r>
            <a:r>
              <a:rPr dirty="0" spc="-25"/>
              <a:t> </a:t>
            </a:r>
            <a:r>
              <a:rPr dirty="0" spc="-10"/>
              <a:t>Generation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667537"/>
            <a:ext cx="8756142" cy="7093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solidFill>
            <a:srgbClr val="EBF8FF"/>
          </a:solidFill>
          <a:ln w="12700">
            <a:solidFill>
              <a:srgbClr val="D3E9F7"/>
            </a:solidFill>
          </a:ln>
        </p:spPr>
        <p:txBody>
          <a:bodyPr wrap="square" lIns="0" tIns="179070" rIns="0" bIns="0" rtlCol="0" vert="horz">
            <a:spAutoFit/>
          </a:bodyPr>
          <a:lstStyle/>
          <a:p>
            <a:pPr marL="274320">
              <a:lnSpc>
                <a:spcPct val="100000"/>
              </a:lnSpc>
              <a:spcBef>
                <a:spcPts val="1410"/>
              </a:spcBef>
            </a:pP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Model:</a:t>
            </a:r>
            <a:r>
              <a:rPr dirty="0" sz="1250" spc="1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20" b="1">
                <a:solidFill>
                  <a:srgbClr val="125E89"/>
                </a:solidFill>
                <a:latin typeface="Calibri"/>
                <a:cs typeface="Calibri"/>
              </a:rPr>
              <a:t>sentence-transformers/all-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MiniLM-L6-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v2</a:t>
            </a:r>
            <a:r>
              <a:rPr dirty="0" sz="1250" spc="38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|</a:t>
            </a:r>
            <a:r>
              <a:rPr dirty="0" sz="1250" spc="32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Output:</a:t>
            </a:r>
            <a:r>
              <a:rPr dirty="0" sz="1250" spc="5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384-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dimensional</a:t>
            </a:r>
            <a:r>
              <a:rPr dirty="0" sz="1250" spc="4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dense</a:t>
            </a:r>
            <a:r>
              <a:rPr dirty="0" sz="1250" spc="2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vectors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3059" y="1789302"/>
            <a:ext cx="3932554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9781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Vector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embeddings</a:t>
            </a:r>
            <a:r>
              <a:rPr dirty="0" sz="120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transform</a:t>
            </a:r>
            <a:r>
              <a:rPr dirty="0" sz="120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natural</a:t>
            </a:r>
            <a:r>
              <a:rPr dirty="0" sz="120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language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into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dense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numerical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representations,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enabling</a:t>
            </a:r>
            <a:r>
              <a:rPr dirty="0" sz="120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semantic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 comparison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between</a:t>
            </a:r>
            <a:r>
              <a:rPr dirty="0" sz="1200" spc="-5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queries</a:t>
            </a:r>
            <a:r>
              <a:rPr dirty="0" sz="1200" spc="-5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and</a:t>
            </a:r>
            <a:r>
              <a:rPr dirty="0" sz="1200" spc="-4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documents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—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something</a:t>
            </a:r>
            <a:r>
              <a:rPr dirty="0" sz="1200" spc="-5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impossible</a:t>
            </a:r>
            <a:r>
              <a:rPr dirty="0" sz="120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with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keyword-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based</a:t>
            </a:r>
            <a:r>
              <a:rPr dirty="0" sz="1200" spc="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search.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1620" y="1469262"/>
            <a:ext cx="53670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01820" algn="l"/>
              </a:tabLst>
            </a:pPr>
            <a:r>
              <a:rPr dirty="0" sz="1300" b="1">
                <a:solidFill>
                  <a:srgbClr val="099295"/>
                </a:solidFill>
                <a:latin typeface="Calibri"/>
                <a:cs typeface="Calibri"/>
              </a:rPr>
              <a:t>Why</a:t>
            </a:r>
            <a:r>
              <a:rPr dirty="0" sz="1300" spc="-45" b="1">
                <a:solidFill>
                  <a:srgbClr val="0992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99295"/>
                </a:solidFill>
                <a:latin typeface="Calibri"/>
                <a:cs typeface="Calibri"/>
              </a:rPr>
              <a:t>Embeddings?</a:t>
            </a:r>
            <a:r>
              <a:rPr dirty="0" sz="1300" b="1">
                <a:solidFill>
                  <a:srgbClr val="099295"/>
                </a:solidFill>
                <a:latin typeface="Calibri"/>
                <a:cs typeface="Calibri"/>
              </a:rPr>
              <a:t>	Model</a:t>
            </a:r>
            <a:r>
              <a:rPr dirty="0" sz="1300" spc="-45" b="1">
                <a:solidFill>
                  <a:srgbClr val="0992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99295"/>
                </a:solidFill>
                <a:latin typeface="Calibri"/>
                <a:cs typeface="Calibri"/>
              </a:rPr>
              <a:t>Details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42815" y="1789302"/>
            <a:ext cx="3980179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A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distilled</a:t>
            </a:r>
            <a:r>
              <a:rPr dirty="0" sz="120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6-layer</a:t>
            </a:r>
            <a:r>
              <a:rPr dirty="0" sz="120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variant</a:t>
            </a:r>
            <a:r>
              <a:rPr dirty="0" sz="1200" spc="-5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of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MiniLM,</a:t>
            </a:r>
            <a:r>
              <a:rPr dirty="0" sz="1200" spc="-5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fine-tuned</a:t>
            </a:r>
            <a:r>
              <a:rPr dirty="0" sz="1200" spc="-6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on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over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1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billion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sentence</a:t>
            </a:r>
            <a:r>
              <a:rPr dirty="0" sz="120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pairs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using</a:t>
            </a:r>
            <a:r>
              <a:rPr dirty="0" sz="1200" spc="-4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contrastive</a:t>
            </a:r>
            <a:r>
              <a:rPr dirty="0" sz="120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learning.</a:t>
            </a:r>
            <a:r>
              <a:rPr dirty="0" sz="1200" spc="-4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Produces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fixed-length 384-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dim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embeddings.</a:t>
            </a:r>
            <a:r>
              <a:rPr dirty="0" sz="1200" spc="-4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Cached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in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memory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via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@st.cache_resource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to load</a:t>
            </a:r>
            <a:r>
              <a:rPr dirty="0" sz="1200" spc="-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only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once</a:t>
            </a:r>
            <a:r>
              <a:rPr dirty="0" sz="1200" spc="-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per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 session.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0500" y="2587739"/>
            <a:ext cx="8756650" cy="1395730"/>
            <a:chOff x="190500" y="2587739"/>
            <a:chExt cx="8756650" cy="139573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587739"/>
              <a:ext cx="8756142" cy="139522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4319" y="2697480"/>
              <a:ext cx="8595360" cy="1234440"/>
            </a:xfrm>
            <a:custGeom>
              <a:avLst/>
              <a:gdLst/>
              <a:ahLst/>
              <a:cxnLst/>
              <a:rect l="l" t="t" r="r" b="b"/>
              <a:pathLst>
                <a:path w="8595360" h="1234439">
                  <a:moveTo>
                    <a:pt x="0" y="1234440"/>
                  </a:moveTo>
                  <a:lnTo>
                    <a:pt x="8595360" y="1234440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34440"/>
                  </a:lnTo>
                  <a:close/>
                </a:path>
              </a:pathLst>
            </a:custGeom>
            <a:ln w="12699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74319" y="2697480"/>
              <a:ext cx="109855" cy="1234440"/>
            </a:xfrm>
            <a:custGeom>
              <a:avLst/>
              <a:gdLst/>
              <a:ahLst/>
              <a:cxnLst/>
              <a:rect l="l" t="t" r="r" b="b"/>
              <a:pathLst>
                <a:path w="109854" h="1234439">
                  <a:moveTo>
                    <a:pt x="109728" y="0"/>
                  </a:moveTo>
                  <a:lnTo>
                    <a:pt x="0" y="0"/>
                  </a:lnTo>
                  <a:lnTo>
                    <a:pt x="0" y="1234440"/>
                  </a:lnTo>
                  <a:lnTo>
                    <a:pt x="109728" y="1234440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ED9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74319" y="2697480"/>
              <a:ext cx="109855" cy="1234440"/>
            </a:xfrm>
            <a:custGeom>
              <a:avLst/>
              <a:gdLst/>
              <a:ahLst/>
              <a:cxnLst/>
              <a:rect l="l" t="t" r="r" b="b"/>
              <a:pathLst>
                <a:path w="109854" h="1234439">
                  <a:moveTo>
                    <a:pt x="0" y="1234440"/>
                  </a:moveTo>
                  <a:lnTo>
                    <a:pt x="109728" y="1234440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234440"/>
                  </a:lnTo>
                  <a:close/>
                </a:path>
              </a:pathLst>
            </a:custGeom>
            <a:ln w="12699">
              <a:solidFill>
                <a:srgbClr val="ED9B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84047" y="2697479"/>
            <a:ext cx="8486140" cy="1234440"/>
          </a:xfrm>
          <a:prstGeom prst="rect">
            <a:avLst/>
          </a:prstGeom>
          <a:solidFill>
            <a:srgbClr val="1E2760"/>
          </a:solidFill>
        </p:spPr>
        <p:txBody>
          <a:bodyPr wrap="square" lIns="0" tIns="73660" rIns="0" bIns="0" rtlCol="0" vert="horz">
            <a:spAutoFit/>
          </a:bodyPr>
          <a:lstStyle/>
          <a:p>
            <a:pPr marL="118745">
              <a:lnSpc>
                <a:spcPct val="100000"/>
              </a:lnSpc>
              <a:spcBef>
                <a:spcPts val="580"/>
              </a:spcBef>
            </a:pPr>
            <a:r>
              <a:rPr dirty="0" sz="1200" b="1">
                <a:solidFill>
                  <a:srgbClr val="93D2BC"/>
                </a:solidFill>
                <a:latin typeface="Calibri"/>
                <a:cs typeface="Calibri"/>
              </a:rPr>
              <a:t>Embedding</a:t>
            </a:r>
            <a:r>
              <a:rPr dirty="0" sz="1200" spc="-45" b="1">
                <a:solidFill>
                  <a:srgbClr val="93D2BC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93D2BC"/>
                </a:solidFill>
                <a:latin typeface="Calibri"/>
                <a:cs typeface="Calibri"/>
              </a:rPr>
              <a:t>Formula</a:t>
            </a:r>
            <a:endParaRPr sz="1200">
              <a:latin typeface="Calibri"/>
              <a:cs typeface="Calibri"/>
            </a:endParaRPr>
          </a:p>
          <a:p>
            <a:pPr marL="118745">
              <a:lnSpc>
                <a:spcPct val="100000"/>
              </a:lnSpc>
              <a:spcBef>
                <a:spcPts val="1035"/>
              </a:spcBef>
            </a:pP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E(T)</a:t>
            </a:r>
            <a:r>
              <a:rPr dirty="0" sz="1500" spc="2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dirty="0" sz="1500" spc="3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MeanPool(</a:t>
            </a:r>
            <a:r>
              <a:rPr dirty="0" sz="15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TransformerEncoder(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 [t₁,</a:t>
            </a:r>
            <a:r>
              <a:rPr dirty="0" sz="15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t₂,</a:t>
            </a:r>
            <a:r>
              <a:rPr dirty="0" sz="15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...,</a:t>
            </a:r>
            <a:r>
              <a:rPr dirty="0" sz="15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325" b="1">
                <a:solidFill>
                  <a:srgbClr val="FFFFFF"/>
                </a:solidFill>
                <a:latin typeface="Calibri"/>
                <a:cs typeface="Calibri"/>
              </a:rPr>
              <a:t>tₙ]</a:t>
            </a:r>
            <a:r>
              <a:rPr dirty="0" sz="150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dirty="0" sz="1500" spc="3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 Math"/>
                <a:cs typeface="Cambria Math"/>
              </a:rPr>
              <a:t>∈</a:t>
            </a:r>
            <a:r>
              <a:rPr dirty="0" sz="1500" spc="29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 Math"/>
                <a:cs typeface="Cambria Math"/>
              </a:rPr>
              <a:t>ℝ</a:t>
            </a:r>
            <a:r>
              <a:rPr dirty="0" sz="1500" spc="-20" b="1">
                <a:solidFill>
                  <a:srgbClr val="FFFFFF"/>
                </a:solidFill>
                <a:latin typeface="Calibri"/>
                <a:cs typeface="Calibri"/>
              </a:rPr>
              <a:t>³⁸⁴</a:t>
            </a:r>
            <a:endParaRPr sz="1500">
              <a:latin typeface="Calibri"/>
              <a:cs typeface="Calibri"/>
            </a:endParaRPr>
          </a:p>
          <a:p>
            <a:pPr marL="118745">
              <a:lnSpc>
                <a:spcPct val="100000"/>
              </a:lnSpc>
              <a:spcBef>
                <a:spcPts val="1080"/>
              </a:spcBef>
            </a:pPr>
            <a:r>
              <a:rPr dirty="0" sz="1150">
                <a:solidFill>
                  <a:srgbClr val="93D2BC"/>
                </a:solidFill>
                <a:latin typeface="Calibri"/>
                <a:cs typeface="Calibri"/>
              </a:rPr>
              <a:t>Each</a:t>
            </a:r>
            <a:r>
              <a:rPr dirty="0" sz="1150" spc="-45">
                <a:solidFill>
                  <a:srgbClr val="93D2B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93D2BC"/>
                </a:solidFill>
                <a:latin typeface="Calibri"/>
                <a:cs typeface="Calibri"/>
              </a:rPr>
              <a:t>chunk</a:t>
            </a:r>
            <a:r>
              <a:rPr dirty="0" sz="1150" spc="-15">
                <a:solidFill>
                  <a:srgbClr val="93D2B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93D2BC"/>
                </a:solidFill>
                <a:latin typeface="Calibri"/>
                <a:cs typeface="Calibri"/>
              </a:rPr>
              <a:t>T,</a:t>
            </a:r>
            <a:r>
              <a:rPr dirty="0" sz="1150" spc="-15">
                <a:solidFill>
                  <a:srgbClr val="93D2B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93D2BC"/>
                </a:solidFill>
                <a:latin typeface="Calibri"/>
                <a:cs typeface="Calibri"/>
              </a:rPr>
              <a:t>composed</a:t>
            </a:r>
            <a:r>
              <a:rPr dirty="0" sz="1150" spc="-35">
                <a:solidFill>
                  <a:srgbClr val="93D2B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93D2BC"/>
                </a:solidFill>
                <a:latin typeface="Calibri"/>
                <a:cs typeface="Calibri"/>
              </a:rPr>
              <a:t>of</a:t>
            </a:r>
            <a:r>
              <a:rPr dirty="0" sz="1150" spc="-20">
                <a:solidFill>
                  <a:srgbClr val="93D2B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93D2BC"/>
                </a:solidFill>
                <a:latin typeface="Calibri"/>
                <a:cs typeface="Calibri"/>
              </a:rPr>
              <a:t>tokens</a:t>
            </a:r>
            <a:r>
              <a:rPr dirty="0" sz="1150" spc="-10">
                <a:solidFill>
                  <a:srgbClr val="93D2BC"/>
                </a:solidFill>
                <a:latin typeface="Calibri"/>
                <a:cs typeface="Calibri"/>
              </a:rPr>
              <a:t> </a:t>
            </a:r>
            <a:r>
              <a:rPr dirty="0" sz="1150" spc="-135">
                <a:solidFill>
                  <a:srgbClr val="93D2BC"/>
                </a:solidFill>
                <a:latin typeface="Calibri"/>
                <a:cs typeface="Calibri"/>
              </a:rPr>
              <a:t>t₁…tₙ,</a:t>
            </a:r>
            <a:r>
              <a:rPr dirty="0" sz="1150">
                <a:solidFill>
                  <a:srgbClr val="93D2BC"/>
                </a:solidFill>
                <a:latin typeface="Calibri"/>
                <a:cs typeface="Calibri"/>
              </a:rPr>
              <a:t> is</a:t>
            </a:r>
            <a:r>
              <a:rPr dirty="0" sz="1150" spc="-20">
                <a:solidFill>
                  <a:srgbClr val="93D2B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93D2BC"/>
                </a:solidFill>
                <a:latin typeface="Calibri"/>
                <a:cs typeface="Calibri"/>
              </a:rPr>
              <a:t>tokenized</a:t>
            </a:r>
            <a:r>
              <a:rPr dirty="0" sz="1150" spc="-10">
                <a:solidFill>
                  <a:srgbClr val="93D2B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93D2BC"/>
                </a:solidFill>
                <a:latin typeface="Calibri"/>
                <a:cs typeface="Calibri"/>
              </a:rPr>
              <a:t>→</a:t>
            </a:r>
            <a:r>
              <a:rPr dirty="0" sz="1150" spc="-25">
                <a:solidFill>
                  <a:srgbClr val="93D2B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93D2BC"/>
                </a:solidFill>
                <a:latin typeface="Calibri"/>
                <a:cs typeface="Calibri"/>
              </a:rPr>
              <a:t>passed</a:t>
            </a:r>
            <a:r>
              <a:rPr dirty="0" sz="1150" spc="-35">
                <a:solidFill>
                  <a:srgbClr val="93D2B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93D2BC"/>
                </a:solidFill>
                <a:latin typeface="Calibri"/>
                <a:cs typeface="Calibri"/>
              </a:rPr>
              <a:t>through</a:t>
            </a:r>
            <a:r>
              <a:rPr dirty="0" sz="1150" spc="-5">
                <a:solidFill>
                  <a:srgbClr val="93D2B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93D2BC"/>
                </a:solidFill>
                <a:latin typeface="Calibri"/>
                <a:cs typeface="Calibri"/>
              </a:rPr>
              <a:t>6</a:t>
            </a:r>
            <a:r>
              <a:rPr dirty="0" sz="1150" spc="-10">
                <a:solidFill>
                  <a:srgbClr val="93D2B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93D2BC"/>
                </a:solidFill>
                <a:latin typeface="Calibri"/>
                <a:cs typeface="Calibri"/>
              </a:rPr>
              <a:t>transformer</a:t>
            </a:r>
            <a:r>
              <a:rPr dirty="0" sz="1150" spc="-25">
                <a:solidFill>
                  <a:srgbClr val="93D2B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93D2BC"/>
                </a:solidFill>
                <a:latin typeface="Calibri"/>
                <a:cs typeface="Calibri"/>
              </a:rPr>
              <a:t>encoder</a:t>
            </a:r>
            <a:r>
              <a:rPr dirty="0" sz="1150" spc="-20">
                <a:solidFill>
                  <a:srgbClr val="93D2B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93D2BC"/>
                </a:solidFill>
                <a:latin typeface="Calibri"/>
                <a:cs typeface="Calibri"/>
              </a:rPr>
              <a:t>layers →</a:t>
            </a:r>
            <a:r>
              <a:rPr dirty="0" sz="1150" spc="-20">
                <a:solidFill>
                  <a:srgbClr val="93D2BC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93D2BC"/>
                </a:solidFill>
                <a:latin typeface="Calibri"/>
                <a:cs typeface="Calibri"/>
              </a:rPr>
              <a:t>mean-</a:t>
            </a:r>
            <a:r>
              <a:rPr dirty="0" sz="1150">
                <a:solidFill>
                  <a:srgbClr val="93D2BC"/>
                </a:solidFill>
                <a:latin typeface="Calibri"/>
                <a:cs typeface="Calibri"/>
              </a:rPr>
              <a:t>pooled</a:t>
            </a:r>
            <a:r>
              <a:rPr dirty="0" sz="1150" spc="-25">
                <a:solidFill>
                  <a:srgbClr val="93D2B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93D2BC"/>
                </a:solidFill>
                <a:latin typeface="Calibri"/>
                <a:cs typeface="Calibri"/>
              </a:rPr>
              <a:t>to</a:t>
            </a:r>
            <a:r>
              <a:rPr dirty="0" sz="1150" spc="-5">
                <a:solidFill>
                  <a:srgbClr val="93D2B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93D2BC"/>
                </a:solidFill>
                <a:latin typeface="Calibri"/>
                <a:cs typeface="Calibri"/>
              </a:rPr>
              <a:t>produce</a:t>
            </a:r>
            <a:r>
              <a:rPr dirty="0" sz="1150" spc="-15">
                <a:solidFill>
                  <a:srgbClr val="93D2BC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93D2BC"/>
                </a:solidFill>
                <a:latin typeface="Calibri"/>
                <a:cs typeface="Calibri"/>
              </a:rPr>
              <a:t>one</a:t>
            </a:r>
            <a:endParaRPr sz="1150">
              <a:latin typeface="Calibri"/>
              <a:cs typeface="Calibri"/>
            </a:endParaRPr>
          </a:p>
          <a:p>
            <a:pPr marL="118745">
              <a:lnSpc>
                <a:spcPct val="100000"/>
              </a:lnSpc>
              <a:spcBef>
                <a:spcPts val="5"/>
              </a:spcBef>
            </a:pPr>
            <a:r>
              <a:rPr dirty="0" sz="1150" spc="-10">
                <a:solidFill>
                  <a:srgbClr val="93D2BC"/>
                </a:solidFill>
                <a:latin typeface="Calibri"/>
                <a:cs typeface="Calibri"/>
              </a:rPr>
              <a:t>384-</a:t>
            </a:r>
            <a:r>
              <a:rPr dirty="0" sz="1150">
                <a:solidFill>
                  <a:srgbClr val="93D2BC"/>
                </a:solidFill>
                <a:latin typeface="Calibri"/>
                <a:cs typeface="Calibri"/>
              </a:rPr>
              <a:t>dim</a:t>
            </a:r>
            <a:r>
              <a:rPr dirty="0" sz="1150" spc="-5">
                <a:solidFill>
                  <a:srgbClr val="93D2BC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93D2BC"/>
                </a:solidFill>
                <a:latin typeface="Calibri"/>
                <a:cs typeface="Calibri"/>
              </a:rPr>
              <a:t>vector.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3059" y="4081360"/>
            <a:ext cx="7957820" cy="39941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5"/>
              </a:spcBef>
            </a:pPr>
            <a:r>
              <a:rPr dirty="0" sz="1200" spc="-10" i="1">
                <a:latin typeface="Calibri"/>
                <a:cs typeface="Calibri"/>
              </a:rPr>
              <a:t>Semantically</a:t>
            </a:r>
            <a:r>
              <a:rPr dirty="0" sz="1200" spc="-4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similar</a:t>
            </a:r>
            <a:r>
              <a:rPr dirty="0" sz="1200" spc="-3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chunks</a:t>
            </a:r>
            <a:r>
              <a:rPr dirty="0" sz="1200" spc="-3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produce</a:t>
            </a:r>
            <a:r>
              <a:rPr dirty="0" sz="1200" spc="-3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vectors</a:t>
            </a:r>
            <a:r>
              <a:rPr dirty="0" sz="1200" spc="-4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pointing</a:t>
            </a:r>
            <a:r>
              <a:rPr dirty="0" sz="1200" spc="-4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in</a:t>
            </a:r>
            <a:r>
              <a:rPr dirty="0" sz="1200" spc="-3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similar</a:t>
            </a:r>
            <a:r>
              <a:rPr dirty="0" sz="1200" spc="-3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directions</a:t>
            </a:r>
            <a:r>
              <a:rPr dirty="0" sz="1200" spc="-5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in</a:t>
            </a:r>
            <a:r>
              <a:rPr dirty="0" sz="1200" spc="-5" i="1">
                <a:latin typeface="Calibri"/>
                <a:cs typeface="Calibri"/>
              </a:rPr>
              <a:t> </a:t>
            </a:r>
            <a:r>
              <a:rPr dirty="0" sz="1250">
                <a:latin typeface="Cambria Math"/>
                <a:cs typeface="Cambria Math"/>
              </a:rPr>
              <a:t>ℝ</a:t>
            </a:r>
            <a:r>
              <a:rPr dirty="0" sz="1200" i="1">
                <a:latin typeface="Calibri"/>
                <a:cs typeface="Calibri"/>
              </a:rPr>
              <a:t>³⁸⁴</a:t>
            </a:r>
            <a:r>
              <a:rPr dirty="0" sz="1200" spc="-2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—</a:t>
            </a:r>
            <a:r>
              <a:rPr dirty="0" sz="1200" spc="-2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enabling</a:t>
            </a:r>
            <a:r>
              <a:rPr dirty="0" sz="1200" spc="-3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true</a:t>
            </a:r>
            <a:r>
              <a:rPr dirty="0" sz="1200" spc="-3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semantic</a:t>
            </a:r>
            <a:r>
              <a:rPr dirty="0" sz="1200" spc="-3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retrieval</a:t>
            </a:r>
            <a:r>
              <a:rPr dirty="0" sz="1200" spc="-3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regardless</a:t>
            </a:r>
            <a:r>
              <a:rPr dirty="0" sz="1200" spc="-25" i="1">
                <a:latin typeface="Calibri"/>
                <a:cs typeface="Calibri"/>
              </a:rPr>
              <a:t> of </a:t>
            </a:r>
            <a:r>
              <a:rPr dirty="0" sz="1200" i="1">
                <a:latin typeface="Calibri"/>
                <a:cs typeface="Calibri"/>
              </a:rPr>
              <a:t>specific</a:t>
            </a:r>
            <a:r>
              <a:rPr dirty="0" sz="1200" spc="-5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words</a:t>
            </a:r>
            <a:r>
              <a:rPr dirty="0" sz="1200" spc="-20" i="1">
                <a:latin typeface="Calibri"/>
                <a:cs typeface="Calibri"/>
              </a:rPr>
              <a:t> used.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7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-6350" y="-6350"/>
            <a:ext cx="9156700" cy="5156200"/>
            <a:chOff x="-6350" y="-6350"/>
            <a:chExt cx="9156700" cy="51562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91440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9144000" y="6858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D2B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0" y="685800"/>
                  </a:moveTo>
                  <a:lnTo>
                    <a:pt x="9144000" y="6858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12700">
              <a:solidFill>
                <a:srgbClr val="0D2B4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685799"/>
              <a:ext cx="109855" cy="4457700"/>
            </a:xfrm>
            <a:custGeom>
              <a:avLst/>
              <a:gdLst/>
              <a:ahLst/>
              <a:cxnLst/>
              <a:rect l="l" t="t" r="r" b="b"/>
              <a:pathLst>
                <a:path w="109855" h="4457700">
                  <a:moveTo>
                    <a:pt x="109728" y="0"/>
                  </a:moveTo>
                  <a:lnTo>
                    <a:pt x="0" y="0"/>
                  </a:lnTo>
                  <a:lnTo>
                    <a:pt x="0" y="4457700"/>
                  </a:lnTo>
                  <a:lnTo>
                    <a:pt x="109728" y="4457700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685799"/>
              <a:ext cx="109855" cy="4457700"/>
            </a:xfrm>
            <a:custGeom>
              <a:avLst/>
              <a:gdLst/>
              <a:ahLst/>
              <a:cxnLst/>
              <a:rect l="l" t="t" r="r" b="b"/>
              <a:pathLst>
                <a:path w="109855" h="4457700">
                  <a:moveTo>
                    <a:pt x="0" y="4457700"/>
                  </a:moveTo>
                  <a:lnTo>
                    <a:pt x="109728" y="4457700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4457700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–</a:t>
            </a:r>
            <a:r>
              <a:rPr dirty="0" spc="-35"/>
              <a:t> </a:t>
            </a:r>
            <a:r>
              <a:rPr dirty="0" spc="-65"/>
              <a:t>Text-</a:t>
            </a:r>
            <a:r>
              <a:rPr dirty="0" spc="-30"/>
              <a:t>to-</a:t>
            </a:r>
            <a:r>
              <a:rPr dirty="0" spc="-10"/>
              <a:t>Vector</a:t>
            </a:r>
            <a:r>
              <a:rPr dirty="0" spc="25"/>
              <a:t> </a:t>
            </a:r>
            <a:r>
              <a:rPr dirty="0"/>
              <a:t>Embedding</a:t>
            </a:r>
            <a:r>
              <a:rPr dirty="0" spc="-50"/>
              <a:t> </a:t>
            </a:r>
            <a:r>
              <a:rPr dirty="0" spc="-10"/>
              <a:t>Generation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1696783" y="994727"/>
            <a:ext cx="5750560" cy="3839845"/>
            <a:chOff x="1696783" y="994727"/>
            <a:chExt cx="5750560" cy="383984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6244" y="1004252"/>
              <a:ext cx="5731509" cy="382079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01545" y="999489"/>
              <a:ext cx="5741035" cy="3830320"/>
            </a:xfrm>
            <a:custGeom>
              <a:avLst/>
              <a:gdLst/>
              <a:ahLst/>
              <a:cxnLst/>
              <a:rect l="l" t="t" r="r" b="b"/>
              <a:pathLst>
                <a:path w="5741034" h="3830320">
                  <a:moveTo>
                    <a:pt x="0" y="3830320"/>
                  </a:moveTo>
                  <a:lnTo>
                    <a:pt x="5741034" y="3830320"/>
                  </a:lnTo>
                  <a:lnTo>
                    <a:pt x="5741034" y="0"/>
                  </a:lnTo>
                  <a:lnTo>
                    <a:pt x="0" y="0"/>
                  </a:lnTo>
                  <a:lnTo>
                    <a:pt x="0" y="383032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dirty="0" spc="-45"/>
              <a:t> </a:t>
            </a:r>
            <a:r>
              <a:rPr dirty="0"/>
              <a:t>4</a:t>
            </a:r>
            <a:r>
              <a:rPr dirty="0" spc="-50"/>
              <a:t> </a:t>
            </a:r>
            <a:r>
              <a:rPr dirty="0"/>
              <a:t>–</a:t>
            </a:r>
            <a:r>
              <a:rPr dirty="0" spc="-50"/>
              <a:t> </a:t>
            </a:r>
            <a:r>
              <a:rPr dirty="0"/>
              <a:t>Vector</a:t>
            </a:r>
            <a:r>
              <a:rPr dirty="0" spc="-25"/>
              <a:t> </a:t>
            </a:r>
            <a:r>
              <a:rPr dirty="0"/>
              <a:t>Database</a:t>
            </a:r>
            <a:r>
              <a:rPr dirty="0" spc="-20"/>
              <a:t> </a:t>
            </a:r>
            <a:r>
              <a:rPr dirty="0"/>
              <a:t>Construction</a:t>
            </a:r>
            <a:r>
              <a:rPr dirty="0" spc="-25"/>
              <a:t> </a:t>
            </a:r>
            <a:r>
              <a:rPr dirty="0"/>
              <a:t>using</a:t>
            </a:r>
            <a:r>
              <a:rPr dirty="0" spc="-60"/>
              <a:t> </a:t>
            </a:r>
            <a:r>
              <a:rPr dirty="0" spc="-10"/>
              <a:t>FAISS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667499"/>
            <a:ext cx="8756142" cy="6637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EBF8FF"/>
          </a:solidFill>
          <a:ln w="12700">
            <a:solidFill>
              <a:srgbClr val="D3E9F7"/>
            </a:solidFill>
          </a:ln>
        </p:spPr>
        <p:txBody>
          <a:bodyPr wrap="square" lIns="0" tIns="165100" rIns="0" bIns="0" rtlCol="0" vert="horz">
            <a:spAutoFit/>
          </a:bodyPr>
          <a:lstStyle/>
          <a:p>
            <a:pPr marL="274320">
              <a:lnSpc>
                <a:spcPct val="100000"/>
              </a:lnSpc>
              <a:spcBef>
                <a:spcPts val="1300"/>
              </a:spcBef>
            </a:pPr>
            <a:r>
              <a:rPr dirty="0" sz="1250" spc="-20" b="1">
                <a:solidFill>
                  <a:srgbClr val="125E89"/>
                </a:solidFill>
                <a:latin typeface="Calibri"/>
                <a:cs typeface="Calibri"/>
              </a:rPr>
              <a:t>Tool: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FAISS</a:t>
            </a:r>
            <a:r>
              <a:rPr dirty="0" sz="1250" spc="-3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(Facebook</a:t>
            </a:r>
            <a:r>
              <a:rPr dirty="0" sz="1250" spc="-2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AI</a:t>
            </a:r>
            <a:r>
              <a:rPr dirty="0" sz="1250" spc="-2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Similarity</a:t>
            </a:r>
            <a:r>
              <a:rPr dirty="0" sz="1250" spc="-3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Search)</a:t>
            </a:r>
            <a:r>
              <a:rPr dirty="0" sz="1250" spc="23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|</a:t>
            </a:r>
            <a:r>
              <a:rPr dirty="0" sz="1250" spc="229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Integrated</a:t>
            </a:r>
            <a:r>
              <a:rPr dirty="0" sz="1250" spc="-1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via</a:t>
            </a:r>
            <a:r>
              <a:rPr dirty="0" sz="1250" spc="-3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LangChain</a:t>
            </a:r>
            <a:r>
              <a:rPr dirty="0" sz="1250" spc="-2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community</a:t>
            </a:r>
            <a:r>
              <a:rPr dirty="0" sz="1250" spc="-4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vector</a:t>
            </a:r>
            <a:r>
              <a:rPr dirty="0" sz="1250" spc="-2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stores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1620" y="1425701"/>
            <a:ext cx="8525510" cy="1021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4139" marR="508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Each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document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chunk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is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passed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through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the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embedding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model,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and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the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resulting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(vector,</a:t>
            </a:r>
            <a:r>
              <a:rPr dirty="0" sz="12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text,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metadata)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triplet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is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inserted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into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an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in-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memory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FAISS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index.</a:t>
            </a:r>
            <a:r>
              <a:rPr dirty="0" sz="12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The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index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is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stored</a:t>
            </a:r>
            <a:r>
              <a:rPr dirty="0" sz="12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in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Streamlit</a:t>
            </a:r>
            <a:r>
              <a:rPr dirty="0" sz="12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session</a:t>
            </a:r>
            <a:r>
              <a:rPr dirty="0" sz="12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state,</a:t>
            </a:r>
            <a:r>
              <a:rPr dirty="0" sz="1250" spc="-6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ensuring</a:t>
            </a:r>
            <a:r>
              <a:rPr dirty="0" sz="12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subsequent</a:t>
            </a:r>
            <a:r>
              <a:rPr dirty="0" sz="12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queries</a:t>
            </a:r>
            <a:r>
              <a:rPr dirty="0" sz="12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reuse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the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same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2B45"/>
                </a:solidFill>
                <a:latin typeface="Calibri"/>
                <a:cs typeface="Calibri"/>
              </a:rPr>
              <a:t>index</a:t>
            </a:r>
            <a:r>
              <a:rPr dirty="0" sz="12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2B45"/>
                </a:solidFill>
                <a:latin typeface="Calibri"/>
                <a:cs typeface="Calibri"/>
              </a:rPr>
              <a:t>without reprocessing.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125E89"/>
                </a:solidFill>
                <a:latin typeface="Calibri"/>
                <a:cs typeface="Calibri"/>
              </a:rPr>
              <a:t>What</a:t>
            </a:r>
            <a:r>
              <a:rPr dirty="0" sz="1300" spc="-3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25E89"/>
                </a:solidFill>
                <a:latin typeface="Calibri"/>
                <a:cs typeface="Calibri"/>
              </a:rPr>
              <a:t>Each</a:t>
            </a:r>
            <a:r>
              <a:rPr dirty="0" sz="1300" spc="-3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25E89"/>
                </a:solidFill>
                <a:latin typeface="Calibri"/>
                <a:cs typeface="Calibri"/>
              </a:rPr>
              <a:t>FAISS</a:t>
            </a:r>
            <a:r>
              <a:rPr dirty="0" sz="1300" spc="-3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25E89"/>
                </a:solidFill>
                <a:latin typeface="Calibri"/>
                <a:cs typeface="Calibri"/>
              </a:rPr>
              <a:t>Entry</a:t>
            </a:r>
            <a:r>
              <a:rPr dirty="0" sz="1300" spc="-2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25E89"/>
                </a:solidFill>
                <a:latin typeface="Calibri"/>
                <a:cs typeface="Calibri"/>
              </a:rPr>
              <a:t>Contains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0500" y="2468905"/>
            <a:ext cx="8756650" cy="847090"/>
            <a:chOff x="190500" y="2468905"/>
            <a:chExt cx="8756650" cy="84709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468905"/>
              <a:ext cx="8756142" cy="84655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4319" y="2578607"/>
              <a:ext cx="8595360" cy="685800"/>
            </a:xfrm>
            <a:custGeom>
              <a:avLst/>
              <a:gdLst/>
              <a:ahLst/>
              <a:cxnLst/>
              <a:rect l="l" t="t" r="r" b="b"/>
              <a:pathLst>
                <a:path w="8595360" h="685800">
                  <a:moveTo>
                    <a:pt x="0" y="685800"/>
                  </a:moveTo>
                  <a:lnTo>
                    <a:pt x="8595360" y="685800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74319" y="2578607"/>
              <a:ext cx="109855" cy="685800"/>
            </a:xfrm>
            <a:custGeom>
              <a:avLst/>
              <a:gdLst/>
              <a:ahLst/>
              <a:cxnLst/>
              <a:rect l="l" t="t" r="r" b="b"/>
              <a:pathLst>
                <a:path w="109854" h="685800">
                  <a:moveTo>
                    <a:pt x="109728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109728" y="685800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74319" y="2578607"/>
              <a:ext cx="109855" cy="685800"/>
            </a:xfrm>
            <a:custGeom>
              <a:avLst/>
              <a:gdLst/>
              <a:ahLst/>
              <a:cxnLst/>
              <a:rect l="l" t="t" r="r" b="b"/>
              <a:pathLst>
                <a:path w="109854" h="685800">
                  <a:moveTo>
                    <a:pt x="0" y="685800"/>
                  </a:moveTo>
                  <a:lnTo>
                    <a:pt x="109728" y="685800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12699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84047" y="2578607"/>
            <a:ext cx="8486140" cy="6858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82550" rIns="0" bIns="0" rtlCol="0" vert="horz">
            <a:spAutoFit/>
          </a:bodyPr>
          <a:lstStyle/>
          <a:p>
            <a:pPr marL="118745">
              <a:lnSpc>
                <a:spcPct val="100000"/>
              </a:lnSpc>
              <a:spcBef>
                <a:spcPts val="650"/>
              </a:spcBef>
            </a:pP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1.</a:t>
            </a:r>
            <a:r>
              <a:rPr dirty="0" sz="1300" spc="-1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D2B45"/>
                </a:solidFill>
                <a:latin typeface="Calibri"/>
                <a:cs typeface="Calibri"/>
              </a:rPr>
              <a:t>384-</a:t>
            </a: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dim</a:t>
            </a:r>
            <a:r>
              <a:rPr dirty="0" sz="1300" spc="1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Dense</a:t>
            </a:r>
            <a:r>
              <a:rPr dirty="0" sz="1300" spc="-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D2B45"/>
                </a:solidFill>
                <a:latin typeface="Calibri"/>
                <a:cs typeface="Calibri"/>
              </a:rPr>
              <a:t>Vector</a:t>
            </a:r>
            <a:endParaRPr sz="1300">
              <a:latin typeface="Calibri"/>
              <a:cs typeface="Calibri"/>
            </a:endParaRPr>
          </a:p>
          <a:p>
            <a:pPr marL="118745">
              <a:lnSpc>
                <a:spcPct val="100000"/>
              </a:lnSpc>
              <a:spcBef>
                <a:spcPts val="819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numerical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embedding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representing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semantic meaning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 the </a:t>
            </a:r>
            <a:r>
              <a:rPr dirty="0" sz="1200" spc="-10">
                <a:latin typeface="Calibri"/>
                <a:cs typeface="Calibri"/>
              </a:rPr>
              <a:t>chunk.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90500" y="3246120"/>
            <a:ext cx="8756650" cy="847090"/>
            <a:chOff x="190500" y="3246120"/>
            <a:chExt cx="8756650" cy="84709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246120"/>
              <a:ext cx="8756142" cy="84655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4319" y="3355848"/>
              <a:ext cx="8595360" cy="685800"/>
            </a:xfrm>
            <a:custGeom>
              <a:avLst/>
              <a:gdLst/>
              <a:ahLst/>
              <a:cxnLst/>
              <a:rect l="l" t="t" r="r" b="b"/>
              <a:pathLst>
                <a:path w="8595360" h="685800">
                  <a:moveTo>
                    <a:pt x="0" y="685799"/>
                  </a:moveTo>
                  <a:lnTo>
                    <a:pt x="8595360" y="68579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685799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74319" y="3355848"/>
              <a:ext cx="109855" cy="685800"/>
            </a:xfrm>
            <a:custGeom>
              <a:avLst/>
              <a:gdLst/>
              <a:ahLst/>
              <a:cxnLst/>
              <a:rect l="l" t="t" r="r" b="b"/>
              <a:pathLst>
                <a:path w="109854" h="685800">
                  <a:moveTo>
                    <a:pt x="109728" y="0"/>
                  </a:moveTo>
                  <a:lnTo>
                    <a:pt x="0" y="0"/>
                  </a:lnTo>
                  <a:lnTo>
                    <a:pt x="0" y="685799"/>
                  </a:lnTo>
                  <a:lnTo>
                    <a:pt x="109728" y="685799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74319" y="3355848"/>
              <a:ext cx="109855" cy="685800"/>
            </a:xfrm>
            <a:custGeom>
              <a:avLst/>
              <a:gdLst/>
              <a:ahLst/>
              <a:cxnLst/>
              <a:rect l="l" t="t" r="r" b="b"/>
              <a:pathLst>
                <a:path w="109854" h="685800">
                  <a:moveTo>
                    <a:pt x="0" y="685799"/>
                  </a:moveTo>
                  <a:lnTo>
                    <a:pt x="109728" y="685799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685799"/>
                  </a:lnTo>
                  <a:close/>
                </a:path>
              </a:pathLst>
            </a:custGeom>
            <a:ln w="12699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84047" y="3355847"/>
            <a:ext cx="8486140" cy="685800"/>
          </a:xfrm>
          <a:prstGeom prst="rect">
            <a:avLst/>
          </a:prstGeom>
          <a:solidFill>
            <a:srgbClr val="DFF1FD"/>
          </a:solidFill>
        </p:spPr>
        <p:txBody>
          <a:bodyPr wrap="square" lIns="0" tIns="82550" rIns="0" bIns="0" rtlCol="0" vert="horz">
            <a:spAutoFit/>
          </a:bodyPr>
          <a:lstStyle/>
          <a:p>
            <a:pPr marL="118745">
              <a:lnSpc>
                <a:spcPct val="100000"/>
              </a:lnSpc>
              <a:spcBef>
                <a:spcPts val="650"/>
              </a:spcBef>
            </a:pP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2.</a:t>
            </a:r>
            <a:r>
              <a:rPr dirty="0" sz="1300" spc="-3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Original</a:t>
            </a:r>
            <a:r>
              <a:rPr dirty="0" sz="1300" spc="-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spc="-30" b="1">
                <a:solidFill>
                  <a:srgbClr val="0D2B45"/>
                </a:solidFill>
                <a:latin typeface="Calibri"/>
                <a:cs typeface="Calibri"/>
              </a:rPr>
              <a:t>Text</a:t>
            </a:r>
            <a:r>
              <a:rPr dirty="0" sz="1300" spc="-4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D2B45"/>
                </a:solidFill>
                <a:latin typeface="Calibri"/>
                <a:cs typeface="Calibri"/>
              </a:rPr>
              <a:t>Content</a:t>
            </a:r>
            <a:endParaRPr sz="1300">
              <a:latin typeface="Calibri"/>
              <a:cs typeface="Calibri"/>
            </a:endParaRPr>
          </a:p>
          <a:p>
            <a:pPr marL="118745">
              <a:lnSpc>
                <a:spcPct val="100000"/>
              </a:lnSpc>
              <a:spcBef>
                <a:spcPts val="819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chunk,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returned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alongside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score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during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retrieval.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90500" y="4023359"/>
            <a:ext cx="8756650" cy="847090"/>
            <a:chOff x="190500" y="4023359"/>
            <a:chExt cx="8756650" cy="84709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4023359"/>
              <a:ext cx="8756142" cy="84655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74319" y="4133087"/>
              <a:ext cx="8595360" cy="685800"/>
            </a:xfrm>
            <a:custGeom>
              <a:avLst/>
              <a:gdLst/>
              <a:ahLst/>
              <a:cxnLst/>
              <a:rect l="l" t="t" r="r" b="b"/>
              <a:pathLst>
                <a:path w="8595360" h="685800">
                  <a:moveTo>
                    <a:pt x="0" y="685800"/>
                  </a:moveTo>
                  <a:lnTo>
                    <a:pt x="8595360" y="685800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74319" y="4133087"/>
              <a:ext cx="109855" cy="685800"/>
            </a:xfrm>
            <a:custGeom>
              <a:avLst/>
              <a:gdLst/>
              <a:ahLst/>
              <a:cxnLst/>
              <a:rect l="l" t="t" r="r" b="b"/>
              <a:pathLst>
                <a:path w="109854" h="685800">
                  <a:moveTo>
                    <a:pt x="109728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109728" y="685800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74319" y="4133087"/>
              <a:ext cx="109855" cy="685800"/>
            </a:xfrm>
            <a:custGeom>
              <a:avLst/>
              <a:gdLst/>
              <a:ahLst/>
              <a:cxnLst/>
              <a:rect l="l" t="t" r="r" b="b"/>
              <a:pathLst>
                <a:path w="109854" h="685800">
                  <a:moveTo>
                    <a:pt x="0" y="685800"/>
                  </a:moveTo>
                  <a:lnTo>
                    <a:pt x="109728" y="685800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12699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84047" y="4133088"/>
            <a:ext cx="8486140" cy="6858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82550" rIns="0" bIns="0" rtlCol="0" vert="horz">
            <a:spAutoFit/>
          </a:bodyPr>
          <a:lstStyle/>
          <a:p>
            <a:pPr marL="118745">
              <a:lnSpc>
                <a:spcPct val="100000"/>
              </a:lnSpc>
              <a:spcBef>
                <a:spcPts val="650"/>
              </a:spcBef>
            </a:pP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3.</a:t>
            </a:r>
            <a:r>
              <a:rPr dirty="0" sz="1300" spc="-1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2B45"/>
                </a:solidFill>
                <a:latin typeface="Calibri"/>
                <a:cs typeface="Calibri"/>
              </a:rPr>
              <a:t>Page</a:t>
            </a:r>
            <a:r>
              <a:rPr dirty="0" sz="1300" spc="-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D2B45"/>
                </a:solidFill>
                <a:latin typeface="Calibri"/>
                <a:cs typeface="Calibri"/>
              </a:rPr>
              <a:t>Metadata</a:t>
            </a:r>
            <a:endParaRPr sz="1300">
              <a:latin typeface="Calibri"/>
              <a:cs typeface="Calibri"/>
            </a:endParaRPr>
          </a:p>
          <a:p>
            <a:pPr marL="118745">
              <a:lnSpc>
                <a:spcPct val="100000"/>
              </a:lnSpc>
              <a:spcBef>
                <a:spcPts val="819"/>
              </a:spcBef>
            </a:pPr>
            <a:r>
              <a:rPr dirty="0" sz="1200">
                <a:latin typeface="Calibri"/>
                <a:cs typeface="Calibri"/>
              </a:rPr>
              <a:t>Source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filename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—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presented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citations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answer.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3059" y="4804664"/>
            <a:ext cx="8322309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latin typeface="Calibri"/>
                <a:cs typeface="Calibri"/>
              </a:rPr>
              <a:t>FAISS</a:t>
            </a:r>
            <a:r>
              <a:rPr dirty="0" sz="1100" spc="-1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uses</a:t>
            </a:r>
            <a:r>
              <a:rPr dirty="0" sz="1100" spc="-2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an</a:t>
            </a:r>
            <a:r>
              <a:rPr dirty="0" sz="1100" spc="-5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Inverted</a:t>
            </a:r>
            <a:r>
              <a:rPr dirty="0" sz="1100" spc="-35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File</a:t>
            </a:r>
            <a:r>
              <a:rPr dirty="0" sz="1100" spc="-1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Index</a:t>
            </a:r>
            <a:r>
              <a:rPr dirty="0" sz="1100" spc="-1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(IVF)</a:t>
            </a:r>
            <a:r>
              <a:rPr dirty="0" sz="1100" spc="-1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with</a:t>
            </a:r>
            <a:r>
              <a:rPr dirty="0" sz="1100" spc="-1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flat</a:t>
            </a:r>
            <a:r>
              <a:rPr dirty="0" sz="1100" spc="-15" i="1">
                <a:latin typeface="Calibri"/>
                <a:cs typeface="Calibri"/>
              </a:rPr>
              <a:t> </a:t>
            </a:r>
            <a:r>
              <a:rPr dirty="0" sz="1100" spc="-10" i="1">
                <a:latin typeface="Calibri"/>
                <a:cs typeface="Calibri"/>
              </a:rPr>
              <a:t>L2/inner-product</a:t>
            </a:r>
            <a:r>
              <a:rPr dirty="0" sz="1100" spc="-5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quantization.</a:t>
            </a:r>
            <a:r>
              <a:rPr dirty="0" sz="1100" spc="-25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For</a:t>
            </a:r>
            <a:r>
              <a:rPr dirty="0" sz="1100" spc="-5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typical</a:t>
            </a:r>
            <a:r>
              <a:rPr dirty="0" sz="1100" spc="-25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academic PDFs,</a:t>
            </a:r>
            <a:r>
              <a:rPr dirty="0" sz="1100" spc="-35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an</a:t>
            </a:r>
            <a:r>
              <a:rPr dirty="0" sz="1100" spc="-5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exact</a:t>
            </a:r>
            <a:r>
              <a:rPr dirty="0" sz="1100" spc="-2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flat</a:t>
            </a:r>
            <a:r>
              <a:rPr dirty="0" sz="1100" spc="-2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index </a:t>
            </a:r>
            <a:r>
              <a:rPr dirty="0" sz="1100" spc="-10" i="1">
                <a:latin typeface="Calibri"/>
                <a:cs typeface="Calibri"/>
              </a:rPr>
              <a:t>(IndexFlatIP)</a:t>
            </a:r>
            <a:r>
              <a:rPr dirty="0" sz="1100" spc="-35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is</a:t>
            </a:r>
            <a:r>
              <a:rPr dirty="0" sz="1100" spc="-1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used</a:t>
            </a:r>
            <a:r>
              <a:rPr dirty="0" sz="1100" spc="-20" i="1">
                <a:latin typeface="Calibri"/>
                <a:cs typeface="Calibri"/>
              </a:rPr>
              <a:t> </a:t>
            </a:r>
            <a:r>
              <a:rPr dirty="0" sz="1100" spc="-50" i="1">
                <a:latin typeface="Calibri"/>
                <a:cs typeface="Calibri"/>
              </a:rPr>
              <a:t>—</a:t>
            </a:r>
            <a:r>
              <a:rPr dirty="0" sz="1100" spc="-10" i="1">
                <a:latin typeface="Calibri"/>
                <a:cs typeface="Calibri"/>
              </a:rPr>
              <a:t> guaranteeing</a:t>
            </a:r>
            <a:r>
              <a:rPr dirty="0" sz="1100" spc="-35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that</a:t>
            </a:r>
            <a:r>
              <a:rPr dirty="0" sz="1100" spc="-1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the</a:t>
            </a:r>
            <a:r>
              <a:rPr dirty="0" sz="1100" spc="-15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retrieved</a:t>
            </a:r>
            <a:r>
              <a:rPr dirty="0" sz="1100" spc="-30" i="1">
                <a:latin typeface="Calibri"/>
                <a:cs typeface="Calibri"/>
              </a:rPr>
              <a:t> </a:t>
            </a:r>
            <a:r>
              <a:rPr dirty="0" sz="1100" spc="-10" i="1">
                <a:latin typeface="Calibri"/>
                <a:cs typeface="Calibri"/>
              </a:rPr>
              <a:t>top-</a:t>
            </a:r>
            <a:r>
              <a:rPr dirty="0" sz="1100" i="1">
                <a:latin typeface="Calibri"/>
                <a:cs typeface="Calibri"/>
              </a:rPr>
              <a:t>K</a:t>
            </a:r>
            <a:r>
              <a:rPr dirty="0" sz="1100" spc="-1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results</a:t>
            </a:r>
            <a:r>
              <a:rPr dirty="0" sz="1100" spc="-25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are the</a:t>
            </a:r>
            <a:r>
              <a:rPr dirty="0" sz="1100" spc="-2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true</a:t>
            </a:r>
            <a:r>
              <a:rPr dirty="0" sz="1100" spc="-1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globally</a:t>
            </a:r>
            <a:r>
              <a:rPr dirty="0" sz="1100" spc="-5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nearest</a:t>
            </a:r>
            <a:r>
              <a:rPr dirty="0" sz="1100" spc="-20" i="1">
                <a:latin typeface="Calibri"/>
                <a:cs typeface="Calibri"/>
              </a:rPr>
              <a:t> </a:t>
            </a:r>
            <a:r>
              <a:rPr dirty="0" sz="1100" spc="-10" i="1">
                <a:latin typeface="Calibri"/>
                <a:cs typeface="Calibri"/>
              </a:rPr>
              <a:t>neighbours.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dirty="0" spc="-40"/>
              <a:t> </a:t>
            </a:r>
            <a:r>
              <a:rPr dirty="0"/>
              <a:t>5</a:t>
            </a:r>
            <a:r>
              <a:rPr dirty="0" spc="-40"/>
              <a:t> </a:t>
            </a:r>
            <a:r>
              <a:rPr dirty="0"/>
              <a:t>–</a:t>
            </a:r>
            <a:r>
              <a:rPr dirty="0" spc="-50"/>
              <a:t> </a:t>
            </a:r>
            <a:r>
              <a:rPr dirty="0"/>
              <a:t>Query</a:t>
            </a:r>
            <a:r>
              <a:rPr dirty="0" spc="-45"/>
              <a:t> </a:t>
            </a:r>
            <a:r>
              <a:rPr dirty="0"/>
              <a:t>Processing</a:t>
            </a:r>
            <a:r>
              <a:rPr dirty="0" spc="-25"/>
              <a:t> </a:t>
            </a:r>
            <a:r>
              <a:rPr dirty="0"/>
              <a:t>&amp;</a:t>
            </a:r>
            <a:r>
              <a:rPr dirty="0" spc="-45"/>
              <a:t> </a:t>
            </a:r>
            <a:r>
              <a:rPr dirty="0"/>
              <a:t>Semantic</a:t>
            </a:r>
            <a:r>
              <a:rPr dirty="0" spc="-35"/>
              <a:t> </a:t>
            </a:r>
            <a:r>
              <a:rPr dirty="0"/>
              <a:t>Similarity</a:t>
            </a:r>
            <a:r>
              <a:rPr dirty="0" spc="-45"/>
              <a:t> </a:t>
            </a:r>
            <a:r>
              <a:rPr dirty="0" spc="-1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059" y="1139697"/>
            <a:ext cx="397256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Single-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word</a:t>
            </a:r>
            <a:r>
              <a:rPr dirty="0" sz="120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queries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are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automatically</a:t>
            </a:r>
            <a:r>
              <a:rPr dirty="0" sz="120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expanded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into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grammatically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complete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questions</a:t>
            </a:r>
            <a:r>
              <a:rPr dirty="0" sz="120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(e.g.,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"joins"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→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"What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are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joins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in</a:t>
            </a:r>
            <a:r>
              <a:rPr dirty="0" sz="120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SQL?").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This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normalization</a:t>
            </a:r>
            <a:r>
              <a:rPr dirty="0" sz="1200" spc="-5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ensures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short</a:t>
            </a:r>
            <a:r>
              <a:rPr dirty="0" sz="120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queries</a:t>
            </a:r>
            <a:r>
              <a:rPr dirty="0" sz="120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map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to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a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richer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region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in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vector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 space.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059" y="2013330"/>
            <a:ext cx="393954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The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normalized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query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is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embedded</a:t>
            </a:r>
            <a:r>
              <a:rPr dirty="0" sz="120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with the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same all-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MiniLM-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L6-v2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model</a:t>
            </a:r>
            <a:r>
              <a:rPr dirty="0" sz="1200" spc="-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—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producing</a:t>
            </a:r>
            <a:r>
              <a:rPr dirty="0" sz="120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a</a:t>
            </a:r>
            <a:r>
              <a:rPr dirty="0" sz="1200" spc="-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query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vector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Q</a:t>
            </a:r>
            <a:r>
              <a:rPr dirty="0" sz="1200" spc="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mbria Math"/>
                <a:cs typeface="Cambria Math"/>
              </a:rPr>
              <a:t>∈</a:t>
            </a:r>
            <a:r>
              <a:rPr dirty="0" sz="1200" spc="-5">
                <a:solidFill>
                  <a:srgbClr val="0D2B45"/>
                </a:solidFill>
                <a:latin typeface="Cambria Math"/>
                <a:cs typeface="Cambria Math"/>
              </a:rPr>
              <a:t> </a:t>
            </a:r>
            <a:r>
              <a:rPr dirty="0" sz="1200">
                <a:solidFill>
                  <a:srgbClr val="0D2B45"/>
                </a:solidFill>
                <a:latin typeface="Cambria Math"/>
                <a:cs typeface="Cambria Math"/>
              </a:rPr>
              <a:t>ℝ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³⁸⁴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representing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the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semantic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intent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of the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question.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17720" y="777240"/>
            <a:ext cx="0" cy="4114800"/>
          </a:xfrm>
          <a:custGeom>
            <a:avLst/>
            <a:gdLst/>
            <a:ahLst/>
            <a:cxnLst/>
            <a:rect l="l" t="t" r="r" b="b"/>
            <a:pathLst>
              <a:path w="0" h="4114800">
                <a:moveTo>
                  <a:pt x="0" y="0"/>
                </a:moveTo>
                <a:lnTo>
                  <a:pt x="0" y="4114800"/>
                </a:lnTo>
              </a:path>
            </a:pathLst>
          </a:custGeom>
          <a:ln w="19050">
            <a:solidFill>
              <a:srgbClr val="93D2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61620" y="800176"/>
            <a:ext cx="6323330" cy="233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493260" algn="l"/>
              </a:tabLst>
            </a:pPr>
            <a:r>
              <a:rPr dirty="0" sz="1350" b="1">
                <a:solidFill>
                  <a:srgbClr val="125E89"/>
                </a:solidFill>
                <a:latin typeface="Calibri"/>
                <a:cs typeface="Calibri"/>
              </a:rPr>
              <a:t>Query</a:t>
            </a:r>
            <a:r>
              <a:rPr dirty="0" sz="1350" spc="1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125E89"/>
                </a:solidFill>
                <a:latin typeface="Calibri"/>
                <a:cs typeface="Calibri"/>
              </a:rPr>
              <a:t>Pre-Processing</a:t>
            </a:r>
            <a:r>
              <a:rPr dirty="0" sz="1350" b="1">
                <a:solidFill>
                  <a:srgbClr val="125E89"/>
                </a:solidFill>
                <a:latin typeface="Calibri"/>
                <a:cs typeface="Calibri"/>
              </a:rPr>
              <a:t>	Cosine</a:t>
            </a:r>
            <a:r>
              <a:rPr dirty="0" sz="1350" spc="-4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125E89"/>
                </a:solidFill>
                <a:latin typeface="Calibri"/>
                <a:cs typeface="Calibri"/>
              </a:rPr>
              <a:t>Similarity</a:t>
            </a:r>
            <a:r>
              <a:rPr dirty="0" sz="1350" spc="-3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125E89"/>
                </a:solidFill>
                <a:latin typeface="Calibri"/>
                <a:cs typeface="Calibri"/>
              </a:rPr>
              <a:t>Formula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1059" y="1005878"/>
            <a:ext cx="4321301" cy="98522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754879" y="1115567"/>
            <a:ext cx="4160520" cy="822960"/>
          </a:xfrm>
          <a:prstGeom prst="rect">
            <a:avLst/>
          </a:prstGeom>
          <a:solidFill>
            <a:srgbClr val="1E2760"/>
          </a:solidFill>
          <a:ln w="12700">
            <a:solidFill>
              <a:srgbClr val="D3E9F7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 sz="1500">
              <a:latin typeface="Times New Roman"/>
              <a:cs typeface="Times New Roman"/>
            </a:endParaRPr>
          </a:p>
          <a:p>
            <a:pPr marL="137795">
              <a:lnSpc>
                <a:spcPct val="100000"/>
              </a:lnSpc>
            </a:pP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cos(A,</a:t>
            </a:r>
            <a:r>
              <a:rPr dirty="0" sz="15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B)</a:t>
            </a:r>
            <a:r>
              <a:rPr dirty="0" sz="1500" spc="3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dirty="0" sz="1500" spc="3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(A</a:t>
            </a:r>
            <a:r>
              <a:rPr dirty="0" sz="15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dirty="0" sz="15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B)</a:t>
            </a:r>
            <a:r>
              <a:rPr dirty="0" sz="15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15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(‖A‖</a:t>
            </a:r>
            <a:r>
              <a:rPr dirty="0" sz="15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×</a:t>
            </a:r>
            <a:r>
              <a:rPr dirty="0" sz="15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libri"/>
                <a:cs typeface="Calibri"/>
              </a:rPr>
              <a:t>‖B‖)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34254" y="2002663"/>
            <a:ext cx="385826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Score</a:t>
            </a:r>
            <a:r>
              <a:rPr dirty="0" sz="115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range</a:t>
            </a:r>
            <a:r>
              <a:rPr dirty="0" sz="115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[0,</a:t>
            </a:r>
            <a:r>
              <a:rPr dirty="0" sz="115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1]:</a:t>
            </a:r>
            <a:r>
              <a:rPr dirty="0" sz="115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1</a:t>
            </a:r>
            <a:r>
              <a:rPr dirty="0" sz="1150" spc="-1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=</a:t>
            </a:r>
            <a:r>
              <a:rPr dirty="0" sz="1150" spc="-1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perfect</a:t>
            </a:r>
            <a:r>
              <a:rPr dirty="0" sz="115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semantic</a:t>
            </a:r>
            <a:r>
              <a:rPr dirty="0" sz="1150" spc="-3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match,</a:t>
            </a:r>
            <a:r>
              <a:rPr dirty="0" sz="1150" spc="-25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~0</a:t>
            </a:r>
            <a:r>
              <a:rPr dirty="0" sz="115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3748A"/>
                </a:solidFill>
                <a:latin typeface="Calibri"/>
                <a:cs typeface="Calibri"/>
              </a:rPr>
              <a:t>=</a:t>
            </a:r>
            <a:r>
              <a:rPr dirty="0" sz="1150" spc="-2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3748A"/>
                </a:solidFill>
                <a:latin typeface="Calibri"/>
                <a:cs typeface="Calibri"/>
              </a:rPr>
              <a:t>semantically unrelated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1620" y="2812491"/>
            <a:ext cx="4112895" cy="193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 b="1">
                <a:solidFill>
                  <a:srgbClr val="125E89"/>
                </a:solidFill>
                <a:latin typeface="Calibri"/>
                <a:cs typeface="Calibri"/>
              </a:rPr>
              <a:t>6-</a:t>
            </a:r>
            <a:r>
              <a:rPr dirty="0" sz="1350" b="1">
                <a:solidFill>
                  <a:srgbClr val="125E89"/>
                </a:solidFill>
                <a:latin typeface="Calibri"/>
                <a:cs typeface="Calibri"/>
              </a:rPr>
              <a:t>Step</a:t>
            </a:r>
            <a:r>
              <a:rPr dirty="0" sz="1350" spc="-3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125E89"/>
                </a:solidFill>
                <a:latin typeface="Calibri"/>
                <a:cs typeface="Calibri"/>
              </a:rPr>
              <a:t>Retrieval</a:t>
            </a:r>
            <a:r>
              <a:rPr dirty="0" sz="1350" spc="-3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125E89"/>
                </a:solidFill>
                <a:latin typeface="Calibri"/>
                <a:cs typeface="Calibri"/>
              </a:rPr>
              <a:t>Process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1350">
              <a:latin typeface="Calibri"/>
              <a:cs typeface="Calibri"/>
            </a:endParaRPr>
          </a:p>
          <a:p>
            <a:pPr marL="254000" indent="-149860">
              <a:lnSpc>
                <a:spcPct val="100000"/>
              </a:lnSpc>
              <a:buAutoNum type="arabicPeriod"/>
              <a:tabLst>
                <a:tab pos="254000" algn="l"/>
              </a:tabLst>
            </a:pP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Query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Embedding</a:t>
            </a:r>
            <a:r>
              <a:rPr dirty="0" sz="1200" spc="-5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→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384-dim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vector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0D2B45"/>
                </a:solidFill>
                <a:latin typeface="Calibri"/>
                <a:cs typeface="Calibri"/>
              </a:rPr>
              <a:t>Q</a:t>
            </a:r>
            <a:endParaRPr sz="1200">
              <a:latin typeface="Calibri"/>
              <a:cs typeface="Calibri"/>
            </a:endParaRPr>
          </a:p>
          <a:p>
            <a:pPr marL="254000" indent="-14986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254000" algn="l"/>
              </a:tabLst>
            </a:pP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Vector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Comparison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→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FAISS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compares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Q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to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all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stored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vectors</a:t>
            </a:r>
            <a:endParaRPr sz="1200">
              <a:latin typeface="Calibri"/>
              <a:cs typeface="Calibri"/>
            </a:endParaRPr>
          </a:p>
          <a:p>
            <a:pPr marL="254000" indent="-14986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254000" algn="l"/>
              </a:tabLst>
            </a:pP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Score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Computation</a:t>
            </a:r>
            <a:r>
              <a:rPr dirty="0" sz="1200" spc="-5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→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cosine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score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per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chunk</a:t>
            </a:r>
            <a:endParaRPr sz="1200">
              <a:latin typeface="Calibri"/>
              <a:cs typeface="Calibri"/>
            </a:endParaRPr>
          </a:p>
          <a:p>
            <a:pPr marL="254000" indent="-149860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254000" algn="l"/>
              </a:tabLst>
            </a:pP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Ranking</a:t>
            </a:r>
            <a:r>
              <a:rPr dirty="0" sz="120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→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sort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all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chunks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by</a:t>
            </a:r>
            <a:r>
              <a:rPr dirty="0" sz="1200" spc="-4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score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 descending</a:t>
            </a:r>
            <a:endParaRPr sz="1200">
              <a:latin typeface="Calibri"/>
              <a:cs typeface="Calibri"/>
            </a:endParaRPr>
          </a:p>
          <a:p>
            <a:pPr marL="254000" indent="-14986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254000" algn="l"/>
              </a:tabLst>
            </a:pPr>
            <a:r>
              <a:rPr dirty="0" sz="1200" spc="-35">
                <a:solidFill>
                  <a:srgbClr val="0D2B45"/>
                </a:solidFill>
                <a:latin typeface="Calibri"/>
                <a:cs typeface="Calibri"/>
              </a:rPr>
              <a:t>Top-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K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Selection</a:t>
            </a:r>
            <a:r>
              <a:rPr dirty="0" sz="1200" spc="1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→</a:t>
            </a:r>
            <a:r>
              <a:rPr dirty="0" sz="1200" spc="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retrieve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top</a:t>
            </a:r>
            <a:r>
              <a:rPr dirty="0" sz="1200" spc="1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K=5</a:t>
            </a:r>
            <a:r>
              <a:rPr dirty="0" sz="1200" spc="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highest-scoring</a:t>
            </a:r>
            <a:r>
              <a:rPr dirty="0" sz="120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chunks</a:t>
            </a:r>
            <a:endParaRPr sz="1200">
              <a:latin typeface="Calibri"/>
              <a:cs typeface="Calibri"/>
            </a:endParaRPr>
          </a:p>
          <a:p>
            <a:pPr marL="254000" indent="-14986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254000" algn="l"/>
              </a:tabLst>
            </a:pP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Relevance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Filtering</a:t>
            </a:r>
            <a:r>
              <a:rPr dirty="0" sz="1200" spc="-5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→</a:t>
            </a:r>
            <a:r>
              <a:rPr dirty="0" sz="120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retain</a:t>
            </a:r>
            <a:r>
              <a:rPr dirty="0" sz="120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chunks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with</a:t>
            </a:r>
            <a:r>
              <a:rPr dirty="0" sz="120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score</a:t>
            </a:r>
            <a:r>
              <a:rPr dirty="0" sz="1200" spc="-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&lt;</a:t>
            </a:r>
            <a:r>
              <a:rPr dirty="0" sz="120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D2B45"/>
                </a:solidFill>
                <a:latin typeface="Calibri"/>
                <a:cs typeface="Calibri"/>
              </a:rPr>
              <a:t>0.8</a:t>
            </a:r>
            <a:r>
              <a:rPr dirty="0" sz="120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D2B45"/>
                </a:solidFill>
                <a:latin typeface="Calibri"/>
                <a:cs typeface="Calibri"/>
              </a:rPr>
              <a:t>threshold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55146" y="2395324"/>
            <a:ext cx="4024629" cy="2689225"/>
            <a:chOff x="4855146" y="2395324"/>
            <a:chExt cx="4024629" cy="268922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64608" y="2404847"/>
              <a:ext cx="4005072" cy="266992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859909" y="2400086"/>
              <a:ext cx="4015104" cy="2679700"/>
            </a:xfrm>
            <a:custGeom>
              <a:avLst/>
              <a:gdLst/>
              <a:ahLst/>
              <a:cxnLst/>
              <a:rect l="l" t="t" r="r" b="b"/>
              <a:pathLst>
                <a:path w="4015104" h="2679700">
                  <a:moveTo>
                    <a:pt x="0" y="2679446"/>
                  </a:moveTo>
                  <a:lnTo>
                    <a:pt x="4014596" y="2679446"/>
                  </a:lnTo>
                  <a:lnTo>
                    <a:pt x="4014596" y="0"/>
                  </a:lnTo>
                  <a:lnTo>
                    <a:pt x="0" y="0"/>
                  </a:lnTo>
                  <a:lnTo>
                    <a:pt x="0" y="2679446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dirty="0" spc="-55"/>
              <a:t> </a:t>
            </a:r>
            <a:r>
              <a:rPr dirty="0"/>
              <a:t>6</a:t>
            </a:r>
            <a:r>
              <a:rPr dirty="0" spc="-50"/>
              <a:t> </a:t>
            </a:r>
            <a:r>
              <a:rPr dirty="0"/>
              <a:t>–</a:t>
            </a:r>
            <a:r>
              <a:rPr dirty="0" spc="-60"/>
              <a:t> </a:t>
            </a:r>
            <a:r>
              <a:rPr dirty="0"/>
              <a:t>Context</a:t>
            </a:r>
            <a:r>
              <a:rPr dirty="0" spc="-35"/>
              <a:t> </a:t>
            </a:r>
            <a:r>
              <a:rPr dirty="0"/>
              <a:t>Construction</a:t>
            </a:r>
            <a:r>
              <a:rPr dirty="0" spc="-30"/>
              <a:t> </a:t>
            </a:r>
            <a:r>
              <a:rPr dirty="0"/>
              <a:t>&amp;</a:t>
            </a:r>
            <a:r>
              <a:rPr dirty="0" spc="-65"/>
              <a:t> </a:t>
            </a:r>
            <a:r>
              <a:rPr dirty="0"/>
              <a:t>LLM</a:t>
            </a:r>
            <a:r>
              <a:rPr dirty="0" spc="-55"/>
              <a:t> </a:t>
            </a:r>
            <a:r>
              <a:rPr dirty="0"/>
              <a:t>Response</a:t>
            </a:r>
            <a:r>
              <a:rPr dirty="0" spc="-40"/>
              <a:t> </a:t>
            </a:r>
            <a:r>
              <a:rPr dirty="0" spc="-10"/>
              <a:t>Generation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667537"/>
            <a:ext cx="8756142" cy="7093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solidFill>
            <a:srgbClr val="EBF8FF"/>
          </a:solidFill>
          <a:ln w="12700">
            <a:solidFill>
              <a:srgbClr val="D3E9F7"/>
            </a:solidFill>
          </a:ln>
        </p:spPr>
        <p:txBody>
          <a:bodyPr wrap="square" lIns="0" tIns="179070" rIns="0" bIns="0" rtlCol="0" vert="horz">
            <a:spAutoFit/>
          </a:bodyPr>
          <a:lstStyle/>
          <a:p>
            <a:pPr marL="274320">
              <a:lnSpc>
                <a:spcPct val="100000"/>
              </a:lnSpc>
              <a:spcBef>
                <a:spcPts val="1410"/>
              </a:spcBef>
            </a:pP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Model:</a:t>
            </a:r>
            <a:r>
              <a:rPr dirty="0" sz="1250" spc="-2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Qwen2-1.5B-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Instruct</a:t>
            </a:r>
            <a:r>
              <a:rPr dirty="0" sz="1250" spc="3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(Alibaba</a:t>
            </a:r>
            <a:r>
              <a:rPr dirty="0" sz="1250" spc="-1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Cloud)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via</a:t>
            </a:r>
            <a:r>
              <a:rPr dirty="0" sz="1250" spc="-2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OllamaLLM</a:t>
            </a:r>
            <a:r>
              <a:rPr dirty="0" sz="1250" spc="254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|</a:t>
            </a:r>
            <a:r>
              <a:rPr dirty="0" sz="1250" spc="27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1.5</a:t>
            </a:r>
            <a:r>
              <a:rPr dirty="0" sz="1250" spc="-1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Billion</a:t>
            </a:r>
            <a:r>
              <a:rPr dirty="0" sz="1250" spc="-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Parameters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1620" y="1459229"/>
            <a:ext cx="125412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125E89"/>
                </a:solidFill>
                <a:latin typeface="Calibri"/>
                <a:cs typeface="Calibri"/>
              </a:rPr>
              <a:t>Prompt</a:t>
            </a:r>
            <a:r>
              <a:rPr dirty="0" sz="1350" spc="-6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125E89"/>
                </a:solidFill>
                <a:latin typeface="Calibri"/>
                <a:cs typeface="Calibri"/>
              </a:rPr>
              <a:t>Template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0500" y="1655038"/>
            <a:ext cx="8756650" cy="1168400"/>
            <a:chOff x="190500" y="1655038"/>
            <a:chExt cx="8756650" cy="11684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1655038"/>
              <a:ext cx="8756142" cy="116817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4319" y="1764791"/>
              <a:ext cx="8595360" cy="1005840"/>
            </a:xfrm>
            <a:custGeom>
              <a:avLst/>
              <a:gdLst/>
              <a:ahLst/>
              <a:cxnLst/>
              <a:rect l="l" t="t" r="r" b="b"/>
              <a:pathLst>
                <a:path w="8595360" h="1005839">
                  <a:moveTo>
                    <a:pt x="0" y="1005840"/>
                  </a:moveTo>
                  <a:lnTo>
                    <a:pt x="8595360" y="1005840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005840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74319" y="1764791"/>
              <a:ext cx="109855" cy="1005840"/>
            </a:xfrm>
            <a:custGeom>
              <a:avLst/>
              <a:gdLst/>
              <a:ahLst/>
              <a:cxnLst/>
              <a:rect l="l" t="t" r="r" b="b"/>
              <a:pathLst>
                <a:path w="109854" h="1005839">
                  <a:moveTo>
                    <a:pt x="109728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109728" y="1005840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ED9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74319" y="1764791"/>
              <a:ext cx="109855" cy="1005840"/>
            </a:xfrm>
            <a:custGeom>
              <a:avLst/>
              <a:gdLst/>
              <a:ahLst/>
              <a:cxnLst/>
              <a:rect l="l" t="t" r="r" b="b"/>
              <a:pathLst>
                <a:path w="109854" h="1005839">
                  <a:moveTo>
                    <a:pt x="0" y="1005840"/>
                  </a:moveTo>
                  <a:lnTo>
                    <a:pt x="109728" y="1005840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005840"/>
                  </a:lnTo>
                  <a:close/>
                </a:path>
              </a:pathLst>
            </a:custGeom>
            <a:ln w="12700">
              <a:solidFill>
                <a:srgbClr val="ED9B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84047" y="1764792"/>
            <a:ext cx="8486140" cy="1005840"/>
          </a:xfrm>
          <a:prstGeom prst="rect">
            <a:avLst/>
          </a:prstGeom>
          <a:solidFill>
            <a:srgbClr val="1E2760"/>
          </a:solidFill>
        </p:spPr>
        <p:txBody>
          <a:bodyPr wrap="square" lIns="0" tIns="0" rIns="0" bIns="0" rtlCol="0" vert="horz">
            <a:spAutoFit/>
          </a:bodyPr>
          <a:lstStyle/>
          <a:p>
            <a:pPr marL="210185">
              <a:lnSpc>
                <a:spcPts val="1370"/>
              </a:lnSpc>
            </a:pPr>
            <a:r>
              <a:rPr dirty="0" sz="1300" i="1">
                <a:solidFill>
                  <a:srgbClr val="FFFFFF"/>
                </a:solidFill>
                <a:latin typeface="Consolas"/>
                <a:cs typeface="Consolas"/>
              </a:rPr>
              <a:t>"Answer</a:t>
            </a:r>
            <a:r>
              <a:rPr dirty="0" sz="1300" spc="-30" i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300" i="1">
                <a:solidFill>
                  <a:srgbClr val="FFFFFF"/>
                </a:solidFill>
                <a:latin typeface="Consolas"/>
                <a:cs typeface="Consolas"/>
              </a:rPr>
              <a:t>ONLY</a:t>
            </a:r>
            <a:r>
              <a:rPr dirty="0" sz="1300" spc="-10" i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300" i="1">
                <a:solidFill>
                  <a:srgbClr val="FFFFFF"/>
                </a:solidFill>
                <a:latin typeface="Consolas"/>
                <a:cs typeface="Consolas"/>
              </a:rPr>
              <a:t>from</a:t>
            </a:r>
            <a:r>
              <a:rPr dirty="0" sz="1300" spc="-10" i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300" i="1">
                <a:solidFill>
                  <a:srgbClr val="FFFFFF"/>
                </a:solidFill>
                <a:latin typeface="Consolas"/>
                <a:cs typeface="Consolas"/>
              </a:rPr>
              <a:t>the</a:t>
            </a:r>
            <a:r>
              <a:rPr dirty="0" sz="1300" spc="-10" i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300" i="1">
                <a:solidFill>
                  <a:srgbClr val="FFFFFF"/>
                </a:solidFill>
                <a:latin typeface="Consolas"/>
                <a:cs typeface="Consolas"/>
              </a:rPr>
              <a:t>context.</a:t>
            </a:r>
            <a:r>
              <a:rPr dirty="0" sz="1300" spc="-10" i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300" i="1">
                <a:solidFill>
                  <a:srgbClr val="FFFFFF"/>
                </a:solidFill>
                <a:latin typeface="Consolas"/>
                <a:cs typeface="Consolas"/>
              </a:rPr>
              <a:t>If</a:t>
            </a:r>
            <a:r>
              <a:rPr dirty="0" sz="1300" spc="-10" i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300" i="1">
                <a:solidFill>
                  <a:srgbClr val="FFFFFF"/>
                </a:solidFill>
                <a:latin typeface="Consolas"/>
                <a:cs typeface="Consolas"/>
              </a:rPr>
              <a:t>not</a:t>
            </a:r>
            <a:r>
              <a:rPr dirty="0" sz="1300" spc="-10" i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300" i="1">
                <a:solidFill>
                  <a:srgbClr val="FFFFFF"/>
                </a:solidFill>
                <a:latin typeface="Consolas"/>
                <a:cs typeface="Consolas"/>
              </a:rPr>
              <a:t>found,</a:t>
            </a:r>
            <a:r>
              <a:rPr dirty="0" sz="1300" spc="-15" i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300" i="1">
                <a:solidFill>
                  <a:srgbClr val="FFFFFF"/>
                </a:solidFill>
                <a:latin typeface="Consolas"/>
                <a:cs typeface="Consolas"/>
              </a:rPr>
              <a:t>say:</a:t>
            </a:r>
            <a:r>
              <a:rPr dirty="0" sz="1300" spc="-20" i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300" i="1">
                <a:solidFill>
                  <a:srgbClr val="FFFFFF"/>
                </a:solidFill>
                <a:latin typeface="Consolas"/>
                <a:cs typeface="Consolas"/>
              </a:rPr>
              <a:t>Answer</a:t>
            </a:r>
            <a:r>
              <a:rPr dirty="0" sz="1300" spc="-10" i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300" i="1">
                <a:solidFill>
                  <a:srgbClr val="FFFFFF"/>
                </a:solidFill>
                <a:latin typeface="Consolas"/>
                <a:cs typeface="Consolas"/>
              </a:rPr>
              <a:t>not</a:t>
            </a:r>
            <a:r>
              <a:rPr dirty="0" sz="1300" spc="-10" i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300" i="1">
                <a:solidFill>
                  <a:srgbClr val="FFFFFF"/>
                </a:solidFill>
                <a:latin typeface="Consolas"/>
                <a:cs typeface="Consolas"/>
              </a:rPr>
              <a:t>found</a:t>
            </a:r>
            <a:r>
              <a:rPr dirty="0" sz="1300" spc="-20" i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300" i="1">
                <a:solidFill>
                  <a:srgbClr val="FFFFFF"/>
                </a:solidFill>
                <a:latin typeface="Consolas"/>
                <a:cs typeface="Consolas"/>
              </a:rPr>
              <a:t>in</a:t>
            </a:r>
            <a:r>
              <a:rPr dirty="0" sz="1300" spc="-20" i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300" i="1">
                <a:solidFill>
                  <a:srgbClr val="FFFFFF"/>
                </a:solidFill>
                <a:latin typeface="Consolas"/>
                <a:cs typeface="Consolas"/>
              </a:rPr>
              <a:t>the</a:t>
            </a:r>
            <a:r>
              <a:rPr dirty="0" sz="1300" spc="-5" i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300" spc="-10" i="1">
                <a:solidFill>
                  <a:srgbClr val="FFFFFF"/>
                </a:solidFill>
                <a:latin typeface="Consolas"/>
                <a:cs typeface="Consolas"/>
              </a:rPr>
              <a:t>uploaded</a:t>
            </a:r>
            <a:endParaRPr sz="1300">
              <a:latin typeface="Consolas"/>
              <a:cs typeface="Consolas"/>
            </a:endParaRPr>
          </a:p>
          <a:p>
            <a:pPr marL="210185">
              <a:lnSpc>
                <a:spcPct val="100000"/>
              </a:lnSpc>
            </a:pPr>
            <a:r>
              <a:rPr dirty="0" sz="1300" spc="-10" i="1">
                <a:solidFill>
                  <a:srgbClr val="FFFFFF"/>
                </a:solidFill>
                <a:latin typeface="Consolas"/>
                <a:cs typeface="Consolas"/>
              </a:rPr>
              <a:t>document.</a:t>
            </a:r>
            <a:endParaRPr sz="1300">
              <a:latin typeface="Consolas"/>
              <a:cs typeface="Consolas"/>
            </a:endParaRPr>
          </a:p>
          <a:p>
            <a:pPr marL="210185" marR="5826760">
              <a:lnSpc>
                <a:spcPct val="100000"/>
              </a:lnSpc>
            </a:pPr>
            <a:r>
              <a:rPr dirty="0" sz="1300" i="1">
                <a:solidFill>
                  <a:srgbClr val="FFFFFF"/>
                </a:solidFill>
                <a:latin typeface="Consolas"/>
                <a:cs typeface="Consolas"/>
              </a:rPr>
              <a:t>Context:</a:t>
            </a:r>
            <a:r>
              <a:rPr dirty="0" sz="1300" spc="-20" i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300" spc="-10" i="1">
                <a:solidFill>
                  <a:srgbClr val="FFFFFF"/>
                </a:solidFill>
                <a:latin typeface="Consolas"/>
                <a:cs typeface="Consolas"/>
              </a:rPr>
              <a:t>{retrieved_chunks} </a:t>
            </a:r>
            <a:r>
              <a:rPr dirty="0" sz="1300" i="1">
                <a:solidFill>
                  <a:srgbClr val="FFFFFF"/>
                </a:solidFill>
                <a:latin typeface="Consolas"/>
                <a:cs typeface="Consolas"/>
              </a:rPr>
              <a:t>Question:</a:t>
            </a:r>
            <a:r>
              <a:rPr dirty="0" sz="1300" spc="-25" i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300" spc="-10" i="1">
                <a:solidFill>
                  <a:srgbClr val="FFFFFF"/>
                </a:solidFill>
                <a:latin typeface="Consolas"/>
                <a:cs typeface="Consolas"/>
              </a:rPr>
              <a:t>{user_query} Answer:"</a:t>
            </a:r>
            <a:endParaRPr sz="1300">
              <a:latin typeface="Consolas"/>
              <a:cs typeface="Consola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4779" y="2743225"/>
            <a:ext cx="2950210" cy="1990089"/>
            <a:chOff x="144779" y="2743225"/>
            <a:chExt cx="2950210" cy="1990089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779" y="2743225"/>
              <a:ext cx="2949702" cy="198958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28599" y="2944367"/>
              <a:ext cx="2788920" cy="1737360"/>
            </a:xfrm>
            <a:custGeom>
              <a:avLst/>
              <a:gdLst/>
              <a:ahLst/>
              <a:cxnLst/>
              <a:rect l="l" t="t" r="r" b="b"/>
              <a:pathLst>
                <a:path w="2788920" h="1737360">
                  <a:moveTo>
                    <a:pt x="0" y="1737360"/>
                  </a:moveTo>
                  <a:lnTo>
                    <a:pt x="2788920" y="173736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28599" y="2852927"/>
              <a:ext cx="2788920" cy="1828800"/>
            </a:xfrm>
            <a:custGeom>
              <a:avLst/>
              <a:gdLst/>
              <a:ahLst/>
              <a:cxnLst/>
              <a:rect l="l" t="t" r="r" b="b"/>
              <a:pathLst>
                <a:path w="2788920" h="1828800">
                  <a:moveTo>
                    <a:pt x="0" y="1828800"/>
                  </a:moveTo>
                  <a:lnTo>
                    <a:pt x="2788920" y="182880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1828800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28599" y="2852927"/>
              <a:ext cx="2788920" cy="91440"/>
            </a:xfrm>
            <a:custGeom>
              <a:avLst/>
              <a:gdLst/>
              <a:ahLst/>
              <a:cxnLst/>
              <a:rect l="l" t="t" r="r" b="b"/>
              <a:pathLst>
                <a:path w="2788920" h="91439">
                  <a:moveTo>
                    <a:pt x="278892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2788920" y="91439"/>
                  </a:lnTo>
                  <a:lnTo>
                    <a:pt x="2788920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28599" y="2852927"/>
              <a:ext cx="2788920" cy="91440"/>
            </a:xfrm>
            <a:custGeom>
              <a:avLst/>
              <a:gdLst/>
              <a:ahLst/>
              <a:cxnLst/>
              <a:rect l="l" t="t" r="r" b="b"/>
              <a:pathLst>
                <a:path w="2788920" h="91439">
                  <a:moveTo>
                    <a:pt x="0" y="91439"/>
                  </a:moveTo>
                  <a:lnTo>
                    <a:pt x="2788920" y="91439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320040" y="3060573"/>
            <a:ext cx="1196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D2B45"/>
                </a:solidFill>
                <a:latin typeface="Calibri"/>
                <a:cs typeface="Calibri"/>
              </a:rPr>
              <a:t>Model</a:t>
            </a:r>
            <a:r>
              <a:rPr dirty="0" sz="1200" spc="-2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D2B45"/>
                </a:solidFill>
                <a:latin typeface="Calibri"/>
                <a:cs typeface="Calibri"/>
              </a:rPr>
              <a:t>Capabilities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1480" y="3518661"/>
            <a:ext cx="2292350" cy="9029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latin typeface="Calibri"/>
                <a:cs typeface="Calibri"/>
              </a:rPr>
              <a:t>Qwen2-1.5B-</a:t>
            </a:r>
            <a:r>
              <a:rPr dirty="0" sz="1150">
                <a:latin typeface="Calibri"/>
                <a:cs typeface="Calibri"/>
              </a:rPr>
              <a:t>Instruct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supports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English, </a:t>
            </a:r>
            <a:r>
              <a:rPr dirty="0" sz="1150">
                <a:latin typeface="Calibri"/>
                <a:cs typeface="Calibri"/>
              </a:rPr>
              <a:t>Chinese,</a:t>
            </a:r>
            <a:r>
              <a:rPr dirty="0" sz="1150" spc="-4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and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other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major</a:t>
            </a:r>
            <a:r>
              <a:rPr dirty="0" sz="1150" spc="-4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languages. </a:t>
            </a:r>
            <a:r>
              <a:rPr dirty="0" sz="1150">
                <a:latin typeface="Calibri"/>
                <a:cs typeface="Calibri"/>
              </a:rPr>
              <a:t>Trained</a:t>
            </a:r>
            <a:r>
              <a:rPr dirty="0" sz="1150" spc="-4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on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diverse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datasets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covering </a:t>
            </a:r>
            <a:r>
              <a:rPr dirty="0" sz="1150">
                <a:latin typeface="Calibri"/>
                <a:cs typeface="Calibri"/>
              </a:rPr>
              <a:t>QA,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reasoning,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and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instruction-following.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089148" y="2743225"/>
            <a:ext cx="2950210" cy="1990089"/>
            <a:chOff x="3089148" y="2743225"/>
            <a:chExt cx="2950210" cy="1990089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89148" y="2743225"/>
              <a:ext cx="2949702" cy="198958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172968" y="2944367"/>
              <a:ext cx="2788920" cy="1737360"/>
            </a:xfrm>
            <a:custGeom>
              <a:avLst/>
              <a:gdLst/>
              <a:ahLst/>
              <a:cxnLst/>
              <a:rect l="l" t="t" r="r" b="b"/>
              <a:pathLst>
                <a:path w="2788920" h="1737360">
                  <a:moveTo>
                    <a:pt x="0" y="1737360"/>
                  </a:moveTo>
                  <a:lnTo>
                    <a:pt x="2788920" y="173736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172968" y="2852927"/>
              <a:ext cx="2788920" cy="1828800"/>
            </a:xfrm>
            <a:custGeom>
              <a:avLst/>
              <a:gdLst/>
              <a:ahLst/>
              <a:cxnLst/>
              <a:rect l="l" t="t" r="r" b="b"/>
              <a:pathLst>
                <a:path w="2788920" h="1828800">
                  <a:moveTo>
                    <a:pt x="0" y="1828800"/>
                  </a:moveTo>
                  <a:lnTo>
                    <a:pt x="2788920" y="182880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1828800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172968" y="2852927"/>
              <a:ext cx="2788920" cy="91440"/>
            </a:xfrm>
            <a:custGeom>
              <a:avLst/>
              <a:gdLst/>
              <a:ahLst/>
              <a:cxnLst/>
              <a:rect l="l" t="t" r="r" b="b"/>
              <a:pathLst>
                <a:path w="2788920" h="91439">
                  <a:moveTo>
                    <a:pt x="278892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2788920" y="91439"/>
                  </a:lnTo>
                  <a:lnTo>
                    <a:pt x="2788920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172968" y="2852927"/>
              <a:ext cx="2788920" cy="91440"/>
            </a:xfrm>
            <a:custGeom>
              <a:avLst/>
              <a:gdLst/>
              <a:ahLst/>
              <a:cxnLst/>
              <a:rect l="l" t="t" r="r" b="b"/>
              <a:pathLst>
                <a:path w="2788920" h="91439">
                  <a:moveTo>
                    <a:pt x="0" y="91439"/>
                  </a:moveTo>
                  <a:lnTo>
                    <a:pt x="2788920" y="91439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3265042" y="3060573"/>
            <a:ext cx="11709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D2B45"/>
                </a:solidFill>
                <a:latin typeface="Calibri"/>
                <a:cs typeface="Calibri"/>
              </a:rPr>
              <a:t>Safety</a:t>
            </a:r>
            <a:r>
              <a:rPr dirty="0" sz="1200" spc="-7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D2B45"/>
                </a:solidFill>
                <a:latin typeface="Calibri"/>
                <a:cs typeface="Calibri"/>
              </a:rPr>
              <a:t>Mechanism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56483" y="3518661"/>
            <a:ext cx="2369185" cy="9029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Calibri"/>
                <a:cs typeface="Calibri"/>
              </a:rPr>
              <a:t>The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strict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'ONLY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from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context'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prompt </a:t>
            </a:r>
            <a:r>
              <a:rPr dirty="0" sz="1150">
                <a:latin typeface="Calibri"/>
                <a:cs typeface="Calibri"/>
              </a:rPr>
              <a:t>constraint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is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fundamental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RAG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safety </a:t>
            </a:r>
            <a:r>
              <a:rPr dirty="0" sz="1150">
                <a:latin typeface="Calibri"/>
                <a:cs typeface="Calibri"/>
              </a:rPr>
              <a:t>mechanism</a:t>
            </a:r>
            <a:r>
              <a:rPr dirty="0" sz="1150" spc="-4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—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preventing</a:t>
            </a:r>
            <a:r>
              <a:rPr dirty="0" sz="1150" spc="-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the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LLM</a:t>
            </a:r>
            <a:r>
              <a:rPr dirty="0" sz="1150" spc="-5">
                <a:latin typeface="Calibri"/>
                <a:cs typeface="Calibri"/>
              </a:rPr>
              <a:t> </a:t>
            </a:r>
            <a:r>
              <a:rPr dirty="0" sz="1150" spc="-20">
                <a:latin typeface="Calibri"/>
                <a:cs typeface="Calibri"/>
              </a:rPr>
              <a:t>from </a:t>
            </a:r>
            <a:r>
              <a:rPr dirty="0" sz="1150">
                <a:latin typeface="Calibri"/>
                <a:cs typeface="Calibri"/>
              </a:rPr>
              <a:t>using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its</a:t>
            </a:r>
            <a:r>
              <a:rPr dirty="0" sz="1150" spc="-10">
                <a:latin typeface="Calibri"/>
                <a:cs typeface="Calibri"/>
              </a:rPr>
              <a:t> pre-</a:t>
            </a:r>
            <a:r>
              <a:rPr dirty="0" sz="1150">
                <a:latin typeface="Calibri"/>
                <a:cs typeface="Calibri"/>
              </a:rPr>
              <a:t>trained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parametric </a:t>
            </a:r>
            <a:r>
              <a:rPr dirty="0" sz="1150">
                <a:latin typeface="Calibri"/>
                <a:cs typeface="Calibri"/>
              </a:rPr>
              <a:t>knowledge,</a:t>
            </a:r>
            <a:r>
              <a:rPr dirty="0" sz="1150" spc="-5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eliminating</a:t>
            </a:r>
            <a:r>
              <a:rPr dirty="0" sz="1150" spc="-6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hallucination.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033515" y="2743225"/>
            <a:ext cx="2950210" cy="1990089"/>
            <a:chOff x="6033515" y="2743225"/>
            <a:chExt cx="2950210" cy="1990089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3515" y="2743225"/>
              <a:ext cx="2949701" cy="198958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117335" y="2944367"/>
              <a:ext cx="2788920" cy="1737360"/>
            </a:xfrm>
            <a:custGeom>
              <a:avLst/>
              <a:gdLst/>
              <a:ahLst/>
              <a:cxnLst/>
              <a:rect l="l" t="t" r="r" b="b"/>
              <a:pathLst>
                <a:path w="2788920" h="1737360">
                  <a:moveTo>
                    <a:pt x="0" y="1737360"/>
                  </a:moveTo>
                  <a:lnTo>
                    <a:pt x="2788919" y="1737360"/>
                  </a:lnTo>
                  <a:lnTo>
                    <a:pt x="2788919" y="0"/>
                  </a:lnTo>
                  <a:lnTo>
                    <a:pt x="0" y="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117335" y="2852927"/>
              <a:ext cx="2788920" cy="1828800"/>
            </a:xfrm>
            <a:custGeom>
              <a:avLst/>
              <a:gdLst/>
              <a:ahLst/>
              <a:cxnLst/>
              <a:rect l="l" t="t" r="r" b="b"/>
              <a:pathLst>
                <a:path w="2788920" h="1828800">
                  <a:moveTo>
                    <a:pt x="0" y="1828800"/>
                  </a:moveTo>
                  <a:lnTo>
                    <a:pt x="2788919" y="1828800"/>
                  </a:lnTo>
                  <a:lnTo>
                    <a:pt x="2788919" y="0"/>
                  </a:lnTo>
                  <a:lnTo>
                    <a:pt x="0" y="0"/>
                  </a:lnTo>
                  <a:lnTo>
                    <a:pt x="0" y="1828800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117335" y="2852927"/>
              <a:ext cx="2788920" cy="91440"/>
            </a:xfrm>
            <a:custGeom>
              <a:avLst/>
              <a:gdLst/>
              <a:ahLst/>
              <a:cxnLst/>
              <a:rect l="l" t="t" r="r" b="b"/>
              <a:pathLst>
                <a:path w="2788920" h="91439">
                  <a:moveTo>
                    <a:pt x="2788919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2788919" y="91439"/>
                  </a:lnTo>
                  <a:lnTo>
                    <a:pt x="2788919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117335" y="2852927"/>
              <a:ext cx="2788920" cy="91440"/>
            </a:xfrm>
            <a:custGeom>
              <a:avLst/>
              <a:gdLst/>
              <a:ahLst/>
              <a:cxnLst/>
              <a:rect l="l" t="t" r="r" b="b"/>
              <a:pathLst>
                <a:path w="2788920" h="91439">
                  <a:moveTo>
                    <a:pt x="0" y="91439"/>
                  </a:moveTo>
                  <a:lnTo>
                    <a:pt x="2788919" y="91439"/>
                  </a:lnTo>
                  <a:lnTo>
                    <a:pt x="2788919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6209665" y="3060573"/>
            <a:ext cx="10553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D2B45"/>
                </a:solidFill>
                <a:latin typeface="Calibri"/>
                <a:cs typeface="Calibri"/>
              </a:rPr>
              <a:t>Serving</a:t>
            </a:r>
            <a:r>
              <a:rPr dirty="0" sz="1200" spc="-3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D2B45"/>
                </a:solidFill>
                <a:latin typeface="Calibri"/>
                <a:cs typeface="Calibri"/>
              </a:rPr>
              <a:t>Runtime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01104" y="3606546"/>
            <a:ext cx="2374265" cy="727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Calibri"/>
                <a:cs typeface="Calibri"/>
              </a:rPr>
              <a:t>The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model</a:t>
            </a:r>
            <a:r>
              <a:rPr dirty="0" sz="1150" spc="-4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is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served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locally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through</a:t>
            </a:r>
            <a:r>
              <a:rPr dirty="0" sz="1150" spc="-25">
                <a:latin typeface="Calibri"/>
                <a:cs typeface="Calibri"/>
              </a:rPr>
              <a:t> the </a:t>
            </a:r>
            <a:r>
              <a:rPr dirty="0" sz="1150">
                <a:latin typeface="Calibri"/>
                <a:cs typeface="Calibri"/>
              </a:rPr>
              <a:t>Ollama</a:t>
            </a:r>
            <a:r>
              <a:rPr dirty="0" sz="1150" spc="-4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inference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runtime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and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accessed </a:t>
            </a:r>
            <a:r>
              <a:rPr dirty="0" sz="1150">
                <a:latin typeface="Calibri"/>
                <a:cs typeface="Calibri"/>
              </a:rPr>
              <a:t>via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the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OllamaLLM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class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in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LangChain, </a:t>
            </a:r>
            <a:r>
              <a:rPr dirty="0" sz="1150">
                <a:latin typeface="Calibri"/>
                <a:cs typeface="Calibri"/>
              </a:rPr>
              <a:t>enabling</a:t>
            </a:r>
            <a:r>
              <a:rPr dirty="0" sz="1150" spc="-4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fast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local</a:t>
            </a:r>
            <a:r>
              <a:rPr dirty="0" sz="1150" spc="-4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response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generation.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dirty="0" spc="-55"/>
              <a:t> </a:t>
            </a:r>
            <a:r>
              <a:rPr dirty="0"/>
              <a:t>7</a:t>
            </a:r>
            <a:r>
              <a:rPr dirty="0" spc="-55"/>
              <a:t> </a:t>
            </a:r>
            <a:r>
              <a:rPr dirty="0"/>
              <a:t>–</a:t>
            </a:r>
            <a:r>
              <a:rPr dirty="0" spc="-60"/>
              <a:t> </a:t>
            </a:r>
            <a:r>
              <a:rPr dirty="0"/>
              <a:t>Application</a:t>
            </a:r>
            <a:r>
              <a:rPr dirty="0" spc="-45"/>
              <a:t> </a:t>
            </a:r>
            <a:r>
              <a:rPr dirty="0" spc="-10"/>
              <a:t>Interface</a:t>
            </a:r>
            <a:r>
              <a:rPr dirty="0" spc="-30"/>
              <a:t> </a:t>
            </a:r>
            <a:r>
              <a:rPr dirty="0"/>
              <a:t>&amp;</a:t>
            </a:r>
            <a:r>
              <a:rPr dirty="0" spc="-60"/>
              <a:t> </a:t>
            </a:r>
            <a:r>
              <a:rPr dirty="0" spc="-10"/>
              <a:t>System</a:t>
            </a:r>
            <a:r>
              <a:rPr dirty="0" spc="-65"/>
              <a:t> </a:t>
            </a:r>
            <a:r>
              <a:rPr dirty="0" spc="-25"/>
              <a:t>Testing</a:t>
            </a:r>
            <a:r>
              <a:rPr dirty="0" spc="-75"/>
              <a:t> </a:t>
            </a:r>
            <a:r>
              <a:rPr dirty="0" spc="-1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4617720" y="777240"/>
            <a:ext cx="0" cy="4114800"/>
          </a:xfrm>
          <a:custGeom>
            <a:avLst/>
            <a:gdLst/>
            <a:ahLst/>
            <a:cxnLst/>
            <a:rect l="l" t="t" r="r" b="b"/>
            <a:pathLst>
              <a:path w="0" h="4114800">
                <a:moveTo>
                  <a:pt x="0" y="0"/>
                </a:moveTo>
                <a:lnTo>
                  <a:pt x="0" y="4114800"/>
                </a:lnTo>
              </a:path>
            </a:pathLst>
          </a:custGeom>
          <a:ln w="19050">
            <a:solidFill>
              <a:srgbClr val="93D2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1620" y="800176"/>
            <a:ext cx="6233160" cy="25146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493260" algn="l"/>
              </a:tabLst>
            </a:pPr>
            <a:r>
              <a:rPr dirty="0" sz="1350" b="1">
                <a:solidFill>
                  <a:srgbClr val="125E89"/>
                </a:solidFill>
                <a:latin typeface="Calibri"/>
                <a:cs typeface="Calibri"/>
              </a:rPr>
              <a:t>Streamlit</a:t>
            </a:r>
            <a:r>
              <a:rPr dirty="0" sz="1350" spc="-7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125E89"/>
                </a:solidFill>
                <a:latin typeface="Calibri"/>
                <a:cs typeface="Calibri"/>
              </a:rPr>
              <a:t>Interface</a:t>
            </a:r>
            <a:r>
              <a:rPr dirty="0" sz="1350" b="1">
                <a:solidFill>
                  <a:srgbClr val="125E89"/>
                </a:solidFill>
                <a:latin typeface="Calibri"/>
                <a:cs typeface="Calibri"/>
              </a:rPr>
              <a:t>	</a:t>
            </a:r>
            <a:r>
              <a:rPr dirty="0" sz="1350" spc="-30" b="1">
                <a:solidFill>
                  <a:srgbClr val="125E89"/>
                </a:solidFill>
                <a:latin typeface="Calibri"/>
                <a:cs typeface="Calibri"/>
              </a:rPr>
              <a:t>Test</a:t>
            </a:r>
            <a:r>
              <a:rPr dirty="0" sz="1350" spc="-4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125E89"/>
                </a:solidFill>
                <a:latin typeface="Calibri"/>
                <a:cs typeface="Calibri"/>
              </a:rPr>
              <a:t>Results</a:t>
            </a:r>
            <a:r>
              <a:rPr dirty="0" sz="1350" spc="-5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125E89"/>
                </a:solidFill>
                <a:latin typeface="Calibri"/>
                <a:cs typeface="Calibri"/>
              </a:rPr>
              <a:t>Comparison</a:t>
            </a:r>
            <a:endParaRPr sz="1350">
              <a:latin typeface="Calibri"/>
              <a:cs typeface="Calibri"/>
            </a:endParaRPr>
          </a:p>
          <a:p>
            <a:pPr marL="446405" indent="-342265">
              <a:lnSpc>
                <a:spcPct val="100000"/>
              </a:lnSpc>
              <a:spcBef>
                <a:spcPts val="1380"/>
              </a:spcBef>
              <a:buChar char="•"/>
              <a:tabLst>
                <a:tab pos="446405" algn="l"/>
              </a:tabLst>
            </a:pP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Browser-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based</a:t>
            </a:r>
            <a:r>
              <a:rPr dirty="0" sz="13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interactive</a:t>
            </a:r>
            <a:r>
              <a:rPr dirty="0" sz="1350" spc="-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chat</a:t>
            </a:r>
            <a:r>
              <a:rPr dirty="0" sz="13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built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with</a:t>
            </a:r>
            <a:r>
              <a:rPr dirty="0" sz="13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Streamlit</a:t>
            </a:r>
            <a:endParaRPr sz="1350">
              <a:latin typeface="Calibri"/>
              <a:cs typeface="Calibri"/>
            </a:endParaRPr>
          </a:p>
          <a:p>
            <a:pPr marL="446405">
              <a:lnSpc>
                <a:spcPct val="100000"/>
              </a:lnSpc>
            </a:pP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(Python).</a:t>
            </a:r>
            <a:endParaRPr sz="1350">
              <a:latin typeface="Calibri"/>
              <a:cs typeface="Calibri"/>
            </a:endParaRPr>
          </a:p>
          <a:p>
            <a:pPr marL="446405" indent="-342265">
              <a:lnSpc>
                <a:spcPct val="100000"/>
              </a:lnSpc>
              <a:spcBef>
                <a:spcPts val="505"/>
              </a:spcBef>
              <a:buChar char="•"/>
              <a:tabLst>
                <a:tab pos="446405" algn="l"/>
              </a:tabLst>
            </a:pP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Sidebar</a:t>
            </a:r>
            <a:r>
              <a:rPr dirty="0" sz="1350" spc="-5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allows</a:t>
            </a:r>
            <a:r>
              <a:rPr dirty="0" sz="1350" spc="-7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uploading</a:t>
            </a:r>
            <a:r>
              <a:rPr dirty="0" sz="13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multiple</a:t>
            </a:r>
            <a:r>
              <a:rPr dirty="0" sz="1350" spc="-7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PDFs.</a:t>
            </a:r>
            <a:endParaRPr sz="1350">
              <a:latin typeface="Calibri"/>
              <a:cs typeface="Calibri"/>
            </a:endParaRPr>
          </a:p>
          <a:p>
            <a:pPr marL="446405" marR="2409825" indent="-342900">
              <a:lnSpc>
                <a:spcPct val="100000"/>
              </a:lnSpc>
              <a:spcBef>
                <a:spcPts val="505"/>
              </a:spcBef>
              <a:buChar char="•"/>
              <a:tabLst>
                <a:tab pos="446405" algn="l"/>
              </a:tabLst>
            </a:pP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Users</a:t>
            </a:r>
            <a:r>
              <a:rPr dirty="0" sz="1350" spc="-5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type</a:t>
            </a:r>
            <a:r>
              <a:rPr dirty="0" sz="13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natural-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language</a:t>
            </a:r>
            <a:r>
              <a:rPr dirty="0" sz="1350" spc="-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queries</a:t>
            </a:r>
            <a:r>
              <a:rPr dirty="0" sz="13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and</a:t>
            </a:r>
            <a:r>
              <a:rPr dirty="0" sz="13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receive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instant</a:t>
            </a:r>
            <a:r>
              <a:rPr dirty="0" sz="13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answers.</a:t>
            </a:r>
            <a:endParaRPr sz="1350">
              <a:latin typeface="Calibri"/>
              <a:cs typeface="Calibri"/>
            </a:endParaRPr>
          </a:p>
          <a:p>
            <a:pPr marL="446405" indent="-342265">
              <a:lnSpc>
                <a:spcPct val="100000"/>
              </a:lnSpc>
              <a:spcBef>
                <a:spcPts val="490"/>
              </a:spcBef>
              <a:buChar char="•"/>
              <a:tabLst>
                <a:tab pos="446405" algn="l"/>
              </a:tabLst>
            </a:pP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Source</a:t>
            </a:r>
            <a:r>
              <a:rPr dirty="0" sz="13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chunk</a:t>
            </a:r>
            <a:r>
              <a:rPr dirty="0" sz="13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references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+</a:t>
            </a:r>
            <a:r>
              <a:rPr dirty="0" sz="13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page</a:t>
            </a:r>
            <a:r>
              <a:rPr dirty="0" sz="13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numbers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 displayed</a:t>
            </a:r>
            <a:endParaRPr sz="1350">
              <a:latin typeface="Calibri"/>
              <a:cs typeface="Calibri"/>
            </a:endParaRPr>
          </a:p>
          <a:p>
            <a:pPr marL="446405">
              <a:lnSpc>
                <a:spcPct val="100000"/>
              </a:lnSpc>
            </a:pP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alongside</a:t>
            </a:r>
            <a:r>
              <a:rPr dirty="0" sz="1350" spc="-6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answers.</a:t>
            </a:r>
            <a:endParaRPr sz="1350">
              <a:latin typeface="Calibri"/>
              <a:cs typeface="Calibri"/>
            </a:endParaRPr>
          </a:p>
          <a:p>
            <a:pPr marL="446405" marR="2566035" indent="-342900">
              <a:lnSpc>
                <a:spcPct val="100000"/>
              </a:lnSpc>
              <a:spcBef>
                <a:spcPts val="509"/>
              </a:spcBef>
              <a:buChar char="•"/>
              <a:tabLst>
                <a:tab pos="446405" algn="l"/>
              </a:tabLst>
            </a:pP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Session</a:t>
            </a:r>
            <a:r>
              <a:rPr dirty="0" sz="1350" spc="-5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state</a:t>
            </a:r>
            <a:r>
              <a:rPr dirty="0" sz="1350" spc="-5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preserves</a:t>
            </a:r>
            <a:r>
              <a:rPr dirty="0" sz="13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the</a:t>
            </a:r>
            <a:r>
              <a:rPr dirty="0" sz="1350" spc="-5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FAISS</a:t>
            </a:r>
            <a:r>
              <a:rPr dirty="0" sz="13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index</a:t>
            </a:r>
            <a:r>
              <a:rPr dirty="0" sz="13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across </a:t>
            </a:r>
            <a:r>
              <a:rPr dirty="0" sz="1350">
                <a:solidFill>
                  <a:srgbClr val="0D2B45"/>
                </a:solidFill>
                <a:latin typeface="Calibri"/>
                <a:cs typeface="Calibri"/>
              </a:rPr>
              <a:t>multiple</a:t>
            </a:r>
            <a:r>
              <a:rPr dirty="0" sz="1350" spc="-6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0D2B45"/>
                </a:solidFill>
                <a:latin typeface="Calibri"/>
                <a:cs typeface="Calibri"/>
              </a:rPr>
              <a:t>queries.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35240" y="1522475"/>
            <a:ext cx="1280160" cy="1156970"/>
            <a:chOff x="7635240" y="1522475"/>
            <a:chExt cx="1280160" cy="1156970"/>
          </a:xfrm>
        </p:grpSpPr>
        <p:sp>
          <p:nvSpPr>
            <p:cNvPr id="6" name="object 6"/>
            <p:cNvSpPr/>
            <p:nvPr/>
          </p:nvSpPr>
          <p:spPr>
            <a:xfrm>
              <a:off x="7635240" y="1527047"/>
              <a:ext cx="1280160" cy="1152525"/>
            </a:xfrm>
            <a:custGeom>
              <a:avLst/>
              <a:gdLst/>
              <a:ahLst/>
              <a:cxnLst/>
              <a:rect l="l" t="t" r="r" b="b"/>
              <a:pathLst>
                <a:path w="1280159" h="1152525">
                  <a:moveTo>
                    <a:pt x="128016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0" y="768096"/>
                  </a:lnTo>
                  <a:lnTo>
                    <a:pt x="0" y="1152144"/>
                  </a:lnTo>
                  <a:lnTo>
                    <a:pt x="1280160" y="1152144"/>
                  </a:lnTo>
                  <a:lnTo>
                    <a:pt x="1280160" y="768096"/>
                  </a:lnTo>
                  <a:lnTo>
                    <a:pt x="1280160" y="384048"/>
                  </a:lnTo>
                  <a:lnTo>
                    <a:pt x="12801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61376" y="1522475"/>
              <a:ext cx="390905" cy="31927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61376" y="1906523"/>
              <a:ext cx="390905" cy="3192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20" y="2290571"/>
              <a:ext cx="390905" cy="319277"/>
            </a:xfrm>
            <a:prstGeom prst="rect">
              <a:avLst/>
            </a:prstGeom>
          </p:spPr>
        </p:pic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751704" y="1139825"/>
          <a:ext cx="4243070" cy="191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5920"/>
                <a:gridCol w="1234440"/>
                <a:gridCol w="1280160"/>
              </a:tblGrid>
              <a:tr h="3835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Criteria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Keyword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Search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RAG</a:t>
                      </a:r>
                      <a:r>
                        <a:rPr dirty="0" sz="12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Chatbot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0D2B45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Accuracy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Medium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20" b="1">
                          <a:solidFill>
                            <a:srgbClr val="1A7C44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Context</a:t>
                      </a:r>
                      <a:r>
                        <a:rPr dirty="0" sz="12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Understanding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Low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20" b="1">
                          <a:solidFill>
                            <a:srgbClr val="1A7C44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Search</a:t>
                      </a:r>
                      <a:r>
                        <a:rPr dirty="0" sz="1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Time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High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25" b="1">
                          <a:solidFill>
                            <a:srgbClr val="1A7C44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Relevance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Inconsistent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10" b="1">
                          <a:solidFill>
                            <a:srgbClr val="1A7C44"/>
                          </a:solidFill>
                          <a:latin typeface="Calibri"/>
                          <a:cs typeface="Calibri"/>
                        </a:rPr>
                        <a:t>Consistent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6350">
                      <a:solidFill>
                        <a:srgbClr val="C5DFEF"/>
                      </a:solidFill>
                      <a:prstDash val="solid"/>
                    </a:lnL>
                    <a:lnR w="6350">
                      <a:solidFill>
                        <a:srgbClr val="C5DFEF"/>
                      </a:solidFill>
                      <a:prstDash val="solid"/>
                    </a:lnR>
                    <a:lnT w="6350">
                      <a:solidFill>
                        <a:srgbClr val="C5DFEF"/>
                      </a:solidFill>
                      <a:prstDash val="solid"/>
                    </a:lnT>
                    <a:lnB w="6350">
                      <a:solidFill>
                        <a:srgbClr val="C5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3231" y="2674620"/>
            <a:ext cx="390905" cy="31927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834254" y="3401314"/>
            <a:ext cx="3827779" cy="551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Benzene</a:t>
            </a:r>
            <a:r>
              <a:rPr dirty="0" sz="1150" spc="-25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Example:</a:t>
            </a:r>
            <a:r>
              <a:rPr dirty="0" sz="1150" spc="-20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Query</a:t>
            </a:r>
            <a:r>
              <a:rPr dirty="0" sz="1150" spc="-25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'How</a:t>
            </a:r>
            <a:r>
              <a:rPr dirty="0" sz="1150" spc="-20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heavy</a:t>
            </a:r>
            <a:r>
              <a:rPr dirty="0" sz="1150" spc="-25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is</a:t>
            </a:r>
            <a:r>
              <a:rPr dirty="0" sz="1150" spc="-20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C₆H₆?' →</a:t>
            </a:r>
            <a:r>
              <a:rPr dirty="0" sz="1150" spc="-25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RAG</a:t>
            </a:r>
            <a:r>
              <a:rPr dirty="0" sz="1150" spc="-20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spc="-10" i="1">
                <a:solidFill>
                  <a:srgbClr val="0D2B45"/>
                </a:solidFill>
                <a:latin typeface="Calibri"/>
                <a:cs typeface="Calibri"/>
              </a:rPr>
              <a:t>correctly </a:t>
            </a: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infers</a:t>
            </a:r>
            <a:r>
              <a:rPr dirty="0" sz="1150" spc="-20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'molecular</a:t>
            </a:r>
            <a:r>
              <a:rPr dirty="0" sz="1150" spc="-30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weight'</a:t>
            </a:r>
            <a:r>
              <a:rPr dirty="0" sz="1150" spc="-40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spc="-10" i="1">
                <a:solidFill>
                  <a:srgbClr val="0D2B45"/>
                </a:solidFill>
                <a:latin typeface="Calibri"/>
                <a:cs typeface="Calibri"/>
              </a:rPr>
              <a:t>semantically</a:t>
            </a:r>
            <a:r>
              <a:rPr dirty="0" sz="1150" spc="-30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and</a:t>
            </a:r>
            <a:r>
              <a:rPr dirty="0" sz="1150" spc="-25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returns</a:t>
            </a:r>
            <a:r>
              <a:rPr dirty="0" sz="1150" spc="-20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'78.11</a:t>
            </a:r>
            <a:r>
              <a:rPr dirty="0" sz="1150" spc="-20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spc="-10" i="1">
                <a:solidFill>
                  <a:srgbClr val="0D2B45"/>
                </a:solidFill>
                <a:latin typeface="Calibri"/>
                <a:cs typeface="Calibri"/>
              </a:rPr>
              <a:t>g/mol'. </a:t>
            </a: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Keyword</a:t>
            </a:r>
            <a:r>
              <a:rPr dirty="0" sz="1150" spc="-35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search</a:t>
            </a:r>
            <a:r>
              <a:rPr dirty="0" sz="1150" spc="-30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fails</a:t>
            </a:r>
            <a:r>
              <a:rPr dirty="0" sz="1150" spc="-15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to</a:t>
            </a:r>
            <a:r>
              <a:rPr dirty="0" sz="1150" spc="-25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match</a:t>
            </a:r>
            <a:r>
              <a:rPr dirty="0" sz="1150" spc="-20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'heavy'</a:t>
            </a:r>
            <a:r>
              <a:rPr dirty="0" sz="1150" spc="-45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with</a:t>
            </a:r>
            <a:r>
              <a:rPr dirty="0" sz="1150" spc="-25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0D2B45"/>
                </a:solidFill>
                <a:latin typeface="Calibri"/>
                <a:cs typeface="Calibri"/>
              </a:rPr>
              <a:t>'molecular</a:t>
            </a:r>
            <a:r>
              <a:rPr dirty="0" sz="1150" spc="-30" i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spc="-10" i="1">
                <a:solidFill>
                  <a:srgbClr val="0D2B45"/>
                </a:solidFill>
                <a:latin typeface="Calibri"/>
                <a:cs typeface="Calibri"/>
              </a:rPr>
              <a:t>weight'.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0500" y="3410711"/>
            <a:ext cx="4367530" cy="1212850"/>
            <a:chOff x="190500" y="3410711"/>
            <a:chExt cx="4367530" cy="121285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410711"/>
              <a:ext cx="4367022" cy="121235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4319" y="3520439"/>
              <a:ext cx="4206240" cy="1051560"/>
            </a:xfrm>
            <a:custGeom>
              <a:avLst/>
              <a:gdLst/>
              <a:ahLst/>
              <a:cxnLst/>
              <a:rect l="l" t="t" r="r" b="b"/>
              <a:pathLst>
                <a:path w="4206240" h="1051560">
                  <a:moveTo>
                    <a:pt x="4206240" y="0"/>
                  </a:moveTo>
                  <a:lnTo>
                    <a:pt x="0" y="0"/>
                  </a:lnTo>
                  <a:lnTo>
                    <a:pt x="0" y="1051560"/>
                  </a:lnTo>
                  <a:lnTo>
                    <a:pt x="4206240" y="1051560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4527" y="3779519"/>
              <a:ext cx="293370" cy="30708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4527" y="4130039"/>
              <a:ext cx="293370" cy="30708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4527" y="4305300"/>
              <a:ext cx="293370" cy="30708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74320" y="3520440"/>
            <a:ext cx="4206240" cy="1051560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marL="136525">
              <a:lnSpc>
                <a:spcPct val="100000"/>
              </a:lnSpc>
              <a:spcBef>
                <a:spcPts val="625"/>
              </a:spcBef>
            </a:pPr>
            <a:r>
              <a:rPr dirty="0" sz="1250" spc="-10" b="1">
                <a:solidFill>
                  <a:srgbClr val="1A7C44"/>
                </a:solidFill>
                <a:latin typeface="Calibri"/>
                <a:cs typeface="Calibri"/>
              </a:rPr>
              <a:t>Feasibility</a:t>
            </a:r>
            <a:r>
              <a:rPr dirty="0" sz="1250" spc="30" b="1">
                <a:solidFill>
                  <a:srgbClr val="1A7C44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A7C44"/>
                </a:solidFill>
                <a:latin typeface="Calibri"/>
                <a:cs typeface="Calibri"/>
              </a:rPr>
              <a:t>Summary</a:t>
            </a:r>
            <a:endParaRPr sz="1250">
              <a:latin typeface="Calibri"/>
              <a:cs typeface="Calibri"/>
            </a:endParaRPr>
          </a:p>
          <a:p>
            <a:pPr marL="228600" marR="369570" indent="150495">
              <a:lnSpc>
                <a:spcPct val="100000"/>
              </a:lnSpc>
              <a:spcBef>
                <a:spcPts val="235"/>
              </a:spcBef>
            </a:pPr>
            <a:r>
              <a:rPr dirty="0" sz="1150">
                <a:solidFill>
                  <a:srgbClr val="0D2B45"/>
                </a:solidFill>
                <a:latin typeface="Calibri"/>
                <a:cs typeface="Calibri"/>
              </a:rPr>
              <a:t>Technical:</a:t>
            </a:r>
            <a:r>
              <a:rPr dirty="0" sz="1150" spc="-4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D2B45"/>
                </a:solidFill>
                <a:latin typeface="Calibri"/>
                <a:cs typeface="Calibri"/>
              </a:rPr>
              <a:t>Open-</a:t>
            </a:r>
            <a:r>
              <a:rPr dirty="0" sz="1150">
                <a:solidFill>
                  <a:srgbClr val="0D2B45"/>
                </a:solidFill>
                <a:latin typeface="Calibri"/>
                <a:cs typeface="Calibri"/>
              </a:rPr>
              <a:t>source</a:t>
            </a:r>
            <a:r>
              <a:rPr dirty="0" sz="11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D2B45"/>
                </a:solidFill>
                <a:latin typeface="Calibri"/>
                <a:cs typeface="Calibri"/>
              </a:rPr>
              <a:t>Python</a:t>
            </a:r>
            <a:r>
              <a:rPr dirty="0" sz="11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D2B45"/>
                </a:solidFill>
                <a:latin typeface="Calibri"/>
                <a:cs typeface="Calibri"/>
              </a:rPr>
              <a:t>stack</a:t>
            </a:r>
            <a:r>
              <a:rPr dirty="0" sz="1150" spc="-2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D2B45"/>
                </a:solidFill>
                <a:latin typeface="Calibri"/>
                <a:cs typeface="Calibri"/>
              </a:rPr>
              <a:t>(FAISS,</a:t>
            </a:r>
            <a:r>
              <a:rPr dirty="0" sz="11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D2B45"/>
                </a:solidFill>
                <a:latin typeface="Calibri"/>
                <a:cs typeface="Calibri"/>
              </a:rPr>
              <a:t>HuggingFace, LangChain)</a:t>
            </a:r>
            <a:endParaRPr sz="1150">
              <a:latin typeface="Calibri"/>
              <a:cs typeface="Calibri"/>
            </a:endParaRPr>
          </a:p>
          <a:p>
            <a:pPr marL="379095" marR="250825">
              <a:lnSpc>
                <a:spcPct val="100000"/>
              </a:lnSpc>
            </a:pPr>
            <a:r>
              <a:rPr dirty="0" sz="1150">
                <a:solidFill>
                  <a:srgbClr val="0D2B45"/>
                </a:solidFill>
                <a:latin typeface="Calibri"/>
                <a:cs typeface="Calibri"/>
              </a:rPr>
              <a:t>Economic:</a:t>
            </a:r>
            <a:r>
              <a:rPr dirty="0" sz="11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D2B45"/>
                </a:solidFill>
                <a:latin typeface="Calibri"/>
                <a:cs typeface="Calibri"/>
              </a:rPr>
              <a:t>Zero</a:t>
            </a:r>
            <a:r>
              <a:rPr dirty="0" sz="11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D2B45"/>
                </a:solidFill>
                <a:latin typeface="Calibri"/>
                <a:cs typeface="Calibri"/>
              </a:rPr>
              <a:t>licensing</a:t>
            </a:r>
            <a:r>
              <a:rPr dirty="0" sz="1150" spc="-4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D2B45"/>
                </a:solidFill>
                <a:latin typeface="Calibri"/>
                <a:cs typeface="Calibri"/>
              </a:rPr>
              <a:t>cost —</a:t>
            </a:r>
            <a:r>
              <a:rPr dirty="0" sz="11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D2B45"/>
                </a:solidFill>
                <a:latin typeface="Calibri"/>
                <a:cs typeface="Calibri"/>
              </a:rPr>
              <a:t>all</a:t>
            </a:r>
            <a:r>
              <a:rPr dirty="0" sz="1150" spc="-3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D2B45"/>
                </a:solidFill>
                <a:latin typeface="Calibri"/>
                <a:cs typeface="Calibri"/>
              </a:rPr>
              <a:t>tools</a:t>
            </a:r>
            <a:r>
              <a:rPr dirty="0" sz="11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D2B45"/>
                </a:solidFill>
                <a:latin typeface="Calibri"/>
                <a:cs typeface="Calibri"/>
              </a:rPr>
              <a:t>are</a:t>
            </a:r>
            <a:r>
              <a:rPr dirty="0" sz="1150" spc="-2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D2B45"/>
                </a:solidFill>
                <a:latin typeface="Calibri"/>
                <a:cs typeface="Calibri"/>
              </a:rPr>
              <a:t>freely</a:t>
            </a:r>
            <a:r>
              <a:rPr dirty="0" sz="1150" spc="-1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D2B45"/>
                </a:solidFill>
                <a:latin typeface="Calibri"/>
                <a:cs typeface="Calibri"/>
              </a:rPr>
              <a:t>available </a:t>
            </a:r>
            <a:r>
              <a:rPr dirty="0" sz="1150">
                <a:solidFill>
                  <a:srgbClr val="0D2B45"/>
                </a:solidFill>
                <a:latin typeface="Calibri"/>
                <a:cs typeface="Calibri"/>
              </a:rPr>
              <a:t>Operational:</a:t>
            </a:r>
            <a:r>
              <a:rPr dirty="0" sz="1150" spc="-4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D2B45"/>
                </a:solidFill>
                <a:latin typeface="Calibri"/>
                <a:cs typeface="Calibri"/>
              </a:rPr>
              <a:t>Minimal</a:t>
            </a:r>
            <a:r>
              <a:rPr dirty="0" sz="11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D2B45"/>
                </a:solidFill>
                <a:latin typeface="Calibri"/>
                <a:cs typeface="Calibri"/>
              </a:rPr>
              <a:t>technical</a:t>
            </a:r>
            <a:r>
              <a:rPr dirty="0" sz="11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D2B45"/>
                </a:solidFill>
                <a:latin typeface="Calibri"/>
                <a:cs typeface="Calibri"/>
              </a:rPr>
              <a:t>knowledge</a:t>
            </a:r>
            <a:r>
              <a:rPr dirty="0" sz="1150" spc="-40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D2B45"/>
                </a:solidFill>
                <a:latin typeface="Calibri"/>
                <a:cs typeface="Calibri"/>
              </a:rPr>
              <a:t>required</a:t>
            </a:r>
            <a:r>
              <a:rPr dirty="0" sz="1150" spc="-35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D2B45"/>
                </a:solidFill>
                <a:latin typeface="Calibri"/>
                <a:cs typeface="Calibri"/>
              </a:rPr>
              <a:t>to</a:t>
            </a:r>
            <a:r>
              <a:rPr dirty="0" sz="1150" spc="-25">
                <a:solidFill>
                  <a:srgbClr val="0D2B45"/>
                </a:solidFill>
                <a:latin typeface="Calibri"/>
                <a:cs typeface="Calibri"/>
              </a:rPr>
              <a:t> use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Result</a:t>
            </a:r>
            <a:r>
              <a:rPr dirty="0" spc="-60"/>
              <a:t> </a:t>
            </a:r>
            <a:r>
              <a:rPr dirty="0"/>
              <a:t>Screenshot</a:t>
            </a:r>
            <a:r>
              <a:rPr dirty="0" spc="-45"/>
              <a:t> </a:t>
            </a:r>
            <a:r>
              <a:rPr dirty="0"/>
              <a:t>–</a:t>
            </a:r>
            <a:r>
              <a:rPr dirty="0" spc="-50"/>
              <a:t> </a:t>
            </a:r>
            <a:r>
              <a:rPr dirty="0"/>
              <a:t>Home</a:t>
            </a:r>
            <a:r>
              <a:rPr dirty="0" spc="-40"/>
              <a:t> </a:t>
            </a:r>
            <a:r>
              <a:rPr dirty="0" spc="-20"/>
              <a:t>page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97318" y="1090701"/>
            <a:ext cx="7349490" cy="3648075"/>
            <a:chOff x="897318" y="1090701"/>
            <a:chExt cx="7349490" cy="36480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5418" y="1128801"/>
              <a:ext cx="7273163" cy="35717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16368" y="1109751"/>
              <a:ext cx="7311390" cy="3609975"/>
            </a:xfrm>
            <a:custGeom>
              <a:avLst/>
              <a:gdLst/>
              <a:ahLst/>
              <a:cxnLst/>
              <a:rect l="l" t="t" r="r" b="b"/>
              <a:pathLst>
                <a:path w="7311390" h="3609975">
                  <a:moveTo>
                    <a:pt x="0" y="3609848"/>
                  </a:moveTo>
                  <a:lnTo>
                    <a:pt x="7311263" y="3609848"/>
                  </a:lnTo>
                  <a:lnTo>
                    <a:pt x="7311263" y="0"/>
                  </a:lnTo>
                  <a:lnTo>
                    <a:pt x="0" y="0"/>
                  </a:lnTo>
                  <a:lnTo>
                    <a:pt x="0" y="3609848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Result</a:t>
            </a:r>
            <a:r>
              <a:rPr dirty="0" spc="-55"/>
              <a:t> </a:t>
            </a:r>
            <a:r>
              <a:rPr dirty="0"/>
              <a:t>Screenshot</a:t>
            </a:r>
            <a:r>
              <a:rPr dirty="0" spc="-45"/>
              <a:t> </a:t>
            </a:r>
            <a:r>
              <a:rPr dirty="0"/>
              <a:t>–</a:t>
            </a:r>
            <a:r>
              <a:rPr dirty="0" spc="-50"/>
              <a:t> </a:t>
            </a:r>
            <a:r>
              <a:rPr dirty="0"/>
              <a:t>Document</a:t>
            </a:r>
            <a:r>
              <a:rPr dirty="0" spc="-40"/>
              <a:t> </a:t>
            </a:r>
            <a:r>
              <a:rPr dirty="0"/>
              <a:t>Upload</a:t>
            </a:r>
            <a:r>
              <a:rPr dirty="0" spc="-50"/>
              <a:t> </a:t>
            </a:r>
            <a:r>
              <a:rPr dirty="0"/>
              <a:t>&amp;</a:t>
            </a:r>
            <a:r>
              <a:rPr dirty="0" spc="-65"/>
              <a:t> </a:t>
            </a:r>
            <a:r>
              <a:rPr dirty="0" spc="-10"/>
              <a:t>Processing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46086" y="912583"/>
            <a:ext cx="7452359" cy="4004310"/>
            <a:chOff x="846086" y="912583"/>
            <a:chExt cx="7452359" cy="40043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6086" y="912583"/>
              <a:ext cx="7451852" cy="40041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8418" y="978014"/>
              <a:ext cx="7271131" cy="37884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86777" y="950785"/>
              <a:ext cx="7314565" cy="3843020"/>
            </a:xfrm>
            <a:custGeom>
              <a:avLst/>
              <a:gdLst/>
              <a:ahLst/>
              <a:cxnLst/>
              <a:rect l="l" t="t" r="r" b="b"/>
              <a:pathLst>
                <a:path w="7314565" h="3843020">
                  <a:moveTo>
                    <a:pt x="0" y="3842892"/>
                  </a:moveTo>
                  <a:lnTo>
                    <a:pt x="7314438" y="3842892"/>
                  </a:lnTo>
                  <a:lnTo>
                    <a:pt x="7314438" y="0"/>
                  </a:lnTo>
                  <a:lnTo>
                    <a:pt x="0" y="0"/>
                  </a:lnTo>
                  <a:lnTo>
                    <a:pt x="0" y="384289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Result</a:t>
            </a:r>
            <a:r>
              <a:rPr dirty="0" spc="-70"/>
              <a:t> </a:t>
            </a:r>
            <a:r>
              <a:rPr dirty="0"/>
              <a:t>Screenshot</a:t>
            </a:r>
            <a:r>
              <a:rPr dirty="0" spc="-40"/>
              <a:t> </a:t>
            </a:r>
            <a:r>
              <a:rPr dirty="0"/>
              <a:t>–</a:t>
            </a:r>
            <a:r>
              <a:rPr dirty="0" spc="-40"/>
              <a:t> </a:t>
            </a:r>
            <a:r>
              <a:rPr dirty="0"/>
              <a:t>Ready</a:t>
            </a:r>
            <a:r>
              <a:rPr dirty="0" spc="-40"/>
              <a:t> </a:t>
            </a:r>
            <a:r>
              <a:rPr dirty="0" spc="-90"/>
              <a:t>To</a:t>
            </a:r>
            <a:r>
              <a:rPr dirty="0" spc="-35"/>
              <a:t> </a:t>
            </a:r>
            <a:r>
              <a:rPr dirty="0" spc="-25"/>
              <a:t>Ask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47509" y="990587"/>
            <a:ext cx="7452359" cy="3848100"/>
            <a:chOff x="847509" y="990587"/>
            <a:chExt cx="7452359" cy="38481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7509" y="990587"/>
              <a:ext cx="7451852" cy="38481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9828" y="1049667"/>
              <a:ext cx="7270115" cy="365544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88199" y="1025410"/>
              <a:ext cx="7313295" cy="3703954"/>
            </a:xfrm>
            <a:custGeom>
              <a:avLst/>
              <a:gdLst/>
              <a:ahLst/>
              <a:cxnLst/>
              <a:rect l="l" t="t" r="r" b="b"/>
              <a:pathLst>
                <a:path w="7313295" h="3703954">
                  <a:moveTo>
                    <a:pt x="0" y="3703954"/>
                  </a:moveTo>
                  <a:lnTo>
                    <a:pt x="7313295" y="3703954"/>
                  </a:lnTo>
                  <a:lnTo>
                    <a:pt x="7313295" y="0"/>
                  </a:lnTo>
                  <a:lnTo>
                    <a:pt x="0" y="0"/>
                  </a:lnTo>
                  <a:lnTo>
                    <a:pt x="0" y="3703954"/>
                  </a:lnTo>
                  <a:close/>
                </a:path>
              </a:pathLst>
            </a:custGeom>
            <a:ln w="380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Result</a:t>
            </a:r>
            <a:r>
              <a:rPr dirty="0" spc="-35"/>
              <a:t> </a:t>
            </a:r>
            <a:r>
              <a:rPr dirty="0"/>
              <a:t>Screenshot</a:t>
            </a:r>
            <a:r>
              <a:rPr dirty="0" spc="-20"/>
              <a:t> </a:t>
            </a:r>
            <a:r>
              <a:rPr dirty="0"/>
              <a:t>–</a:t>
            </a:r>
            <a:r>
              <a:rPr dirty="0" spc="-30"/>
              <a:t> </a:t>
            </a:r>
            <a:r>
              <a:rPr dirty="0"/>
              <a:t>Answer</a:t>
            </a:r>
            <a:r>
              <a:rPr dirty="0" spc="-30"/>
              <a:t> </a:t>
            </a:r>
            <a:r>
              <a:rPr dirty="0" spc="-10"/>
              <a:t>Generation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89165" y="984554"/>
            <a:ext cx="7367905" cy="3860165"/>
            <a:chOff x="889165" y="984554"/>
            <a:chExt cx="7367905" cy="38601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165" y="984554"/>
              <a:ext cx="7367778" cy="38601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0772" y="1051407"/>
              <a:ext cx="7188073" cy="36440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9386" y="1024013"/>
              <a:ext cx="7231380" cy="3698875"/>
            </a:xfrm>
            <a:custGeom>
              <a:avLst/>
              <a:gdLst/>
              <a:ahLst/>
              <a:cxnLst/>
              <a:rect l="l" t="t" r="r" b="b"/>
              <a:pathLst>
                <a:path w="7231380" h="3698875">
                  <a:moveTo>
                    <a:pt x="0" y="3698748"/>
                  </a:moveTo>
                  <a:lnTo>
                    <a:pt x="7230871" y="3698748"/>
                  </a:lnTo>
                  <a:lnTo>
                    <a:pt x="7230871" y="0"/>
                  </a:lnTo>
                  <a:lnTo>
                    <a:pt x="0" y="0"/>
                  </a:lnTo>
                  <a:lnTo>
                    <a:pt x="0" y="3698748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Result</a:t>
            </a:r>
            <a:r>
              <a:rPr dirty="0" spc="-45"/>
              <a:t> </a:t>
            </a:r>
            <a:r>
              <a:rPr dirty="0"/>
              <a:t>Screenshot</a:t>
            </a:r>
            <a:r>
              <a:rPr dirty="0" spc="-30"/>
              <a:t> </a:t>
            </a:r>
            <a:r>
              <a:rPr dirty="0"/>
              <a:t>–</a:t>
            </a:r>
            <a:r>
              <a:rPr dirty="0" spc="-35"/>
              <a:t> </a:t>
            </a:r>
            <a:r>
              <a:rPr dirty="0"/>
              <a:t>Answer</a:t>
            </a:r>
            <a:r>
              <a:rPr dirty="0" spc="-40"/>
              <a:t> </a:t>
            </a:r>
            <a:r>
              <a:rPr dirty="0"/>
              <a:t>Not</a:t>
            </a:r>
            <a:r>
              <a:rPr dirty="0" spc="-45"/>
              <a:t> </a:t>
            </a:r>
            <a:r>
              <a:rPr dirty="0"/>
              <a:t>Found</a:t>
            </a:r>
            <a:r>
              <a:rPr dirty="0" spc="-45"/>
              <a:t> </a:t>
            </a:r>
            <a:r>
              <a:rPr dirty="0"/>
              <a:t>in</a:t>
            </a:r>
            <a:r>
              <a:rPr dirty="0" spc="-60"/>
              <a:t> </a:t>
            </a:r>
            <a:r>
              <a:rPr dirty="0"/>
              <a:t>Given</a:t>
            </a:r>
            <a:r>
              <a:rPr dirty="0" spc="-50"/>
              <a:t> </a:t>
            </a:r>
            <a:r>
              <a:rPr dirty="0" spc="-25"/>
              <a:t>PDF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88123" y="1028712"/>
            <a:ext cx="7367905" cy="3771900"/>
            <a:chOff x="888123" y="1028712"/>
            <a:chExt cx="7367905" cy="3771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8123" y="1028712"/>
              <a:ext cx="7367778" cy="37719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0269" y="1092072"/>
              <a:ext cx="7198106" cy="35632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18844" y="1065656"/>
              <a:ext cx="7240905" cy="3616325"/>
            </a:xfrm>
            <a:custGeom>
              <a:avLst/>
              <a:gdLst/>
              <a:ahLst/>
              <a:cxnLst/>
              <a:rect l="l" t="t" r="r" b="b"/>
              <a:pathLst>
                <a:path w="7240905" h="3616325">
                  <a:moveTo>
                    <a:pt x="0" y="3616071"/>
                  </a:moveTo>
                  <a:lnTo>
                    <a:pt x="7240905" y="3616071"/>
                  </a:lnTo>
                  <a:lnTo>
                    <a:pt x="7240905" y="0"/>
                  </a:lnTo>
                  <a:lnTo>
                    <a:pt x="0" y="0"/>
                  </a:lnTo>
                  <a:lnTo>
                    <a:pt x="0" y="361607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Coding</a:t>
            </a:r>
            <a:r>
              <a:rPr dirty="0" spc="-55"/>
              <a:t> </a:t>
            </a:r>
            <a:r>
              <a:rPr dirty="0"/>
              <a:t>–</a:t>
            </a:r>
            <a:r>
              <a:rPr dirty="0" spc="-60"/>
              <a:t> </a:t>
            </a:r>
            <a:r>
              <a:rPr dirty="0"/>
              <a:t>Project</a:t>
            </a:r>
            <a:r>
              <a:rPr dirty="0" spc="-30"/>
              <a:t> </a:t>
            </a:r>
            <a:r>
              <a:rPr dirty="0"/>
              <a:t>Structure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60"/>
              <a:t> </a:t>
            </a:r>
            <a:r>
              <a:rPr dirty="0"/>
              <a:t>Key</a:t>
            </a:r>
            <a:r>
              <a:rPr dirty="0" spc="-55"/>
              <a:t> </a:t>
            </a:r>
            <a:r>
              <a:rPr dirty="0" spc="-10"/>
              <a:t>Libraries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9" y="1005839"/>
            <a:ext cx="4321302" cy="381838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8600" y="1115567"/>
            <a:ext cx="4160520" cy="3657600"/>
          </a:xfrm>
          <a:prstGeom prst="rect">
            <a:avLst/>
          </a:prstGeom>
          <a:solidFill>
            <a:srgbClr val="1A1F2D"/>
          </a:solidFill>
          <a:ln w="12700">
            <a:solidFill>
              <a:srgbClr val="D3E9F7"/>
            </a:solidFill>
          </a:ln>
        </p:spPr>
        <p:txBody>
          <a:bodyPr wrap="square" lIns="0" tIns="156210" rIns="0" bIns="0" rtlCol="0" vert="horz">
            <a:spAutoFit/>
          </a:bodyPr>
          <a:lstStyle/>
          <a:p>
            <a:pPr marL="137160">
              <a:lnSpc>
                <a:spcPct val="100000"/>
              </a:lnSpc>
              <a:spcBef>
                <a:spcPts val="1230"/>
              </a:spcBef>
            </a:pPr>
            <a:r>
              <a:rPr dirty="0" sz="1100" spc="-10" b="1">
                <a:solidFill>
                  <a:srgbClr val="FFCA6B"/>
                </a:solidFill>
                <a:latin typeface="Consolas"/>
                <a:cs typeface="Consolas"/>
              </a:rPr>
              <a:t>rag-chatbot/</a:t>
            </a:r>
            <a:endParaRPr sz="1100">
              <a:latin typeface="Consolas"/>
              <a:cs typeface="Consolas"/>
            </a:endParaRPr>
          </a:p>
          <a:p>
            <a:pPr marL="137160">
              <a:lnSpc>
                <a:spcPct val="100000"/>
              </a:lnSpc>
            </a:pPr>
            <a:r>
              <a:rPr dirty="0" sz="1100" spc="-50">
                <a:solidFill>
                  <a:srgbClr val="696F97"/>
                </a:solidFill>
                <a:latin typeface="Consolas"/>
                <a:cs typeface="Consolas"/>
              </a:rPr>
              <a:t>│</a:t>
            </a:r>
            <a:endParaRPr sz="1100">
              <a:latin typeface="Consolas"/>
              <a:cs typeface="Consolas"/>
            </a:endParaRPr>
          </a:p>
          <a:p>
            <a:pPr marL="137160">
              <a:lnSpc>
                <a:spcPct val="100000"/>
              </a:lnSpc>
              <a:tabLst>
                <a:tab pos="1661160" algn="l"/>
              </a:tabLst>
            </a:pPr>
            <a:r>
              <a:rPr dirty="0" sz="1100">
                <a:solidFill>
                  <a:srgbClr val="82AAFF"/>
                </a:solidFill>
                <a:latin typeface="Consolas"/>
                <a:cs typeface="Consolas"/>
              </a:rPr>
              <a:t>├──</a:t>
            </a:r>
            <a:r>
              <a:rPr dirty="0" sz="1100" spc="-20">
                <a:solidFill>
                  <a:srgbClr val="82AAFF"/>
                </a:solidFill>
                <a:latin typeface="Consolas"/>
                <a:cs typeface="Consolas"/>
              </a:rPr>
              <a:t> </a:t>
            </a:r>
            <a:r>
              <a:rPr dirty="0" sz="1100" spc="-10">
                <a:solidFill>
                  <a:srgbClr val="82AAFF"/>
                </a:solidFill>
                <a:latin typeface="Consolas"/>
                <a:cs typeface="Consolas"/>
              </a:rPr>
              <a:t>app.py</a:t>
            </a:r>
            <a:r>
              <a:rPr dirty="0" sz="1100">
                <a:solidFill>
                  <a:srgbClr val="82AAFF"/>
                </a:solidFill>
                <a:latin typeface="Consolas"/>
                <a:cs typeface="Consolas"/>
              </a:rPr>
              <a:t>	</a:t>
            </a:r>
            <a:r>
              <a:rPr dirty="0" sz="1100" i="1">
                <a:solidFill>
                  <a:srgbClr val="696F97"/>
                </a:solidFill>
                <a:latin typeface="Consolas"/>
                <a:cs typeface="Consolas"/>
              </a:rPr>
              <a:t>←</a:t>
            </a:r>
            <a:r>
              <a:rPr dirty="0" sz="1100" spc="-25" i="1">
                <a:solidFill>
                  <a:srgbClr val="696F97"/>
                </a:solidFill>
                <a:latin typeface="Consolas"/>
                <a:cs typeface="Consolas"/>
              </a:rPr>
              <a:t> </a:t>
            </a:r>
            <a:r>
              <a:rPr dirty="0" sz="1100" i="1">
                <a:solidFill>
                  <a:srgbClr val="696F97"/>
                </a:solidFill>
                <a:latin typeface="Consolas"/>
                <a:cs typeface="Consolas"/>
              </a:rPr>
              <a:t>Main</a:t>
            </a:r>
            <a:r>
              <a:rPr dirty="0" sz="1100" spc="-25" i="1">
                <a:solidFill>
                  <a:srgbClr val="696F97"/>
                </a:solidFill>
                <a:latin typeface="Consolas"/>
                <a:cs typeface="Consolas"/>
              </a:rPr>
              <a:t> </a:t>
            </a:r>
            <a:r>
              <a:rPr dirty="0" sz="1100" i="1">
                <a:solidFill>
                  <a:srgbClr val="696F97"/>
                </a:solidFill>
                <a:latin typeface="Consolas"/>
                <a:cs typeface="Consolas"/>
              </a:rPr>
              <a:t>Streamlit</a:t>
            </a:r>
            <a:r>
              <a:rPr dirty="0" sz="1100" spc="-25" i="1">
                <a:solidFill>
                  <a:srgbClr val="696F97"/>
                </a:solidFill>
                <a:latin typeface="Consolas"/>
                <a:cs typeface="Consolas"/>
              </a:rPr>
              <a:t> app</a:t>
            </a:r>
            <a:endParaRPr sz="1100">
              <a:latin typeface="Consolas"/>
              <a:cs typeface="Consolas"/>
            </a:endParaRPr>
          </a:p>
          <a:p>
            <a:pPr marL="137160">
              <a:lnSpc>
                <a:spcPct val="100000"/>
              </a:lnSpc>
            </a:pPr>
            <a:r>
              <a:rPr dirty="0" sz="1100" spc="-50">
                <a:solidFill>
                  <a:srgbClr val="696F97"/>
                </a:solidFill>
                <a:latin typeface="Consolas"/>
                <a:cs typeface="Consolas"/>
              </a:rPr>
              <a:t>│</a:t>
            </a:r>
            <a:endParaRPr sz="1100">
              <a:latin typeface="Consolas"/>
              <a:cs typeface="Consolas"/>
            </a:endParaRPr>
          </a:p>
          <a:p>
            <a:pPr marL="137160">
              <a:lnSpc>
                <a:spcPct val="100000"/>
              </a:lnSpc>
              <a:tabLst>
                <a:tab pos="1584960" algn="l"/>
              </a:tabLst>
            </a:pPr>
            <a:r>
              <a:rPr dirty="0" sz="1100">
                <a:solidFill>
                  <a:srgbClr val="FFCA6B"/>
                </a:solidFill>
                <a:latin typeface="Consolas"/>
                <a:cs typeface="Consolas"/>
              </a:rPr>
              <a:t>├──</a:t>
            </a:r>
            <a:r>
              <a:rPr dirty="0" sz="1100" spc="-20">
                <a:solidFill>
                  <a:srgbClr val="FFCA6B"/>
                </a:solidFill>
                <a:latin typeface="Consolas"/>
                <a:cs typeface="Consolas"/>
              </a:rPr>
              <a:t> </a:t>
            </a:r>
            <a:r>
              <a:rPr dirty="0" sz="1100" spc="-10">
                <a:solidFill>
                  <a:srgbClr val="FFCA6B"/>
                </a:solidFill>
                <a:latin typeface="Consolas"/>
                <a:cs typeface="Consolas"/>
              </a:rPr>
              <a:t>uploads/</a:t>
            </a:r>
            <a:r>
              <a:rPr dirty="0" sz="1100">
                <a:solidFill>
                  <a:srgbClr val="FFCA6B"/>
                </a:solidFill>
                <a:latin typeface="Consolas"/>
                <a:cs typeface="Consolas"/>
              </a:rPr>
              <a:t>	</a:t>
            </a:r>
            <a:r>
              <a:rPr dirty="0" sz="1100" i="1">
                <a:solidFill>
                  <a:srgbClr val="696F97"/>
                </a:solidFill>
                <a:latin typeface="Consolas"/>
                <a:cs typeface="Consolas"/>
              </a:rPr>
              <a:t>←</a:t>
            </a:r>
            <a:r>
              <a:rPr dirty="0" sz="1100" spc="-20" i="1">
                <a:solidFill>
                  <a:srgbClr val="696F97"/>
                </a:solidFill>
                <a:latin typeface="Consolas"/>
                <a:cs typeface="Consolas"/>
              </a:rPr>
              <a:t> </a:t>
            </a:r>
            <a:r>
              <a:rPr dirty="0" sz="1100" i="1">
                <a:solidFill>
                  <a:srgbClr val="696F97"/>
                </a:solidFill>
                <a:latin typeface="Consolas"/>
                <a:cs typeface="Consolas"/>
              </a:rPr>
              <a:t>Temp</a:t>
            </a:r>
            <a:r>
              <a:rPr dirty="0" sz="1100" spc="-15" i="1">
                <a:solidFill>
                  <a:srgbClr val="696F97"/>
                </a:solidFill>
                <a:latin typeface="Consolas"/>
                <a:cs typeface="Consolas"/>
              </a:rPr>
              <a:t> </a:t>
            </a:r>
            <a:r>
              <a:rPr dirty="0" sz="1100" i="1">
                <a:solidFill>
                  <a:srgbClr val="696F97"/>
                </a:solidFill>
                <a:latin typeface="Consolas"/>
                <a:cs typeface="Consolas"/>
              </a:rPr>
              <a:t>PDF</a:t>
            </a:r>
            <a:r>
              <a:rPr dirty="0" sz="1100" spc="-15" i="1">
                <a:solidFill>
                  <a:srgbClr val="696F97"/>
                </a:solidFill>
                <a:latin typeface="Consolas"/>
                <a:cs typeface="Consolas"/>
              </a:rPr>
              <a:t> </a:t>
            </a:r>
            <a:r>
              <a:rPr dirty="0" sz="1100" spc="-10" i="1">
                <a:solidFill>
                  <a:srgbClr val="696F97"/>
                </a:solidFill>
                <a:latin typeface="Consolas"/>
                <a:cs typeface="Consolas"/>
              </a:rPr>
              <a:t>storage</a:t>
            </a:r>
            <a:endParaRPr sz="1100">
              <a:latin typeface="Consolas"/>
              <a:cs typeface="Consolas"/>
            </a:endParaRPr>
          </a:p>
          <a:p>
            <a:pPr marL="137160">
              <a:lnSpc>
                <a:spcPct val="100000"/>
              </a:lnSpc>
            </a:pPr>
            <a:r>
              <a:rPr dirty="0" sz="1100" spc="-50">
                <a:solidFill>
                  <a:srgbClr val="696F97"/>
                </a:solidFill>
                <a:latin typeface="Consolas"/>
                <a:cs typeface="Consolas"/>
              </a:rPr>
              <a:t>│</a:t>
            </a:r>
            <a:endParaRPr sz="1100">
              <a:latin typeface="Consolas"/>
              <a:cs typeface="Consolas"/>
            </a:endParaRPr>
          </a:p>
          <a:p>
            <a:pPr marL="137160">
              <a:lnSpc>
                <a:spcPct val="100000"/>
              </a:lnSpc>
              <a:tabLst>
                <a:tab pos="1584960" algn="l"/>
              </a:tabLst>
            </a:pPr>
            <a:r>
              <a:rPr dirty="0" sz="1100">
                <a:solidFill>
                  <a:srgbClr val="FFCA6B"/>
                </a:solidFill>
                <a:latin typeface="Consolas"/>
                <a:cs typeface="Consolas"/>
              </a:rPr>
              <a:t>├──</a:t>
            </a:r>
            <a:r>
              <a:rPr dirty="0" sz="1100" spc="-20">
                <a:solidFill>
                  <a:srgbClr val="FFCA6B"/>
                </a:solidFill>
                <a:latin typeface="Consolas"/>
                <a:cs typeface="Consolas"/>
              </a:rPr>
              <a:t> </a:t>
            </a:r>
            <a:r>
              <a:rPr dirty="0" sz="1100" spc="-10">
                <a:solidFill>
                  <a:srgbClr val="FFCA6B"/>
                </a:solidFill>
                <a:latin typeface="Consolas"/>
                <a:cs typeface="Consolas"/>
              </a:rPr>
              <a:t>faiss_index/</a:t>
            </a:r>
            <a:r>
              <a:rPr dirty="0" sz="1100">
                <a:solidFill>
                  <a:srgbClr val="FFCA6B"/>
                </a:solidFill>
                <a:latin typeface="Consolas"/>
                <a:cs typeface="Consolas"/>
              </a:rPr>
              <a:t>	</a:t>
            </a:r>
            <a:r>
              <a:rPr dirty="0" sz="1100" i="1">
                <a:solidFill>
                  <a:srgbClr val="696F97"/>
                </a:solidFill>
                <a:latin typeface="Consolas"/>
                <a:cs typeface="Consolas"/>
              </a:rPr>
              <a:t>←</a:t>
            </a:r>
            <a:r>
              <a:rPr dirty="0" sz="1100" spc="-20" i="1">
                <a:solidFill>
                  <a:srgbClr val="696F97"/>
                </a:solidFill>
                <a:latin typeface="Consolas"/>
                <a:cs typeface="Consolas"/>
              </a:rPr>
              <a:t> </a:t>
            </a:r>
            <a:r>
              <a:rPr dirty="0" sz="1100" i="1">
                <a:solidFill>
                  <a:srgbClr val="696F97"/>
                </a:solidFill>
                <a:latin typeface="Consolas"/>
                <a:cs typeface="Consolas"/>
              </a:rPr>
              <a:t>Vector</a:t>
            </a:r>
            <a:r>
              <a:rPr dirty="0" sz="1100" spc="-15" i="1">
                <a:solidFill>
                  <a:srgbClr val="696F97"/>
                </a:solidFill>
                <a:latin typeface="Consolas"/>
                <a:cs typeface="Consolas"/>
              </a:rPr>
              <a:t> </a:t>
            </a:r>
            <a:r>
              <a:rPr dirty="0" sz="1100" i="1">
                <a:solidFill>
                  <a:srgbClr val="696F97"/>
                </a:solidFill>
                <a:latin typeface="Consolas"/>
                <a:cs typeface="Consolas"/>
              </a:rPr>
              <a:t>DB</a:t>
            </a:r>
            <a:r>
              <a:rPr dirty="0" sz="1100" spc="-20" i="1">
                <a:solidFill>
                  <a:srgbClr val="696F97"/>
                </a:solidFill>
                <a:latin typeface="Consolas"/>
                <a:cs typeface="Consolas"/>
              </a:rPr>
              <a:t> </a:t>
            </a:r>
            <a:r>
              <a:rPr dirty="0" sz="1100" spc="-10" i="1">
                <a:solidFill>
                  <a:srgbClr val="696F97"/>
                </a:solidFill>
                <a:latin typeface="Consolas"/>
                <a:cs typeface="Consolas"/>
              </a:rPr>
              <a:t>(session)</a:t>
            </a:r>
            <a:endParaRPr sz="1100">
              <a:latin typeface="Consolas"/>
              <a:cs typeface="Consolas"/>
            </a:endParaRPr>
          </a:p>
          <a:p>
            <a:pPr marL="137160">
              <a:lnSpc>
                <a:spcPct val="100000"/>
              </a:lnSpc>
            </a:pPr>
            <a:r>
              <a:rPr dirty="0" sz="1100" spc="-50">
                <a:solidFill>
                  <a:srgbClr val="696F97"/>
                </a:solidFill>
                <a:latin typeface="Consolas"/>
                <a:cs typeface="Consolas"/>
              </a:rPr>
              <a:t>│</a:t>
            </a:r>
            <a:endParaRPr sz="1100">
              <a:latin typeface="Consolas"/>
              <a:cs typeface="Consolas"/>
            </a:endParaRPr>
          </a:p>
          <a:p>
            <a:pPr marL="13716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82AAFF"/>
                </a:solidFill>
                <a:latin typeface="Consolas"/>
                <a:cs typeface="Consolas"/>
              </a:rPr>
              <a:t>└──</a:t>
            </a:r>
            <a:r>
              <a:rPr dirty="0" sz="1100" spc="-30">
                <a:solidFill>
                  <a:srgbClr val="82AA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82AAFF"/>
                </a:solidFill>
                <a:latin typeface="Consolas"/>
                <a:cs typeface="Consolas"/>
              </a:rPr>
              <a:t>requirements.txt</a:t>
            </a:r>
            <a:r>
              <a:rPr dirty="0" sz="1100" spc="-20">
                <a:solidFill>
                  <a:srgbClr val="82AAFF"/>
                </a:solidFill>
                <a:latin typeface="Consolas"/>
                <a:cs typeface="Consolas"/>
              </a:rPr>
              <a:t>  </a:t>
            </a:r>
            <a:r>
              <a:rPr dirty="0" sz="1100" i="1">
                <a:solidFill>
                  <a:srgbClr val="696F97"/>
                </a:solidFill>
                <a:latin typeface="Consolas"/>
                <a:cs typeface="Consolas"/>
              </a:rPr>
              <a:t>←</a:t>
            </a:r>
            <a:r>
              <a:rPr dirty="0" sz="1100" spc="-25" i="1">
                <a:solidFill>
                  <a:srgbClr val="696F97"/>
                </a:solidFill>
                <a:latin typeface="Consolas"/>
                <a:cs typeface="Consolas"/>
              </a:rPr>
              <a:t> </a:t>
            </a:r>
            <a:r>
              <a:rPr dirty="0" sz="1100" spc="-10" i="1">
                <a:solidFill>
                  <a:srgbClr val="696F97"/>
                </a:solidFill>
                <a:latin typeface="Consolas"/>
                <a:cs typeface="Consolas"/>
              </a:rPr>
              <a:t>Dependencies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5900" y="800176"/>
            <a:ext cx="6615430" cy="233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356100" algn="l"/>
              </a:tabLst>
            </a:pPr>
            <a:r>
              <a:rPr dirty="0" sz="1350" b="1">
                <a:solidFill>
                  <a:srgbClr val="125E89"/>
                </a:solidFill>
                <a:latin typeface="Calibri"/>
                <a:cs typeface="Calibri"/>
              </a:rPr>
              <a:t>Project</a:t>
            </a:r>
            <a:r>
              <a:rPr dirty="0" sz="1350" spc="-5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125E89"/>
                </a:solidFill>
                <a:latin typeface="Calibri"/>
                <a:cs typeface="Calibri"/>
              </a:rPr>
              <a:t>File</a:t>
            </a:r>
            <a:r>
              <a:rPr dirty="0" sz="1350" spc="-3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125E89"/>
                </a:solidFill>
                <a:latin typeface="Calibri"/>
                <a:cs typeface="Calibri"/>
              </a:rPr>
              <a:t>Structure</a:t>
            </a:r>
            <a:r>
              <a:rPr dirty="0" sz="1350" b="1">
                <a:solidFill>
                  <a:srgbClr val="125E89"/>
                </a:solidFill>
                <a:latin typeface="Calibri"/>
                <a:cs typeface="Calibri"/>
              </a:rPr>
              <a:t>	Key</a:t>
            </a:r>
            <a:r>
              <a:rPr dirty="0" sz="1350" spc="-4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125E89"/>
                </a:solidFill>
                <a:latin typeface="Calibri"/>
                <a:cs typeface="Calibri"/>
              </a:rPr>
              <a:t>Libraries</a:t>
            </a:r>
            <a:r>
              <a:rPr dirty="0" sz="1350" spc="-5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125E89"/>
                </a:solidFill>
                <a:latin typeface="Calibri"/>
                <a:cs typeface="Calibri"/>
              </a:rPr>
              <a:t>(requirements.txt)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488179" y="1005878"/>
            <a:ext cx="4458970" cy="544830"/>
            <a:chOff x="4488179" y="1005878"/>
            <a:chExt cx="4458970" cy="54483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8179" y="1005878"/>
              <a:ext cx="4458462" cy="54479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663439" y="1115568"/>
              <a:ext cx="4206240" cy="384175"/>
            </a:xfrm>
            <a:custGeom>
              <a:avLst/>
              <a:gdLst/>
              <a:ahLst/>
              <a:cxnLst/>
              <a:rect l="l" t="t" r="r" b="b"/>
              <a:pathLst>
                <a:path w="4206240" h="384175">
                  <a:moveTo>
                    <a:pt x="0" y="384048"/>
                  </a:moveTo>
                  <a:lnTo>
                    <a:pt x="4206240" y="38404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71999" y="1115568"/>
              <a:ext cx="4297680" cy="384175"/>
            </a:xfrm>
            <a:custGeom>
              <a:avLst/>
              <a:gdLst/>
              <a:ahLst/>
              <a:cxnLst/>
              <a:rect l="l" t="t" r="r" b="b"/>
              <a:pathLst>
                <a:path w="4297680" h="384175">
                  <a:moveTo>
                    <a:pt x="0" y="384048"/>
                  </a:moveTo>
                  <a:lnTo>
                    <a:pt x="4297680" y="384048"/>
                  </a:lnTo>
                  <a:lnTo>
                    <a:pt x="4297680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71999" y="1115568"/>
              <a:ext cx="91440" cy="384175"/>
            </a:xfrm>
            <a:custGeom>
              <a:avLst/>
              <a:gdLst/>
              <a:ahLst/>
              <a:cxnLst/>
              <a:rect l="l" t="t" r="r" b="b"/>
              <a:pathLst>
                <a:path w="91439" h="384175">
                  <a:moveTo>
                    <a:pt x="91439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91439" y="384048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71999" y="1115568"/>
              <a:ext cx="91440" cy="384175"/>
            </a:xfrm>
            <a:custGeom>
              <a:avLst/>
              <a:gdLst/>
              <a:ahLst/>
              <a:cxnLst/>
              <a:rect l="l" t="t" r="r" b="b"/>
              <a:pathLst>
                <a:path w="91439" h="384175">
                  <a:moveTo>
                    <a:pt x="0" y="384048"/>
                  </a:moveTo>
                  <a:lnTo>
                    <a:pt x="91439" y="384048"/>
                  </a:lnTo>
                  <a:lnTo>
                    <a:pt x="91439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669790" y="1138174"/>
            <a:ext cx="4193540" cy="3460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5725">
              <a:lnSpc>
                <a:spcPts val="129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0D2B45"/>
                </a:solidFill>
                <a:latin typeface="Consolas"/>
                <a:cs typeface="Consolas"/>
              </a:rPr>
              <a:t>streamlit</a:t>
            </a:r>
            <a:endParaRPr sz="1100">
              <a:latin typeface="Consolas"/>
              <a:cs typeface="Consolas"/>
            </a:endParaRPr>
          </a:p>
          <a:p>
            <a:pPr marL="85725">
              <a:lnSpc>
                <a:spcPts val="1230"/>
              </a:lnSpc>
            </a:pPr>
            <a:r>
              <a:rPr dirty="0" sz="1050">
                <a:latin typeface="Calibri"/>
                <a:cs typeface="Calibri"/>
              </a:rPr>
              <a:t>Interactive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web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UI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framework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88179" y="1453946"/>
            <a:ext cx="4458970" cy="546735"/>
            <a:chOff x="4488179" y="1453946"/>
            <a:chExt cx="4458970" cy="54673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8179" y="1453946"/>
              <a:ext cx="4458462" cy="54630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663439" y="1563624"/>
              <a:ext cx="4206240" cy="384175"/>
            </a:xfrm>
            <a:custGeom>
              <a:avLst/>
              <a:gdLst/>
              <a:ahLst/>
              <a:cxnLst/>
              <a:rect l="l" t="t" r="r" b="b"/>
              <a:pathLst>
                <a:path w="4206240" h="384175">
                  <a:moveTo>
                    <a:pt x="0" y="384048"/>
                  </a:moveTo>
                  <a:lnTo>
                    <a:pt x="4206240" y="38404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solidFill>
              <a:srgbClr val="DFF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571999" y="1563624"/>
              <a:ext cx="4297680" cy="384175"/>
            </a:xfrm>
            <a:custGeom>
              <a:avLst/>
              <a:gdLst/>
              <a:ahLst/>
              <a:cxnLst/>
              <a:rect l="l" t="t" r="r" b="b"/>
              <a:pathLst>
                <a:path w="4297680" h="384175">
                  <a:moveTo>
                    <a:pt x="0" y="384048"/>
                  </a:moveTo>
                  <a:lnTo>
                    <a:pt x="4297680" y="384048"/>
                  </a:lnTo>
                  <a:lnTo>
                    <a:pt x="4297680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571999" y="1563624"/>
              <a:ext cx="91440" cy="384175"/>
            </a:xfrm>
            <a:custGeom>
              <a:avLst/>
              <a:gdLst/>
              <a:ahLst/>
              <a:cxnLst/>
              <a:rect l="l" t="t" r="r" b="b"/>
              <a:pathLst>
                <a:path w="91439" h="384175">
                  <a:moveTo>
                    <a:pt x="91439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91439" y="384048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571999" y="1563624"/>
              <a:ext cx="91440" cy="384175"/>
            </a:xfrm>
            <a:custGeom>
              <a:avLst/>
              <a:gdLst/>
              <a:ahLst/>
              <a:cxnLst/>
              <a:rect l="l" t="t" r="r" b="b"/>
              <a:pathLst>
                <a:path w="91439" h="384175">
                  <a:moveTo>
                    <a:pt x="0" y="384048"/>
                  </a:moveTo>
                  <a:lnTo>
                    <a:pt x="91439" y="384048"/>
                  </a:lnTo>
                  <a:lnTo>
                    <a:pt x="91439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669790" y="1586611"/>
            <a:ext cx="4193540" cy="3460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5725">
              <a:lnSpc>
                <a:spcPts val="129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0D2B45"/>
                </a:solidFill>
                <a:latin typeface="Consolas"/>
                <a:cs typeface="Consolas"/>
              </a:rPr>
              <a:t>langchain</a:t>
            </a:r>
            <a:endParaRPr sz="1100">
              <a:latin typeface="Consolas"/>
              <a:cs typeface="Consolas"/>
            </a:endParaRPr>
          </a:p>
          <a:p>
            <a:pPr marL="85725">
              <a:lnSpc>
                <a:spcPts val="1230"/>
              </a:lnSpc>
            </a:pPr>
            <a:r>
              <a:rPr dirty="0" sz="1050">
                <a:latin typeface="Calibri"/>
                <a:cs typeface="Calibri"/>
              </a:rPr>
              <a:t>RAG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pipeline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orchestration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88179" y="1901990"/>
            <a:ext cx="4458970" cy="544830"/>
            <a:chOff x="4488179" y="1901990"/>
            <a:chExt cx="4458970" cy="544830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8179" y="1901990"/>
              <a:ext cx="4458462" cy="54479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663439" y="2011680"/>
              <a:ext cx="4206240" cy="384175"/>
            </a:xfrm>
            <a:custGeom>
              <a:avLst/>
              <a:gdLst/>
              <a:ahLst/>
              <a:cxnLst/>
              <a:rect l="l" t="t" r="r" b="b"/>
              <a:pathLst>
                <a:path w="4206240" h="384175">
                  <a:moveTo>
                    <a:pt x="0" y="384048"/>
                  </a:moveTo>
                  <a:lnTo>
                    <a:pt x="4206240" y="38404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571999" y="2011680"/>
              <a:ext cx="4297680" cy="384175"/>
            </a:xfrm>
            <a:custGeom>
              <a:avLst/>
              <a:gdLst/>
              <a:ahLst/>
              <a:cxnLst/>
              <a:rect l="l" t="t" r="r" b="b"/>
              <a:pathLst>
                <a:path w="4297680" h="384175">
                  <a:moveTo>
                    <a:pt x="0" y="384048"/>
                  </a:moveTo>
                  <a:lnTo>
                    <a:pt x="4297680" y="384048"/>
                  </a:lnTo>
                  <a:lnTo>
                    <a:pt x="4297680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571999" y="2011680"/>
              <a:ext cx="91440" cy="384175"/>
            </a:xfrm>
            <a:custGeom>
              <a:avLst/>
              <a:gdLst/>
              <a:ahLst/>
              <a:cxnLst/>
              <a:rect l="l" t="t" r="r" b="b"/>
              <a:pathLst>
                <a:path w="91439" h="384175">
                  <a:moveTo>
                    <a:pt x="91439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91439" y="384048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571999" y="2011680"/>
              <a:ext cx="91440" cy="384175"/>
            </a:xfrm>
            <a:custGeom>
              <a:avLst/>
              <a:gdLst/>
              <a:ahLst/>
              <a:cxnLst/>
              <a:rect l="l" t="t" r="r" b="b"/>
              <a:pathLst>
                <a:path w="91439" h="384175">
                  <a:moveTo>
                    <a:pt x="0" y="384048"/>
                  </a:moveTo>
                  <a:lnTo>
                    <a:pt x="91439" y="384048"/>
                  </a:lnTo>
                  <a:lnTo>
                    <a:pt x="91439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4669790" y="2034667"/>
            <a:ext cx="419354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5725">
              <a:lnSpc>
                <a:spcPts val="129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0D2B45"/>
                </a:solidFill>
                <a:latin typeface="Consolas"/>
                <a:cs typeface="Consolas"/>
              </a:rPr>
              <a:t>langchain-community</a:t>
            </a:r>
            <a:endParaRPr sz="1100">
              <a:latin typeface="Consolas"/>
              <a:cs typeface="Consolas"/>
            </a:endParaRPr>
          </a:p>
          <a:p>
            <a:pPr marL="85725">
              <a:lnSpc>
                <a:spcPts val="1230"/>
              </a:lnSpc>
            </a:pPr>
            <a:r>
              <a:rPr dirty="0" sz="1050" spc="-10">
                <a:latin typeface="Calibri"/>
                <a:cs typeface="Calibri"/>
              </a:rPr>
              <a:t>PyPDFLoader,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FAISS,</a:t>
            </a:r>
            <a:r>
              <a:rPr dirty="0" sz="1050" spc="5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HuggingFace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488179" y="2350046"/>
            <a:ext cx="4458970" cy="544830"/>
            <a:chOff x="4488179" y="2350046"/>
            <a:chExt cx="4458970" cy="544830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8179" y="2350046"/>
              <a:ext cx="4458462" cy="54479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663439" y="2459735"/>
              <a:ext cx="4206240" cy="384175"/>
            </a:xfrm>
            <a:custGeom>
              <a:avLst/>
              <a:gdLst/>
              <a:ahLst/>
              <a:cxnLst/>
              <a:rect l="l" t="t" r="r" b="b"/>
              <a:pathLst>
                <a:path w="4206240" h="384175">
                  <a:moveTo>
                    <a:pt x="0" y="384048"/>
                  </a:moveTo>
                  <a:lnTo>
                    <a:pt x="4206240" y="38404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solidFill>
              <a:srgbClr val="DFF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571999" y="2459735"/>
              <a:ext cx="4297680" cy="384175"/>
            </a:xfrm>
            <a:custGeom>
              <a:avLst/>
              <a:gdLst/>
              <a:ahLst/>
              <a:cxnLst/>
              <a:rect l="l" t="t" r="r" b="b"/>
              <a:pathLst>
                <a:path w="4297680" h="384175">
                  <a:moveTo>
                    <a:pt x="0" y="384048"/>
                  </a:moveTo>
                  <a:lnTo>
                    <a:pt x="4297680" y="384048"/>
                  </a:lnTo>
                  <a:lnTo>
                    <a:pt x="4297680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571999" y="2459735"/>
              <a:ext cx="91440" cy="384175"/>
            </a:xfrm>
            <a:custGeom>
              <a:avLst/>
              <a:gdLst/>
              <a:ahLst/>
              <a:cxnLst/>
              <a:rect l="l" t="t" r="r" b="b"/>
              <a:pathLst>
                <a:path w="91439" h="384175">
                  <a:moveTo>
                    <a:pt x="91439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91439" y="384048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571999" y="2459735"/>
              <a:ext cx="91440" cy="384175"/>
            </a:xfrm>
            <a:custGeom>
              <a:avLst/>
              <a:gdLst/>
              <a:ahLst/>
              <a:cxnLst/>
              <a:rect l="l" t="t" r="r" b="b"/>
              <a:pathLst>
                <a:path w="91439" h="384175">
                  <a:moveTo>
                    <a:pt x="0" y="384048"/>
                  </a:moveTo>
                  <a:lnTo>
                    <a:pt x="91439" y="384048"/>
                  </a:lnTo>
                  <a:lnTo>
                    <a:pt x="91439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4669790" y="2482418"/>
            <a:ext cx="4193540" cy="3460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5725">
              <a:lnSpc>
                <a:spcPts val="129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0D2B45"/>
                </a:solidFill>
                <a:latin typeface="Consolas"/>
                <a:cs typeface="Consolas"/>
              </a:rPr>
              <a:t>sentence-transformers</a:t>
            </a:r>
            <a:endParaRPr sz="1100">
              <a:latin typeface="Consolas"/>
              <a:cs typeface="Consolas"/>
            </a:endParaRPr>
          </a:p>
          <a:p>
            <a:pPr marL="85725">
              <a:lnSpc>
                <a:spcPts val="1230"/>
              </a:lnSpc>
            </a:pPr>
            <a:r>
              <a:rPr dirty="0" sz="1050" spc="-10">
                <a:latin typeface="Calibri"/>
                <a:cs typeface="Calibri"/>
              </a:rPr>
              <a:t>all-MiniLM-L6-</a:t>
            </a:r>
            <a:r>
              <a:rPr dirty="0" sz="1050">
                <a:latin typeface="Calibri"/>
                <a:cs typeface="Calibri"/>
              </a:rPr>
              <a:t>v2</a:t>
            </a:r>
            <a:r>
              <a:rPr dirty="0" sz="1050" spc="8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embeddings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488179" y="2798102"/>
            <a:ext cx="4458970" cy="544830"/>
            <a:chOff x="4488179" y="2798102"/>
            <a:chExt cx="4458970" cy="544830"/>
          </a:xfrm>
        </p:grpSpPr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8179" y="2798102"/>
              <a:ext cx="4458462" cy="54479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663439" y="2907791"/>
              <a:ext cx="4206240" cy="384175"/>
            </a:xfrm>
            <a:custGeom>
              <a:avLst/>
              <a:gdLst/>
              <a:ahLst/>
              <a:cxnLst/>
              <a:rect l="l" t="t" r="r" b="b"/>
              <a:pathLst>
                <a:path w="4206240" h="384175">
                  <a:moveTo>
                    <a:pt x="0" y="384048"/>
                  </a:moveTo>
                  <a:lnTo>
                    <a:pt x="4206240" y="38404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571999" y="2907791"/>
              <a:ext cx="4297680" cy="384175"/>
            </a:xfrm>
            <a:custGeom>
              <a:avLst/>
              <a:gdLst/>
              <a:ahLst/>
              <a:cxnLst/>
              <a:rect l="l" t="t" r="r" b="b"/>
              <a:pathLst>
                <a:path w="4297680" h="384175">
                  <a:moveTo>
                    <a:pt x="0" y="384048"/>
                  </a:moveTo>
                  <a:lnTo>
                    <a:pt x="4297680" y="384048"/>
                  </a:lnTo>
                  <a:lnTo>
                    <a:pt x="4297680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571999" y="2907791"/>
              <a:ext cx="91440" cy="384175"/>
            </a:xfrm>
            <a:custGeom>
              <a:avLst/>
              <a:gdLst/>
              <a:ahLst/>
              <a:cxnLst/>
              <a:rect l="l" t="t" r="r" b="b"/>
              <a:pathLst>
                <a:path w="91439" h="384175">
                  <a:moveTo>
                    <a:pt x="91439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91439" y="384048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571999" y="2907791"/>
              <a:ext cx="91440" cy="384175"/>
            </a:xfrm>
            <a:custGeom>
              <a:avLst/>
              <a:gdLst/>
              <a:ahLst/>
              <a:cxnLst/>
              <a:rect l="l" t="t" r="r" b="b"/>
              <a:pathLst>
                <a:path w="91439" h="384175">
                  <a:moveTo>
                    <a:pt x="0" y="384048"/>
                  </a:moveTo>
                  <a:lnTo>
                    <a:pt x="91439" y="384048"/>
                  </a:lnTo>
                  <a:lnTo>
                    <a:pt x="91439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4669790" y="2931033"/>
            <a:ext cx="419354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5725">
              <a:lnSpc>
                <a:spcPts val="129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0D2B45"/>
                </a:solidFill>
                <a:latin typeface="Consolas"/>
                <a:cs typeface="Consolas"/>
              </a:rPr>
              <a:t>faiss-</a:t>
            </a:r>
            <a:r>
              <a:rPr dirty="0" sz="1100" spc="-25" b="1">
                <a:solidFill>
                  <a:srgbClr val="0D2B45"/>
                </a:solidFill>
                <a:latin typeface="Consolas"/>
                <a:cs typeface="Consolas"/>
              </a:rPr>
              <a:t>cpu</a:t>
            </a:r>
            <a:endParaRPr sz="1100">
              <a:latin typeface="Consolas"/>
              <a:cs typeface="Consolas"/>
            </a:endParaRPr>
          </a:p>
          <a:p>
            <a:pPr marL="85725">
              <a:lnSpc>
                <a:spcPts val="1230"/>
              </a:lnSpc>
            </a:pPr>
            <a:r>
              <a:rPr dirty="0" sz="1050">
                <a:latin typeface="Calibri"/>
                <a:cs typeface="Calibri"/>
              </a:rPr>
              <a:t>Vector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similarity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search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488179" y="3246158"/>
            <a:ext cx="4458970" cy="544830"/>
            <a:chOff x="4488179" y="3246158"/>
            <a:chExt cx="4458970" cy="544830"/>
          </a:xfrm>
        </p:grpSpPr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8179" y="3246158"/>
              <a:ext cx="4458462" cy="54479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663439" y="3355847"/>
              <a:ext cx="4206240" cy="384175"/>
            </a:xfrm>
            <a:custGeom>
              <a:avLst/>
              <a:gdLst/>
              <a:ahLst/>
              <a:cxnLst/>
              <a:rect l="l" t="t" r="r" b="b"/>
              <a:pathLst>
                <a:path w="4206240" h="384175">
                  <a:moveTo>
                    <a:pt x="0" y="384047"/>
                  </a:moveTo>
                  <a:lnTo>
                    <a:pt x="4206240" y="384047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384047"/>
                  </a:lnTo>
                  <a:close/>
                </a:path>
              </a:pathLst>
            </a:custGeom>
            <a:solidFill>
              <a:srgbClr val="DFF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571999" y="3355847"/>
              <a:ext cx="4297680" cy="384175"/>
            </a:xfrm>
            <a:custGeom>
              <a:avLst/>
              <a:gdLst/>
              <a:ahLst/>
              <a:cxnLst/>
              <a:rect l="l" t="t" r="r" b="b"/>
              <a:pathLst>
                <a:path w="4297680" h="384175">
                  <a:moveTo>
                    <a:pt x="0" y="384047"/>
                  </a:moveTo>
                  <a:lnTo>
                    <a:pt x="4297680" y="384047"/>
                  </a:lnTo>
                  <a:lnTo>
                    <a:pt x="4297680" y="0"/>
                  </a:lnTo>
                  <a:lnTo>
                    <a:pt x="0" y="0"/>
                  </a:lnTo>
                  <a:lnTo>
                    <a:pt x="0" y="384047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571999" y="3355847"/>
              <a:ext cx="91440" cy="384175"/>
            </a:xfrm>
            <a:custGeom>
              <a:avLst/>
              <a:gdLst/>
              <a:ahLst/>
              <a:cxnLst/>
              <a:rect l="l" t="t" r="r" b="b"/>
              <a:pathLst>
                <a:path w="91439" h="384175">
                  <a:moveTo>
                    <a:pt x="91439" y="0"/>
                  </a:moveTo>
                  <a:lnTo>
                    <a:pt x="0" y="0"/>
                  </a:lnTo>
                  <a:lnTo>
                    <a:pt x="0" y="384047"/>
                  </a:lnTo>
                  <a:lnTo>
                    <a:pt x="91439" y="384047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571999" y="3355847"/>
              <a:ext cx="91440" cy="384175"/>
            </a:xfrm>
            <a:custGeom>
              <a:avLst/>
              <a:gdLst/>
              <a:ahLst/>
              <a:cxnLst/>
              <a:rect l="l" t="t" r="r" b="b"/>
              <a:pathLst>
                <a:path w="91439" h="384175">
                  <a:moveTo>
                    <a:pt x="0" y="384047"/>
                  </a:moveTo>
                  <a:lnTo>
                    <a:pt x="91439" y="384047"/>
                  </a:lnTo>
                  <a:lnTo>
                    <a:pt x="91439" y="0"/>
                  </a:lnTo>
                  <a:lnTo>
                    <a:pt x="0" y="0"/>
                  </a:lnTo>
                  <a:lnTo>
                    <a:pt x="0" y="384047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4669790" y="3379089"/>
            <a:ext cx="419354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5725">
              <a:lnSpc>
                <a:spcPts val="129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0D2B45"/>
                </a:solidFill>
                <a:latin typeface="Consolas"/>
                <a:cs typeface="Consolas"/>
              </a:rPr>
              <a:t>pymupdf</a:t>
            </a:r>
            <a:endParaRPr sz="1100">
              <a:latin typeface="Consolas"/>
              <a:cs typeface="Consolas"/>
            </a:endParaRPr>
          </a:p>
          <a:p>
            <a:pPr marL="85725">
              <a:lnSpc>
                <a:spcPts val="1230"/>
              </a:lnSpc>
            </a:pPr>
            <a:r>
              <a:rPr dirty="0" sz="1050">
                <a:latin typeface="Calibri"/>
                <a:cs typeface="Calibri"/>
              </a:rPr>
              <a:t>PDF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text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extraction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488179" y="3694176"/>
            <a:ext cx="4458970" cy="544830"/>
            <a:chOff x="4488179" y="3694176"/>
            <a:chExt cx="4458970" cy="544830"/>
          </a:xfrm>
        </p:grpSpPr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8179" y="3694176"/>
              <a:ext cx="4458462" cy="544791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4663439" y="3803904"/>
              <a:ext cx="4206240" cy="384175"/>
            </a:xfrm>
            <a:custGeom>
              <a:avLst/>
              <a:gdLst/>
              <a:ahLst/>
              <a:cxnLst/>
              <a:rect l="l" t="t" r="r" b="b"/>
              <a:pathLst>
                <a:path w="4206240" h="384175">
                  <a:moveTo>
                    <a:pt x="0" y="384048"/>
                  </a:moveTo>
                  <a:lnTo>
                    <a:pt x="4206240" y="38404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571999" y="3803904"/>
              <a:ext cx="4297680" cy="384175"/>
            </a:xfrm>
            <a:custGeom>
              <a:avLst/>
              <a:gdLst/>
              <a:ahLst/>
              <a:cxnLst/>
              <a:rect l="l" t="t" r="r" b="b"/>
              <a:pathLst>
                <a:path w="4297680" h="384175">
                  <a:moveTo>
                    <a:pt x="0" y="384048"/>
                  </a:moveTo>
                  <a:lnTo>
                    <a:pt x="4297680" y="384048"/>
                  </a:lnTo>
                  <a:lnTo>
                    <a:pt x="4297680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4571999" y="3803904"/>
              <a:ext cx="91440" cy="384175"/>
            </a:xfrm>
            <a:custGeom>
              <a:avLst/>
              <a:gdLst/>
              <a:ahLst/>
              <a:cxnLst/>
              <a:rect l="l" t="t" r="r" b="b"/>
              <a:pathLst>
                <a:path w="91439" h="384175">
                  <a:moveTo>
                    <a:pt x="91439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91439" y="384048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571999" y="3803904"/>
              <a:ext cx="91440" cy="384175"/>
            </a:xfrm>
            <a:custGeom>
              <a:avLst/>
              <a:gdLst/>
              <a:ahLst/>
              <a:cxnLst/>
              <a:rect l="l" t="t" r="r" b="b"/>
              <a:pathLst>
                <a:path w="91439" h="384175">
                  <a:moveTo>
                    <a:pt x="0" y="384048"/>
                  </a:moveTo>
                  <a:lnTo>
                    <a:pt x="91439" y="384048"/>
                  </a:lnTo>
                  <a:lnTo>
                    <a:pt x="91439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4669790" y="3827475"/>
            <a:ext cx="419354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5725">
              <a:lnSpc>
                <a:spcPts val="1285"/>
              </a:lnSpc>
              <a:spcBef>
                <a:spcPts val="100"/>
              </a:spcBef>
            </a:pPr>
            <a:r>
              <a:rPr dirty="0" sz="1100" spc="-10" b="1">
                <a:solidFill>
                  <a:srgbClr val="0D2B45"/>
                </a:solidFill>
                <a:latin typeface="Consolas"/>
                <a:cs typeface="Consolas"/>
              </a:rPr>
              <a:t>torch</a:t>
            </a:r>
            <a:endParaRPr sz="1100">
              <a:latin typeface="Consolas"/>
              <a:cs typeface="Consolas"/>
            </a:endParaRPr>
          </a:p>
          <a:p>
            <a:pPr marL="85725">
              <a:lnSpc>
                <a:spcPts val="1225"/>
              </a:lnSpc>
            </a:pPr>
            <a:r>
              <a:rPr dirty="0" sz="1050">
                <a:latin typeface="Calibri"/>
                <a:cs typeface="Calibri"/>
              </a:rPr>
              <a:t>Deep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learning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model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runtime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488179" y="4142232"/>
            <a:ext cx="4458970" cy="544830"/>
            <a:chOff x="4488179" y="4142232"/>
            <a:chExt cx="4458970" cy="544830"/>
          </a:xfrm>
        </p:grpSpPr>
        <p:pic>
          <p:nvPicPr>
            <p:cNvPr id="56" name="object 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8179" y="4142232"/>
              <a:ext cx="4458462" cy="544791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4571999" y="4251960"/>
              <a:ext cx="4297680" cy="384175"/>
            </a:xfrm>
            <a:custGeom>
              <a:avLst/>
              <a:gdLst/>
              <a:ahLst/>
              <a:cxnLst/>
              <a:rect l="l" t="t" r="r" b="b"/>
              <a:pathLst>
                <a:path w="4297680" h="384175">
                  <a:moveTo>
                    <a:pt x="0" y="384047"/>
                  </a:moveTo>
                  <a:lnTo>
                    <a:pt x="4297680" y="384047"/>
                  </a:lnTo>
                  <a:lnTo>
                    <a:pt x="4297680" y="0"/>
                  </a:lnTo>
                  <a:lnTo>
                    <a:pt x="0" y="0"/>
                  </a:lnTo>
                  <a:lnTo>
                    <a:pt x="0" y="384047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4571999" y="4251960"/>
              <a:ext cx="91440" cy="384175"/>
            </a:xfrm>
            <a:custGeom>
              <a:avLst/>
              <a:gdLst/>
              <a:ahLst/>
              <a:cxnLst/>
              <a:rect l="l" t="t" r="r" b="b"/>
              <a:pathLst>
                <a:path w="91439" h="384175">
                  <a:moveTo>
                    <a:pt x="91439" y="0"/>
                  </a:moveTo>
                  <a:lnTo>
                    <a:pt x="0" y="0"/>
                  </a:lnTo>
                  <a:lnTo>
                    <a:pt x="0" y="384047"/>
                  </a:lnTo>
                  <a:lnTo>
                    <a:pt x="91439" y="384047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571999" y="4251960"/>
              <a:ext cx="91440" cy="384175"/>
            </a:xfrm>
            <a:custGeom>
              <a:avLst/>
              <a:gdLst/>
              <a:ahLst/>
              <a:cxnLst/>
              <a:rect l="l" t="t" r="r" b="b"/>
              <a:pathLst>
                <a:path w="91439" h="384175">
                  <a:moveTo>
                    <a:pt x="0" y="384047"/>
                  </a:moveTo>
                  <a:lnTo>
                    <a:pt x="91439" y="384047"/>
                  </a:lnTo>
                  <a:lnTo>
                    <a:pt x="91439" y="0"/>
                  </a:lnTo>
                  <a:lnTo>
                    <a:pt x="0" y="0"/>
                  </a:lnTo>
                  <a:lnTo>
                    <a:pt x="0" y="384047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4663440" y="4251959"/>
            <a:ext cx="4206240" cy="384175"/>
          </a:xfrm>
          <a:prstGeom prst="rect">
            <a:avLst/>
          </a:prstGeom>
          <a:solidFill>
            <a:srgbClr val="DFF1FD"/>
          </a:solidFill>
        </p:spPr>
        <p:txBody>
          <a:bodyPr wrap="square" lIns="0" tIns="36830" rIns="0" bIns="0" rtlCol="0" vert="horz">
            <a:spAutoFit/>
          </a:bodyPr>
          <a:lstStyle/>
          <a:p>
            <a:pPr marL="92075">
              <a:lnSpc>
                <a:spcPts val="1290"/>
              </a:lnSpc>
              <a:spcBef>
                <a:spcPts val="290"/>
              </a:spcBef>
            </a:pPr>
            <a:r>
              <a:rPr dirty="0" sz="1100" spc="-10" b="1">
                <a:solidFill>
                  <a:srgbClr val="0D2B45"/>
                </a:solidFill>
                <a:latin typeface="Consolas"/>
                <a:cs typeface="Consolas"/>
              </a:rPr>
              <a:t>ollama</a:t>
            </a:r>
            <a:endParaRPr sz="1100">
              <a:latin typeface="Consolas"/>
              <a:cs typeface="Consolas"/>
            </a:endParaRPr>
          </a:p>
          <a:p>
            <a:pPr marL="92075">
              <a:lnSpc>
                <a:spcPts val="1230"/>
              </a:lnSpc>
            </a:pPr>
            <a:r>
              <a:rPr dirty="0" sz="1050">
                <a:latin typeface="Calibri"/>
                <a:cs typeface="Calibri"/>
              </a:rPr>
              <a:t>Local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LLM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serving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(Qwen2)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Coding</a:t>
            </a:r>
            <a:r>
              <a:rPr dirty="0" spc="-30"/>
              <a:t> </a:t>
            </a:r>
            <a:r>
              <a:rPr dirty="0"/>
              <a:t>–</a:t>
            </a:r>
            <a:r>
              <a:rPr dirty="0" spc="-30"/>
              <a:t> </a:t>
            </a:r>
            <a:r>
              <a:rPr dirty="0"/>
              <a:t>Module</a:t>
            </a:r>
            <a:r>
              <a:rPr dirty="0" spc="-20"/>
              <a:t> </a:t>
            </a:r>
            <a:r>
              <a:rPr dirty="0"/>
              <a:t>1</a:t>
            </a:r>
            <a:r>
              <a:rPr dirty="0" spc="-25"/>
              <a:t> </a:t>
            </a:r>
            <a:r>
              <a:rPr dirty="0"/>
              <a:t>&amp;</a:t>
            </a:r>
            <a:r>
              <a:rPr dirty="0" spc="-30"/>
              <a:t> </a:t>
            </a:r>
            <a:r>
              <a:rPr dirty="0"/>
              <a:t>2:</a:t>
            </a:r>
            <a:r>
              <a:rPr dirty="0" spc="-35"/>
              <a:t> </a:t>
            </a:r>
            <a:r>
              <a:rPr dirty="0"/>
              <a:t>PDF</a:t>
            </a:r>
            <a:r>
              <a:rPr dirty="0" spc="-5"/>
              <a:t> </a:t>
            </a:r>
            <a:r>
              <a:rPr dirty="0" spc="-10"/>
              <a:t>Ingestion</a:t>
            </a:r>
            <a:r>
              <a:rPr dirty="0" spc="-30"/>
              <a:t> </a:t>
            </a:r>
            <a:r>
              <a:rPr dirty="0"/>
              <a:t>&amp;</a:t>
            </a:r>
            <a:r>
              <a:rPr dirty="0" spc="-25"/>
              <a:t> </a:t>
            </a:r>
            <a:r>
              <a:rPr dirty="0" spc="-50"/>
              <a:t>Text</a:t>
            </a:r>
            <a:r>
              <a:rPr dirty="0" spc="-30"/>
              <a:t> </a:t>
            </a:r>
            <a:r>
              <a:rPr dirty="0" spc="-10"/>
              <a:t>Chunking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900" y="787984"/>
            <a:ext cx="355409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Step</a:t>
            </a:r>
            <a:r>
              <a:rPr dirty="0" sz="1250" spc="-3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1: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Load</a:t>
            </a:r>
            <a:r>
              <a:rPr dirty="0" sz="1250" spc="-2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PDFs</a:t>
            </a:r>
            <a:r>
              <a:rPr dirty="0" sz="1250" spc="-3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and</a:t>
            </a:r>
            <a:r>
              <a:rPr dirty="0" sz="1250" spc="-2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extract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text</a:t>
            </a:r>
            <a:r>
              <a:rPr dirty="0" sz="1250" spc="-1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using</a:t>
            </a:r>
            <a:r>
              <a:rPr dirty="0" sz="1250" spc="-2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PyPDFLoader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9" y="969263"/>
            <a:ext cx="8847582" cy="178993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28600" y="1078991"/>
            <a:ext cx="8686800" cy="1628139"/>
            <a:chOff x="228600" y="1078991"/>
            <a:chExt cx="8686800" cy="1628139"/>
          </a:xfrm>
        </p:grpSpPr>
        <p:sp>
          <p:nvSpPr>
            <p:cNvPr id="6" name="object 6"/>
            <p:cNvSpPr/>
            <p:nvPr/>
          </p:nvSpPr>
          <p:spPr>
            <a:xfrm>
              <a:off x="228600" y="1353311"/>
              <a:ext cx="8686800" cy="1353820"/>
            </a:xfrm>
            <a:custGeom>
              <a:avLst/>
              <a:gdLst/>
              <a:ahLst/>
              <a:cxnLst/>
              <a:rect l="l" t="t" r="r" b="b"/>
              <a:pathLst>
                <a:path w="8686800" h="1353820">
                  <a:moveTo>
                    <a:pt x="0" y="1353312"/>
                  </a:moveTo>
                  <a:lnTo>
                    <a:pt x="8686800" y="1353312"/>
                  </a:lnTo>
                  <a:lnTo>
                    <a:pt x="8686800" y="0"/>
                  </a:lnTo>
                  <a:lnTo>
                    <a:pt x="0" y="0"/>
                  </a:lnTo>
                  <a:lnTo>
                    <a:pt x="0" y="1353312"/>
                  </a:lnTo>
                  <a:close/>
                </a:path>
              </a:pathLst>
            </a:custGeom>
            <a:solidFill>
              <a:srgbClr val="1A1F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28600" y="1078991"/>
              <a:ext cx="8686800" cy="274320"/>
            </a:xfrm>
            <a:custGeom>
              <a:avLst/>
              <a:gdLst/>
              <a:ahLst/>
              <a:cxnLst/>
              <a:rect l="l" t="t" r="r" b="b"/>
              <a:pathLst>
                <a:path w="8686800" h="274319">
                  <a:moveTo>
                    <a:pt x="8686800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686800" y="274320"/>
                  </a:lnTo>
                  <a:lnTo>
                    <a:pt x="8686800" y="0"/>
                  </a:lnTo>
                  <a:close/>
                </a:path>
              </a:pathLst>
            </a:custGeom>
            <a:solidFill>
              <a:srgbClr val="242B4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22250" y="1072641"/>
          <a:ext cx="8775700" cy="1626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6800"/>
              </a:tblGrid>
              <a:tr h="273685">
                <a:tc>
                  <a:txBody>
                    <a:bodyPr/>
                    <a:lstStyle/>
                    <a:p>
                      <a:pPr marL="82296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app.py</a:t>
                      </a:r>
                      <a:r>
                        <a:rPr dirty="0" sz="1000" spc="-15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–</a:t>
                      </a:r>
                      <a:r>
                        <a:rPr dirty="0" sz="1000" spc="-1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PDF</a:t>
                      </a:r>
                      <a:r>
                        <a:rPr dirty="0" sz="1000" spc="-15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Loading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2C3560"/>
                      </a:solidFill>
                      <a:prstDash val="solid"/>
                    </a:lnL>
                    <a:lnR w="12700">
                      <a:solidFill>
                        <a:srgbClr val="2C3560"/>
                      </a:solidFill>
                      <a:prstDash val="solid"/>
                    </a:lnR>
                    <a:lnT w="12700">
                      <a:solidFill>
                        <a:srgbClr val="2C3560"/>
                      </a:solidFill>
                      <a:prstDash val="solid"/>
                    </a:lnT>
                    <a:lnB w="12700">
                      <a:solidFill>
                        <a:srgbClr val="2C3560"/>
                      </a:solidFill>
                      <a:prstDash val="solid"/>
                    </a:lnB>
                  </a:tcPr>
                </a:tc>
              </a:tr>
              <a:tr h="1353185"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8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800" spc="6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8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langchain_community.document_loaders</a:t>
                      </a:r>
                      <a:r>
                        <a:rPr dirty="0" sz="800" spc="6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8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dirty="0" sz="800" spc="7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80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PyPDFLoader</a:t>
                      </a:r>
                      <a:endParaRPr sz="800">
                        <a:latin typeface="Consolas"/>
                        <a:cs typeface="Consolas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import </a:t>
                      </a:r>
                      <a:r>
                        <a:rPr dirty="0" sz="800" spc="-2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os</a:t>
                      </a:r>
                      <a:endParaRPr sz="80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59410" marR="6483985" indent="-222885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def</a:t>
                      </a:r>
                      <a:r>
                        <a:rPr dirty="0" sz="800" spc="-1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80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load_and_extract</a:t>
                      </a:r>
                      <a:r>
                        <a:rPr dirty="0" sz="8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(uploaded_files): </a:t>
                      </a:r>
                      <a:r>
                        <a:rPr dirty="0" sz="8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all_docs</a:t>
                      </a:r>
                      <a:r>
                        <a:rPr dirty="0" sz="800" spc="-1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8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800" spc="-1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800" spc="-2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[]</a:t>
                      </a:r>
                      <a:endParaRPr sz="800">
                        <a:latin typeface="Consolas"/>
                        <a:cs typeface="Consolas"/>
                      </a:endParaRPr>
                    </a:p>
                    <a:p>
                      <a:pPr marL="359410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for</a:t>
                      </a:r>
                      <a:r>
                        <a:rPr dirty="0" sz="800" spc="-1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8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file</a:t>
                      </a:r>
                      <a:r>
                        <a:rPr dirty="0" sz="800" spc="-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8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in</a:t>
                      </a:r>
                      <a:r>
                        <a:rPr dirty="0" sz="800" spc="-5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8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uploaded_files:</a:t>
                      </a:r>
                      <a:endParaRPr sz="800">
                        <a:latin typeface="Consolas"/>
                        <a:cs typeface="Consolas"/>
                      </a:endParaRPr>
                    </a:p>
                    <a:p>
                      <a:pPr marL="581660" marR="620649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file_path</a:t>
                      </a:r>
                      <a:r>
                        <a:rPr dirty="0" sz="800" spc="-1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8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8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f</a:t>
                      </a:r>
                      <a:r>
                        <a:rPr dirty="0" sz="800" spc="-1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"uploads/{file.name}" </a:t>
                      </a:r>
                      <a:r>
                        <a:rPr dirty="0" sz="8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loader</a:t>
                      </a:r>
                      <a:r>
                        <a:rPr dirty="0" sz="800" spc="-1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8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800" spc="-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80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PyPDFLoader</a:t>
                      </a:r>
                      <a:r>
                        <a:rPr dirty="0" sz="8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(file_path)</a:t>
                      </a:r>
                      <a:endParaRPr sz="800">
                        <a:latin typeface="Consolas"/>
                        <a:cs typeface="Consolas"/>
                      </a:endParaRPr>
                    </a:p>
                    <a:p>
                      <a:pPr marL="581660">
                        <a:lnSpc>
                          <a:spcPct val="100000"/>
                        </a:lnSpc>
                        <a:tabLst>
                          <a:tab pos="970280" algn="l"/>
                          <a:tab pos="1971675" algn="l"/>
                        </a:tabLst>
                      </a:pPr>
                      <a:r>
                        <a:rPr dirty="0" sz="800" spc="-2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docs</a:t>
                      </a:r>
                      <a:r>
                        <a:rPr dirty="0" sz="8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	=</a:t>
                      </a:r>
                      <a:r>
                        <a:rPr dirty="0" sz="8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loader.</a:t>
                      </a:r>
                      <a:r>
                        <a:rPr dirty="0" sz="80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load</a:t>
                      </a:r>
                      <a:r>
                        <a:rPr dirty="0" sz="8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()</a:t>
                      </a:r>
                      <a:r>
                        <a:rPr dirty="0" sz="8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	</a:t>
                      </a:r>
                      <a:r>
                        <a:rPr dirty="0" sz="8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dirty="0" sz="800" spc="-1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8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Returns</a:t>
                      </a:r>
                      <a:r>
                        <a:rPr dirty="0" sz="800" spc="-1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8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text</a:t>
                      </a:r>
                      <a:r>
                        <a:rPr dirty="0" sz="800" spc="-1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8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dirty="0" sz="800" spc="-1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8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page</a:t>
                      </a:r>
                      <a:r>
                        <a:rPr dirty="0" sz="800" spc="-1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800" spc="-1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metadata</a:t>
                      </a:r>
                      <a:endParaRPr sz="800">
                        <a:latin typeface="Consolas"/>
                        <a:cs typeface="Consolas"/>
                      </a:endParaRPr>
                    </a:p>
                    <a:p>
                      <a:pPr marL="581660">
                        <a:lnSpc>
                          <a:spcPts val="955"/>
                        </a:lnSpc>
                      </a:pPr>
                      <a:r>
                        <a:rPr dirty="0" sz="8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all_docs.extend(docs)</a:t>
                      </a:r>
                      <a:endParaRPr sz="800">
                        <a:latin typeface="Consolas"/>
                        <a:cs typeface="Consolas"/>
                      </a:endParaRPr>
                    </a:p>
                    <a:p>
                      <a:pPr marL="359410">
                        <a:lnSpc>
                          <a:spcPts val="640"/>
                        </a:lnSpc>
                      </a:pPr>
                      <a:r>
                        <a:rPr dirty="0" sz="8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return</a:t>
                      </a:r>
                      <a:r>
                        <a:rPr dirty="0" sz="800" spc="-1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8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all_docs</a:t>
                      </a:r>
                      <a:endParaRPr sz="800">
                        <a:latin typeface="Consolas"/>
                        <a:cs typeface="Consolas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2C3560"/>
                      </a:solidFill>
                      <a:prstDash val="solid"/>
                    </a:lnL>
                    <a:lnR w="12700">
                      <a:solidFill>
                        <a:srgbClr val="2C3560"/>
                      </a:solidFill>
                      <a:prstDash val="solid"/>
                    </a:lnR>
                    <a:lnT w="12700">
                      <a:solidFill>
                        <a:srgbClr val="2C3560"/>
                      </a:solidFill>
                      <a:prstDash val="solid"/>
                    </a:lnT>
                    <a:lnB w="12700">
                      <a:solidFill>
                        <a:srgbClr val="2C356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1977" y="1136650"/>
            <a:ext cx="131572" cy="13157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145" y="1136650"/>
            <a:ext cx="131572" cy="13157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4313" y="1136650"/>
            <a:ext cx="131572" cy="13157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15900" y="2809748"/>
            <a:ext cx="338264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Step</a:t>
            </a:r>
            <a:r>
              <a:rPr dirty="0" sz="1250" spc="-2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2:</a:t>
            </a:r>
            <a:r>
              <a:rPr dirty="0" sz="1250" spc="-1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Split</a:t>
            </a:r>
            <a:r>
              <a:rPr dirty="0" sz="1250" spc="-2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extracted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text</a:t>
            </a:r>
            <a:r>
              <a:rPr dirty="0" sz="1250" spc="-1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into</a:t>
            </a:r>
            <a:r>
              <a:rPr dirty="0" sz="1250" spc="-1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overlapping</a:t>
            </a:r>
            <a:r>
              <a:rPr dirty="0" sz="1250" spc="-2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chunks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4779" y="2980949"/>
            <a:ext cx="8847582" cy="2062733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228600" y="3090672"/>
            <a:ext cx="8686800" cy="1902460"/>
            <a:chOff x="228600" y="3090672"/>
            <a:chExt cx="8686800" cy="1902460"/>
          </a:xfrm>
        </p:grpSpPr>
        <p:sp>
          <p:nvSpPr>
            <p:cNvPr id="15" name="object 15"/>
            <p:cNvSpPr/>
            <p:nvPr/>
          </p:nvSpPr>
          <p:spPr>
            <a:xfrm>
              <a:off x="228600" y="3364992"/>
              <a:ext cx="8686800" cy="1628139"/>
            </a:xfrm>
            <a:custGeom>
              <a:avLst/>
              <a:gdLst/>
              <a:ahLst/>
              <a:cxnLst/>
              <a:rect l="l" t="t" r="r" b="b"/>
              <a:pathLst>
                <a:path w="8686800" h="1628139">
                  <a:moveTo>
                    <a:pt x="0" y="1627631"/>
                  </a:moveTo>
                  <a:lnTo>
                    <a:pt x="8686800" y="1627631"/>
                  </a:lnTo>
                  <a:lnTo>
                    <a:pt x="8686800" y="0"/>
                  </a:lnTo>
                  <a:lnTo>
                    <a:pt x="0" y="0"/>
                  </a:lnTo>
                  <a:lnTo>
                    <a:pt x="0" y="1627631"/>
                  </a:lnTo>
                  <a:close/>
                </a:path>
              </a:pathLst>
            </a:custGeom>
            <a:solidFill>
              <a:srgbClr val="1A1F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28600" y="3090672"/>
              <a:ext cx="8686800" cy="274320"/>
            </a:xfrm>
            <a:custGeom>
              <a:avLst/>
              <a:gdLst/>
              <a:ahLst/>
              <a:cxnLst/>
              <a:rect l="l" t="t" r="r" b="b"/>
              <a:pathLst>
                <a:path w="8686800" h="274320">
                  <a:moveTo>
                    <a:pt x="8686800" y="0"/>
                  </a:moveTo>
                  <a:lnTo>
                    <a:pt x="0" y="0"/>
                  </a:lnTo>
                  <a:lnTo>
                    <a:pt x="0" y="274319"/>
                  </a:lnTo>
                  <a:lnTo>
                    <a:pt x="8686800" y="274319"/>
                  </a:lnTo>
                  <a:lnTo>
                    <a:pt x="8686800" y="0"/>
                  </a:lnTo>
                  <a:close/>
                </a:path>
              </a:pathLst>
            </a:custGeom>
            <a:solidFill>
              <a:srgbClr val="242B4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22250" y="3084322"/>
          <a:ext cx="8775700" cy="1901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6800"/>
              </a:tblGrid>
              <a:tr h="273685">
                <a:tc>
                  <a:txBody>
                    <a:bodyPr/>
                    <a:lstStyle/>
                    <a:p>
                      <a:pPr marL="8229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app.py</a:t>
                      </a:r>
                      <a:r>
                        <a:rPr dirty="0" sz="1000" spc="-2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–</a:t>
                      </a:r>
                      <a:r>
                        <a:rPr dirty="0" sz="1000" spc="-1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Text</a:t>
                      </a:r>
                      <a:r>
                        <a:rPr dirty="0" sz="1000" spc="-15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Chunking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2C3560"/>
                      </a:solidFill>
                      <a:prstDash val="solid"/>
                    </a:lnL>
                    <a:lnR w="12700">
                      <a:solidFill>
                        <a:srgbClr val="2C3560"/>
                      </a:solidFill>
                      <a:prstDash val="solid"/>
                    </a:lnR>
                    <a:lnT w="12700">
                      <a:solidFill>
                        <a:srgbClr val="2C3560"/>
                      </a:solidFill>
                      <a:prstDash val="solid"/>
                    </a:lnT>
                    <a:lnB w="12700">
                      <a:solidFill>
                        <a:srgbClr val="2C3560"/>
                      </a:solidFill>
                      <a:prstDash val="solid"/>
                    </a:lnB>
                  </a:tcPr>
                </a:tc>
              </a:tr>
              <a:tr h="1627505"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05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050" spc="-5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langchain.text_splitter</a:t>
                      </a:r>
                      <a:r>
                        <a:rPr dirty="0" sz="1050" spc="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dirty="0" sz="1050" spc="1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RecursiveCharacterTextSplitter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dirty="0" sz="105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def</a:t>
                      </a:r>
                      <a:r>
                        <a:rPr dirty="0" sz="1050" spc="-2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split_into_chunks</a:t>
                      </a: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(docs):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721995" marR="4597400" indent="-292735">
                        <a:lnSpc>
                          <a:spcPct val="100000"/>
                        </a:lnSpc>
                        <a:tabLst>
                          <a:tab pos="1602105" algn="l"/>
                          <a:tab pos="2255520" algn="l"/>
                        </a:tabLst>
                      </a:pPr>
                      <a:r>
                        <a:rPr dirty="0" sz="105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splitter</a:t>
                      </a:r>
                      <a:r>
                        <a:rPr dirty="0" sz="1050" spc="-3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050" spc="-2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RecursiveCharacterTextSplitter</a:t>
                      </a: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 chunk_size</a:t>
                      </a:r>
                      <a:r>
                        <a:rPr dirty="0" sz="105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	=</a:t>
                      </a:r>
                      <a:r>
                        <a:rPr dirty="0" sz="1050" spc="-6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20">
                          <a:solidFill>
                            <a:srgbClr val="FFCA6B"/>
                          </a:solidFill>
                          <a:latin typeface="Consolas"/>
                          <a:cs typeface="Consolas"/>
                        </a:rPr>
                        <a:t>500</a:t>
                      </a:r>
                      <a:r>
                        <a:rPr dirty="0" sz="1050" spc="-2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dirty="0" sz="105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	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dirty="0" sz="1050" spc="-2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Max</a:t>
                      </a:r>
                      <a:r>
                        <a:rPr dirty="0" sz="1050" spc="-2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500</a:t>
                      </a:r>
                      <a:r>
                        <a:rPr dirty="0" sz="1050" spc="-3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chars</a:t>
                      </a:r>
                      <a:r>
                        <a:rPr dirty="0" sz="1050" spc="-2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per</a:t>
                      </a:r>
                      <a:r>
                        <a:rPr dirty="0" sz="1050" spc="-2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chunk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721995">
                        <a:lnSpc>
                          <a:spcPct val="100000"/>
                        </a:lnSpc>
                        <a:tabLst>
                          <a:tab pos="2328545" algn="l"/>
                        </a:tabLst>
                      </a:pPr>
                      <a:r>
                        <a:rPr dirty="0" sz="105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chunk_overlap=</a:t>
                      </a:r>
                      <a:r>
                        <a:rPr dirty="0" sz="1050" spc="-12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25">
                          <a:solidFill>
                            <a:srgbClr val="FFCA6B"/>
                          </a:solidFill>
                          <a:latin typeface="Consolas"/>
                          <a:cs typeface="Consolas"/>
                        </a:rPr>
                        <a:t>100</a:t>
                      </a:r>
                      <a:r>
                        <a:rPr dirty="0" sz="1050">
                          <a:solidFill>
                            <a:srgbClr val="FFCA6B"/>
                          </a:solidFill>
                          <a:latin typeface="Consolas"/>
                          <a:cs typeface="Consolas"/>
                        </a:rPr>
                        <a:t>	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dirty="0" sz="1050" spc="-4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100-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char</a:t>
                      </a:r>
                      <a:r>
                        <a:rPr dirty="0" sz="1050" spc="-2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overlap</a:t>
                      </a:r>
                      <a:r>
                        <a:rPr dirty="0" sz="1050" spc="-2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between</a:t>
                      </a:r>
                      <a:r>
                        <a:rPr dirty="0" sz="1050" spc="-2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chunks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429259">
                        <a:lnSpc>
                          <a:spcPts val="1255"/>
                        </a:lnSpc>
                      </a:pPr>
                      <a:r>
                        <a:rPr dirty="0" sz="1050" spc="-5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429259">
                        <a:lnSpc>
                          <a:spcPts val="1255"/>
                        </a:lnSpc>
                      </a:pPr>
                      <a:r>
                        <a:rPr dirty="0" sz="105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return</a:t>
                      </a:r>
                      <a:r>
                        <a:rPr dirty="0" sz="1050" spc="-3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splitter.</a:t>
                      </a:r>
                      <a:r>
                        <a:rPr dirty="0" sz="105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split_documents</a:t>
                      </a: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(docs)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2C3560"/>
                      </a:solidFill>
                      <a:prstDash val="solid"/>
                    </a:lnL>
                    <a:lnR w="12700">
                      <a:solidFill>
                        <a:srgbClr val="2C3560"/>
                      </a:solidFill>
                      <a:prstDash val="solid"/>
                    </a:lnR>
                    <a:lnT w="12700">
                      <a:solidFill>
                        <a:srgbClr val="2C3560"/>
                      </a:solidFill>
                      <a:prstDash val="solid"/>
                    </a:lnT>
                    <a:lnB w="12700">
                      <a:solidFill>
                        <a:srgbClr val="2C356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1977" y="3148329"/>
            <a:ext cx="131572" cy="13157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33145" y="3148329"/>
            <a:ext cx="131572" cy="13157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34313" y="3148329"/>
            <a:ext cx="131572" cy="13157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Coding</a:t>
            </a:r>
            <a:r>
              <a:rPr dirty="0" spc="-45"/>
              <a:t> </a:t>
            </a:r>
            <a:r>
              <a:rPr dirty="0"/>
              <a:t>–</a:t>
            </a:r>
            <a:r>
              <a:rPr dirty="0" spc="-45"/>
              <a:t> </a:t>
            </a:r>
            <a:r>
              <a:rPr dirty="0"/>
              <a:t>Module</a:t>
            </a:r>
            <a:r>
              <a:rPr dirty="0" spc="-40"/>
              <a:t> </a:t>
            </a:r>
            <a:r>
              <a:rPr dirty="0"/>
              <a:t>3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45"/>
              <a:t> </a:t>
            </a:r>
            <a:r>
              <a:rPr dirty="0"/>
              <a:t>4:</a:t>
            </a:r>
            <a:r>
              <a:rPr dirty="0" spc="-55"/>
              <a:t> </a:t>
            </a:r>
            <a:r>
              <a:rPr dirty="0"/>
              <a:t>Embedding</a:t>
            </a:r>
            <a:r>
              <a:rPr dirty="0" spc="-50"/>
              <a:t> </a:t>
            </a:r>
            <a:r>
              <a:rPr dirty="0" spc="-10"/>
              <a:t>Generation</a:t>
            </a:r>
            <a:r>
              <a:rPr dirty="0" spc="-15"/>
              <a:t> </a:t>
            </a:r>
            <a:r>
              <a:rPr dirty="0"/>
              <a:t>&amp;</a:t>
            </a:r>
            <a:r>
              <a:rPr dirty="0" spc="-45"/>
              <a:t> </a:t>
            </a:r>
            <a:r>
              <a:rPr dirty="0" spc="-10"/>
              <a:t>FAISS</a:t>
            </a:r>
            <a:r>
              <a:rPr dirty="0" spc="-40"/>
              <a:t> </a:t>
            </a:r>
            <a:r>
              <a:rPr dirty="0" spc="-10"/>
              <a:t>Vector</a:t>
            </a:r>
            <a:r>
              <a:rPr dirty="0" spc="-15"/>
              <a:t> </a:t>
            </a:r>
            <a:r>
              <a:rPr dirty="0" spc="-10"/>
              <a:t>Store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900" y="787984"/>
            <a:ext cx="3656329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Step</a:t>
            </a:r>
            <a:r>
              <a:rPr dirty="0" sz="1250" spc="-3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3: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 Convert</a:t>
            </a:r>
            <a:r>
              <a:rPr dirty="0" sz="1250" spc="-2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text</a:t>
            </a:r>
            <a:r>
              <a:rPr dirty="0" sz="1250" spc="-1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chunks</a:t>
            </a:r>
            <a:r>
              <a:rPr dirty="0" sz="1250" spc="-2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into</a:t>
            </a:r>
            <a:r>
              <a:rPr dirty="0" sz="1250" spc="-2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384-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dim</a:t>
            </a:r>
            <a:r>
              <a:rPr dirty="0" sz="1250" spc="-2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dense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 vectors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9" y="969263"/>
            <a:ext cx="8847582" cy="185394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28600" y="1078991"/>
            <a:ext cx="8686800" cy="1691639"/>
            <a:chOff x="228600" y="1078991"/>
            <a:chExt cx="8686800" cy="1691639"/>
          </a:xfrm>
        </p:grpSpPr>
        <p:sp>
          <p:nvSpPr>
            <p:cNvPr id="6" name="object 6"/>
            <p:cNvSpPr/>
            <p:nvPr/>
          </p:nvSpPr>
          <p:spPr>
            <a:xfrm>
              <a:off x="228600" y="1353311"/>
              <a:ext cx="8686800" cy="1417320"/>
            </a:xfrm>
            <a:custGeom>
              <a:avLst/>
              <a:gdLst/>
              <a:ahLst/>
              <a:cxnLst/>
              <a:rect l="l" t="t" r="r" b="b"/>
              <a:pathLst>
                <a:path w="8686800" h="1417320">
                  <a:moveTo>
                    <a:pt x="0" y="1417320"/>
                  </a:moveTo>
                  <a:lnTo>
                    <a:pt x="8686800" y="1417320"/>
                  </a:lnTo>
                  <a:lnTo>
                    <a:pt x="8686800" y="0"/>
                  </a:lnTo>
                  <a:lnTo>
                    <a:pt x="0" y="0"/>
                  </a:lnTo>
                  <a:lnTo>
                    <a:pt x="0" y="1417320"/>
                  </a:lnTo>
                  <a:close/>
                </a:path>
              </a:pathLst>
            </a:custGeom>
            <a:solidFill>
              <a:srgbClr val="1A1F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28600" y="1078991"/>
              <a:ext cx="8686800" cy="274320"/>
            </a:xfrm>
            <a:custGeom>
              <a:avLst/>
              <a:gdLst/>
              <a:ahLst/>
              <a:cxnLst/>
              <a:rect l="l" t="t" r="r" b="b"/>
              <a:pathLst>
                <a:path w="8686800" h="274319">
                  <a:moveTo>
                    <a:pt x="8686800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686800" y="274320"/>
                  </a:lnTo>
                  <a:lnTo>
                    <a:pt x="8686800" y="0"/>
                  </a:lnTo>
                  <a:close/>
                </a:path>
              </a:pathLst>
            </a:custGeom>
            <a:solidFill>
              <a:srgbClr val="242B4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22250" y="1072641"/>
          <a:ext cx="8775700" cy="1691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6800"/>
              </a:tblGrid>
              <a:tr h="273685">
                <a:tc>
                  <a:txBody>
                    <a:bodyPr/>
                    <a:lstStyle/>
                    <a:p>
                      <a:pPr marL="82296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app.py</a:t>
                      </a:r>
                      <a:r>
                        <a:rPr dirty="0" sz="1000" spc="-25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–</a:t>
                      </a:r>
                      <a:r>
                        <a:rPr dirty="0" sz="1000" spc="-15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Embedding</a:t>
                      </a:r>
                      <a:r>
                        <a:rPr dirty="0" sz="1000" spc="-3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Model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2C3560"/>
                      </a:solidFill>
                      <a:prstDash val="solid"/>
                    </a:lnL>
                    <a:lnR w="12700">
                      <a:solidFill>
                        <a:srgbClr val="2C3560"/>
                      </a:solidFill>
                      <a:prstDash val="solid"/>
                    </a:lnR>
                    <a:lnT w="12700">
                      <a:solidFill>
                        <a:srgbClr val="2C3560"/>
                      </a:solidFill>
                      <a:prstDash val="solid"/>
                    </a:lnT>
                    <a:lnB w="12700">
                      <a:solidFill>
                        <a:srgbClr val="2C3560"/>
                      </a:solidFill>
                      <a:prstDash val="solid"/>
                    </a:lnB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05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dirty="0" sz="1050" spc="-15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streamlit</a:t>
                      </a:r>
                      <a:r>
                        <a:rPr dirty="0" sz="1050" spc="-4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dirty="0" sz="1050" spc="-1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3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st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137160" marR="38677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050" spc="5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langchain_community.embeddings</a:t>
                      </a:r>
                      <a:r>
                        <a:rPr dirty="0" sz="1050" spc="2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import </a:t>
                      </a:r>
                      <a:r>
                        <a:rPr dirty="0" sz="105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HuggingFaceEmbeddings </a:t>
                      </a:r>
                      <a:r>
                        <a:rPr dirty="0" sz="105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050" spc="1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langchain_community.vectorstores</a:t>
                      </a:r>
                      <a:r>
                        <a:rPr dirty="0" sz="105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dirty="0" sz="1050" spc="2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FAISS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  <a:tabLst>
                          <a:tab pos="1670050" algn="l"/>
                        </a:tabLst>
                      </a:pP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@st.</a:t>
                      </a:r>
                      <a:r>
                        <a:rPr dirty="0" sz="105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cache_resource</a:t>
                      </a:r>
                      <a:r>
                        <a:rPr dirty="0" sz="105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	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dirty="0" sz="1050" spc="-2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Load</a:t>
                      </a:r>
                      <a:r>
                        <a:rPr dirty="0" sz="1050" spc="-3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model</a:t>
                      </a:r>
                      <a:r>
                        <a:rPr dirty="0" sz="1050" spc="-2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only</a:t>
                      </a:r>
                      <a:r>
                        <a:rPr dirty="0" sz="1050" spc="-3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once</a:t>
                      </a:r>
                      <a:r>
                        <a:rPr dirty="0" sz="1050" spc="-2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per</a:t>
                      </a:r>
                      <a:r>
                        <a:rPr dirty="0" sz="1050" spc="-2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session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dirty="0" sz="105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def</a:t>
                      </a:r>
                      <a:r>
                        <a:rPr dirty="0" sz="1050" spc="-3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load_embedding_model</a:t>
                      </a: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():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429259">
                        <a:lnSpc>
                          <a:spcPct val="100000"/>
                        </a:lnSpc>
                      </a:pPr>
                      <a:r>
                        <a:rPr dirty="0" sz="105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return</a:t>
                      </a:r>
                      <a:r>
                        <a:rPr dirty="0" sz="1050" spc="-3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HuggingFaceEmbeddings</a:t>
                      </a: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721995">
                        <a:lnSpc>
                          <a:spcPct val="100000"/>
                        </a:lnSpc>
                        <a:tabLst>
                          <a:tab pos="4810125" algn="l"/>
                        </a:tabLst>
                      </a:pP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model_name=</a:t>
                      </a:r>
                      <a:r>
                        <a:rPr dirty="0" sz="1050" spc="-1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"sentence-transformers/all-MiniLM-L6-</a:t>
                      </a:r>
                      <a:r>
                        <a:rPr dirty="0" sz="105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v2"</a:t>
                      </a:r>
                      <a:r>
                        <a:rPr dirty="0" sz="1050" spc="245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5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r>
                        <a:rPr dirty="0" sz="105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	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dirty="0" sz="1050" spc="-2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384-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dimensional</a:t>
                      </a:r>
                      <a:r>
                        <a:rPr dirty="0" sz="1050" spc="-2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dense</a:t>
                      </a:r>
                      <a:r>
                        <a:rPr dirty="0" sz="1050" spc="-2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vectors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2C3560"/>
                      </a:solidFill>
                      <a:prstDash val="solid"/>
                    </a:lnL>
                    <a:lnR w="12700">
                      <a:solidFill>
                        <a:srgbClr val="2C3560"/>
                      </a:solidFill>
                      <a:prstDash val="solid"/>
                    </a:lnR>
                    <a:lnT w="12700">
                      <a:solidFill>
                        <a:srgbClr val="2C3560"/>
                      </a:solidFill>
                      <a:prstDash val="solid"/>
                    </a:lnT>
                    <a:lnB w="12700">
                      <a:solidFill>
                        <a:srgbClr val="2C356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1977" y="1136650"/>
            <a:ext cx="131572" cy="13157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145" y="1136650"/>
            <a:ext cx="131572" cy="13157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4313" y="1136650"/>
            <a:ext cx="131572" cy="13157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15900" y="2864611"/>
            <a:ext cx="370586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Step</a:t>
            </a:r>
            <a:r>
              <a:rPr dirty="0" sz="1250" spc="-4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4:</a:t>
            </a:r>
            <a:r>
              <a:rPr dirty="0" sz="1250" spc="-3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Build</a:t>
            </a:r>
            <a:r>
              <a:rPr dirty="0" sz="1250" spc="-3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FAISS</a:t>
            </a:r>
            <a:r>
              <a:rPr dirty="0" sz="1250" spc="-4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vector</a:t>
            </a:r>
            <a:r>
              <a:rPr dirty="0" sz="1250" spc="-3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store</a:t>
            </a:r>
            <a:r>
              <a:rPr dirty="0" sz="1250" spc="-3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from</a:t>
            </a:r>
            <a:r>
              <a:rPr dirty="0" sz="1250" spc="-4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chunk</a:t>
            </a:r>
            <a:r>
              <a:rPr dirty="0" sz="1250" spc="-4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embeddings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4779" y="3035828"/>
            <a:ext cx="8847582" cy="198958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228600" y="3145535"/>
            <a:ext cx="8686800" cy="1828800"/>
            <a:chOff x="228600" y="3145535"/>
            <a:chExt cx="8686800" cy="1828800"/>
          </a:xfrm>
        </p:grpSpPr>
        <p:sp>
          <p:nvSpPr>
            <p:cNvPr id="15" name="object 15"/>
            <p:cNvSpPr/>
            <p:nvPr/>
          </p:nvSpPr>
          <p:spPr>
            <a:xfrm>
              <a:off x="228600" y="3419855"/>
              <a:ext cx="8686800" cy="1554480"/>
            </a:xfrm>
            <a:custGeom>
              <a:avLst/>
              <a:gdLst/>
              <a:ahLst/>
              <a:cxnLst/>
              <a:rect l="l" t="t" r="r" b="b"/>
              <a:pathLst>
                <a:path w="8686800" h="1554479">
                  <a:moveTo>
                    <a:pt x="0" y="1554480"/>
                  </a:moveTo>
                  <a:lnTo>
                    <a:pt x="8686800" y="1554480"/>
                  </a:lnTo>
                  <a:lnTo>
                    <a:pt x="8686800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1A1F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28600" y="3145535"/>
              <a:ext cx="8686800" cy="274320"/>
            </a:xfrm>
            <a:custGeom>
              <a:avLst/>
              <a:gdLst/>
              <a:ahLst/>
              <a:cxnLst/>
              <a:rect l="l" t="t" r="r" b="b"/>
              <a:pathLst>
                <a:path w="8686800" h="274320">
                  <a:moveTo>
                    <a:pt x="8686800" y="0"/>
                  </a:moveTo>
                  <a:lnTo>
                    <a:pt x="0" y="0"/>
                  </a:lnTo>
                  <a:lnTo>
                    <a:pt x="0" y="274319"/>
                  </a:lnTo>
                  <a:lnTo>
                    <a:pt x="8686800" y="274319"/>
                  </a:lnTo>
                  <a:lnTo>
                    <a:pt x="8686800" y="0"/>
                  </a:lnTo>
                  <a:close/>
                </a:path>
              </a:pathLst>
            </a:custGeom>
            <a:solidFill>
              <a:srgbClr val="242B4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22250" y="3139185"/>
          <a:ext cx="8775700" cy="1828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6800"/>
              </a:tblGrid>
              <a:tr h="273685">
                <a:tc>
                  <a:txBody>
                    <a:bodyPr/>
                    <a:lstStyle/>
                    <a:p>
                      <a:pPr marL="8229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app.py</a:t>
                      </a:r>
                      <a:r>
                        <a:rPr dirty="0" sz="1000" spc="-25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–</a:t>
                      </a:r>
                      <a:r>
                        <a:rPr dirty="0" sz="1000" spc="-2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FAISS</a:t>
                      </a:r>
                      <a:r>
                        <a:rPr dirty="0" sz="1000" spc="-2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Vector</a:t>
                      </a:r>
                      <a:r>
                        <a:rPr dirty="0" sz="1000" spc="-2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Store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2C3560"/>
                      </a:solidFill>
                      <a:prstDash val="solid"/>
                    </a:lnL>
                    <a:lnR w="12700">
                      <a:solidFill>
                        <a:srgbClr val="2C3560"/>
                      </a:solidFill>
                      <a:prstDash val="solid"/>
                    </a:lnR>
                    <a:lnT w="12700">
                      <a:solidFill>
                        <a:srgbClr val="2C3560"/>
                      </a:solidFill>
                      <a:prstDash val="solid"/>
                    </a:lnT>
                    <a:lnB w="12700">
                      <a:solidFill>
                        <a:srgbClr val="2C3560"/>
                      </a:solidFill>
                      <a:prstDash val="solid"/>
                    </a:lnB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05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def</a:t>
                      </a:r>
                      <a:r>
                        <a:rPr dirty="0" sz="1050" spc="35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build_vector_store</a:t>
                      </a: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(chunks,</a:t>
                      </a:r>
                      <a:r>
                        <a:rPr dirty="0" sz="1050" spc="4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embedding_model):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42925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dirty="0" sz="105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Embed</a:t>
                      </a:r>
                      <a:r>
                        <a:rPr dirty="0" sz="105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all</a:t>
                      </a:r>
                      <a:r>
                        <a:rPr dirty="0" sz="105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chunks</a:t>
                      </a:r>
                      <a:r>
                        <a:rPr dirty="0" sz="105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and</a:t>
                      </a:r>
                      <a:r>
                        <a:rPr dirty="0" sz="105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store</a:t>
                      </a:r>
                      <a:r>
                        <a:rPr dirty="0" sz="105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(vector,</a:t>
                      </a:r>
                      <a:r>
                        <a:rPr dirty="0" sz="1050" spc="-4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text,</a:t>
                      </a:r>
                      <a:r>
                        <a:rPr dirty="0" sz="105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metadata)</a:t>
                      </a:r>
                      <a:r>
                        <a:rPr dirty="0" sz="105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in</a:t>
                      </a:r>
                      <a:r>
                        <a:rPr dirty="0" sz="1050" spc="-3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FAISS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721995" marR="5619115" indent="-292735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vector_store</a:t>
                      </a:r>
                      <a:r>
                        <a:rPr dirty="0" sz="1050" spc="-5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050" spc="-3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FAISS</a:t>
                      </a: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dirty="0" sz="105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from_documents</a:t>
                      </a: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 </a:t>
                      </a:r>
                      <a:r>
                        <a:rPr dirty="0" sz="105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documents=</a:t>
                      </a:r>
                      <a:r>
                        <a:rPr dirty="0" sz="1050" spc="-6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chunks,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721995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embedding</a:t>
                      </a:r>
                      <a:r>
                        <a:rPr dirty="0" sz="1050" spc="-3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050" spc="-2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embedding_model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429259">
                        <a:lnSpc>
                          <a:spcPct val="100000"/>
                        </a:lnSpc>
                      </a:pPr>
                      <a:r>
                        <a:rPr dirty="0" sz="1050" spc="-5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429259">
                        <a:lnSpc>
                          <a:spcPct val="100000"/>
                        </a:lnSpc>
                      </a:pP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dirty="0" sz="105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Save</a:t>
                      </a:r>
                      <a:r>
                        <a:rPr dirty="0" sz="105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to</a:t>
                      </a:r>
                      <a:r>
                        <a:rPr dirty="0" sz="1050" spc="-3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Streamlit</a:t>
                      </a:r>
                      <a:r>
                        <a:rPr dirty="0" sz="105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session</a:t>
                      </a:r>
                      <a:r>
                        <a:rPr dirty="0" sz="1050" spc="-3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so</a:t>
                      </a:r>
                      <a:r>
                        <a:rPr dirty="0" sz="105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queries</a:t>
                      </a:r>
                      <a:r>
                        <a:rPr dirty="0" sz="1050" spc="-4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reuse</a:t>
                      </a:r>
                      <a:r>
                        <a:rPr dirty="0" sz="105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same</a:t>
                      </a:r>
                      <a:r>
                        <a:rPr dirty="0" sz="1050" spc="-3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index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429259">
                        <a:lnSpc>
                          <a:spcPts val="1255"/>
                        </a:lnSpc>
                      </a:pP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st.session_state[</a:t>
                      </a:r>
                      <a:r>
                        <a:rPr dirty="0" sz="1050" spc="-1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"vector_store"</a:t>
                      </a: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]</a:t>
                      </a:r>
                      <a:r>
                        <a:rPr dirty="0" sz="1050" spc="8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050" spc="6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vector_store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429259">
                        <a:lnSpc>
                          <a:spcPts val="1255"/>
                        </a:lnSpc>
                      </a:pPr>
                      <a:r>
                        <a:rPr dirty="0" sz="105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return</a:t>
                      </a:r>
                      <a:r>
                        <a:rPr dirty="0" sz="1050" spc="-3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vector_store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2C3560"/>
                      </a:solidFill>
                      <a:prstDash val="solid"/>
                    </a:lnL>
                    <a:lnR w="12700">
                      <a:solidFill>
                        <a:srgbClr val="2C3560"/>
                      </a:solidFill>
                      <a:prstDash val="solid"/>
                    </a:lnR>
                    <a:lnT w="12700">
                      <a:solidFill>
                        <a:srgbClr val="2C3560"/>
                      </a:solidFill>
                      <a:prstDash val="solid"/>
                    </a:lnT>
                    <a:lnB w="12700">
                      <a:solidFill>
                        <a:srgbClr val="2C356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1977" y="3203194"/>
            <a:ext cx="131572" cy="13157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145" y="3203194"/>
            <a:ext cx="131572" cy="13157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4313" y="3203194"/>
            <a:ext cx="131572" cy="13157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Coding</a:t>
            </a:r>
            <a:r>
              <a:rPr dirty="0" spc="-30"/>
              <a:t> </a:t>
            </a:r>
            <a:r>
              <a:rPr dirty="0"/>
              <a:t>–</a:t>
            </a:r>
            <a:r>
              <a:rPr dirty="0" spc="-35"/>
              <a:t> </a:t>
            </a:r>
            <a:r>
              <a:rPr dirty="0"/>
              <a:t>Module</a:t>
            </a:r>
            <a:r>
              <a:rPr dirty="0" spc="-25"/>
              <a:t> </a:t>
            </a:r>
            <a:r>
              <a:rPr dirty="0"/>
              <a:t>5</a:t>
            </a:r>
            <a:r>
              <a:rPr dirty="0" spc="-30"/>
              <a:t> </a:t>
            </a:r>
            <a:r>
              <a:rPr dirty="0"/>
              <a:t>&amp;</a:t>
            </a:r>
            <a:r>
              <a:rPr dirty="0" spc="-35"/>
              <a:t> </a:t>
            </a:r>
            <a:r>
              <a:rPr dirty="0"/>
              <a:t>6:</a:t>
            </a:r>
            <a:r>
              <a:rPr dirty="0" spc="-40"/>
              <a:t> </a:t>
            </a:r>
            <a:r>
              <a:rPr dirty="0"/>
              <a:t>Query</a:t>
            </a:r>
            <a:r>
              <a:rPr dirty="0" spc="-30"/>
              <a:t> </a:t>
            </a:r>
            <a:r>
              <a:rPr dirty="0"/>
              <a:t>Processing</a:t>
            </a:r>
            <a:r>
              <a:rPr dirty="0" spc="-10"/>
              <a:t> </a:t>
            </a:r>
            <a:r>
              <a:rPr dirty="0"/>
              <a:t>&amp;</a:t>
            </a:r>
            <a:r>
              <a:rPr dirty="0" spc="-35"/>
              <a:t> </a:t>
            </a:r>
            <a:r>
              <a:rPr dirty="0"/>
              <a:t>Similarity</a:t>
            </a:r>
            <a:r>
              <a:rPr dirty="0" spc="-35"/>
              <a:t> </a:t>
            </a:r>
            <a:r>
              <a:rPr dirty="0" spc="-1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900" y="787984"/>
            <a:ext cx="432498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Step</a:t>
            </a:r>
            <a:r>
              <a:rPr dirty="0" sz="1250" spc="-2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5:</a:t>
            </a:r>
            <a:r>
              <a:rPr dirty="0" sz="1250" spc="-1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Normalize</a:t>
            </a:r>
            <a:r>
              <a:rPr dirty="0" sz="1250" spc="-3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query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and</a:t>
            </a:r>
            <a:r>
              <a:rPr dirty="0" sz="1250" spc="-2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embed</a:t>
            </a:r>
            <a:r>
              <a:rPr dirty="0" sz="1250" spc="-2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it</a:t>
            </a:r>
            <a:r>
              <a:rPr dirty="0" sz="1250" spc="-2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into</a:t>
            </a:r>
            <a:r>
              <a:rPr dirty="0" sz="1250" spc="-1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the</a:t>
            </a:r>
            <a:r>
              <a:rPr dirty="0" sz="1250" spc="-2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same</a:t>
            </a:r>
            <a:r>
              <a:rPr dirty="0" sz="1250" spc="-3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vector</a:t>
            </a:r>
            <a:r>
              <a:rPr dirty="0" sz="1250" spc="-2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space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9" y="969263"/>
            <a:ext cx="8847582" cy="148818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28600" y="1078991"/>
            <a:ext cx="8686800" cy="1325880"/>
            <a:chOff x="228600" y="1078991"/>
            <a:chExt cx="8686800" cy="1325880"/>
          </a:xfrm>
        </p:grpSpPr>
        <p:sp>
          <p:nvSpPr>
            <p:cNvPr id="6" name="object 6"/>
            <p:cNvSpPr/>
            <p:nvPr/>
          </p:nvSpPr>
          <p:spPr>
            <a:xfrm>
              <a:off x="228600" y="1353311"/>
              <a:ext cx="8686800" cy="1051560"/>
            </a:xfrm>
            <a:custGeom>
              <a:avLst/>
              <a:gdLst/>
              <a:ahLst/>
              <a:cxnLst/>
              <a:rect l="l" t="t" r="r" b="b"/>
              <a:pathLst>
                <a:path w="8686800" h="1051560">
                  <a:moveTo>
                    <a:pt x="0" y="1051560"/>
                  </a:moveTo>
                  <a:lnTo>
                    <a:pt x="8686800" y="1051560"/>
                  </a:lnTo>
                  <a:lnTo>
                    <a:pt x="8686800" y="0"/>
                  </a:lnTo>
                  <a:lnTo>
                    <a:pt x="0" y="0"/>
                  </a:lnTo>
                  <a:lnTo>
                    <a:pt x="0" y="1051560"/>
                  </a:lnTo>
                  <a:close/>
                </a:path>
              </a:pathLst>
            </a:custGeom>
            <a:solidFill>
              <a:srgbClr val="1A1F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28600" y="1078991"/>
              <a:ext cx="8686800" cy="274320"/>
            </a:xfrm>
            <a:custGeom>
              <a:avLst/>
              <a:gdLst/>
              <a:ahLst/>
              <a:cxnLst/>
              <a:rect l="l" t="t" r="r" b="b"/>
              <a:pathLst>
                <a:path w="8686800" h="274319">
                  <a:moveTo>
                    <a:pt x="8686800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686800" y="274320"/>
                  </a:lnTo>
                  <a:lnTo>
                    <a:pt x="8686800" y="0"/>
                  </a:lnTo>
                  <a:close/>
                </a:path>
              </a:pathLst>
            </a:custGeom>
            <a:solidFill>
              <a:srgbClr val="242B4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22250" y="1072641"/>
          <a:ext cx="8775700" cy="1325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6800"/>
              </a:tblGrid>
              <a:tr h="273685">
                <a:tc>
                  <a:txBody>
                    <a:bodyPr/>
                    <a:lstStyle/>
                    <a:p>
                      <a:pPr marL="82296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app.py</a:t>
                      </a:r>
                      <a:r>
                        <a:rPr dirty="0" sz="1000" spc="-2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–</a:t>
                      </a:r>
                      <a:r>
                        <a:rPr dirty="0" sz="1000" spc="-15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Query</a:t>
                      </a:r>
                      <a:r>
                        <a:rPr dirty="0" sz="1000" spc="-1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Normalization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2C3560"/>
                      </a:solidFill>
                      <a:prstDash val="solid"/>
                    </a:lnL>
                    <a:lnR w="12700">
                      <a:solidFill>
                        <a:srgbClr val="2C3560"/>
                      </a:solidFill>
                      <a:prstDash val="solid"/>
                    </a:lnR>
                    <a:lnT w="12700">
                      <a:solidFill>
                        <a:srgbClr val="2C3560"/>
                      </a:solidFill>
                      <a:prstDash val="solid"/>
                    </a:lnT>
                    <a:lnB w="12700">
                      <a:solidFill>
                        <a:srgbClr val="2C3560"/>
                      </a:solidFill>
                      <a:prstDash val="soli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05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def</a:t>
                      </a:r>
                      <a:r>
                        <a:rPr dirty="0" sz="1050" spc="-15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normalize_query</a:t>
                      </a: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(query):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429259" marR="47447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dirty="0" sz="1050" spc="-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Expand</a:t>
                      </a:r>
                      <a:r>
                        <a:rPr dirty="0" sz="1050" spc="-4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single-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word</a:t>
                      </a:r>
                      <a:r>
                        <a:rPr dirty="0" sz="105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queries</a:t>
                      </a:r>
                      <a:r>
                        <a:rPr dirty="0" sz="1050" spc="-4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into</a:t>
                      </a:r>
                      <a:r>
                        <a:rPr dirty="0" sz="1050" spc="-4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full</a:t>
                      </a:r>
                      <a:r>
                        <a:rPr dirty="0" sz="1050" spc="-4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questions </a:t>
                      </a:r>
                      <a:r>
                        <a:rPr dirty="0" sz="105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if</a:t>
                      </a:r>
                      <a:r>
                        <a:rPr dirty="0" sz="1050" spc="-6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len(query.split())</a:t>
                      </a:r>
                      <a:r>
                        <a:rPr dirty="0" sz="1050" spc="-4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==</a:t>
                      </a:r>
                      <a:r>
                        <a:rPr dirty="0" sz="1050" spc="-9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25">
                          <a:solidFill>
                            <a:srgbClr val="FFCA6B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50" spc="-2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: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721995">
                        <a:lnSpc>
                          <a:spcPts val="1255"/>
                        </a:lnSpc>
                      </a:pPr>
                      <a:r>
                        <a:rPr dirty="0" sz="105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return</a:t>
                      </a:r>
                      <a:r>
                        <a:rPr dirty="0" sz="1050" spc="-55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f"What</a:t>
                      </a:r>
                      <a:r>
                        <a:rPr dirty="0" sz="1050" spc="-5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is</a:t>
                      </a:r>
                      <a:r>
                        <a:rPr dirty="0" sz="1050" spc="-4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{query}?"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429259">
                        <a:lnSpc>
                          <a:spcPts val="1255"/>
                        </a:lnSpc>
                      </a:pPr>
                      <a:r>
                        <a:rPr dirty="0" sz="105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return</a:t>
                      </a:r>
                      <a:r>
                        <a:rPr dirty="0" sz="1050" spc="-3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query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2C3560"/>
                      </a:solidFill>
                      <a:prstDash val="solid"/>
                    </a:lnL>
                    <a:lnR w="12700">
                      <a:solidFill>
                        <a:srgbClr val="2C3560"/>
                      </a:solidFill>
                      <a:prstDash val="solid"/>
                    </a:lnR>
                    <a:lnT w="12700">
                      <a:solidFill>
                        <a:srgbClr val="2C3560"/>
                      </a:solidFill>
                      <a:prstDash val="solid"/>
                    </a:lnT>
                    <a:lnB w="12700">
                      <a:solidFill>
                        <a:srgbClr val="2C356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1977" y="1136650"/>
            <a:ext cx="131572" cy="13157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145" y="1136650"/>
            <a:ext cx="131572" cy="13157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4313" y="1136650"/>
            <a:ext cx="131572" cy="13157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15900" y="2507996"/>
            <a:ext cx="516509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Step</a:t>
            </a:r>
            <a:r>
              <a:rPr dirty="0" sz="1250" spc="-2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6:</a:t>
            </a:r>
            <a:r>
              <a:rPr dirty="0" sz="1250" spc="-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Retrieve</a:t>
            </a:r>
            <a:r>
              <a:rPr dirty="0" sz="1250" spc="-2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top-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K most</a:t>
            </a:r>
            <a:r>
              <a:rPr dirty="0" sz="1250" spc="-1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semantically</a:t>
            </a:r>
            <a:r>
              <a:rPr dirty="0" sz="1250" spc="-1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similar</a:t>
            </a:r>
            <a:r>
              <a:rPr dirty="0" sz="1250" spc="-2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chunks</a:t>
            </a:r>
            <a:r>
              <a:rPr dirty="0" sz="1250" spc="-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using</a:t>
            </a:r>
            <a:r>
              <a:rPr dirty="0" sz="1250" spc="-1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cosine</a:t>
            </a:r>
            <a:r>
              <a:rPr dirty="0" sz="1250" spc="-2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similarity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4779" y="2679208"/>
            <a:ext cx="8847582" cy="2401062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228600" y="2788920"/>
            <a:ext cx="8686800" cy="2240280"/>
            <a:chOff x="228600" y="2788920"/>
            <a:chExt cx="8686800" cy="2240280"/>
          </a:xfrm>
        </p:grpSpPr>
        <p:sp>
          <p:nvSpPr>
            <p:cNvPr id="15" name="object 15"/>
            <p:cNvSpPr/>
            <p:nvPr/>
          </p:nvSpPr>
          <p:spPr>
            <a:xfrm>
              <a:off x="228600" y="3063240"/>
              <a:ext cx="8686800" cy="1965960"/>
            </a:xfrm>
            <a:custGeom>
              <a:avLst/>
              <a:gdLst/>
              <a:ahLst/>
              <a:cxnLst/>
              <a:rect l="l" t="t" r="r" b="b"/>
              <a:pathLst>
                <a:path w="8686800" h="1965960">
                  <a:moveTo>
                    <a:pt x="0" y="1965960"/>
                  </a:moveTo>
                  <a:lnTo>
                    <a:pt x="8686800" y="1965960"/>
                  </a:lnTo>
                  <a:lnTo>
                    <a:pt x="8686800" y="0"/>
                  </a:lnTo>
                  <a:lnTo>
                    <a:pt x="0" y="0"/>
                  </a:lnTo>
                  <a:lnTo>
                    <a:pt x="0" y="1965960"/>
                  </a:lnTo>
                  <a:close/>
                </a:path>
              </a:pathLst>
            </a:custGeom>
            <a:solidFill>
              <a:srgbClr val="1A1F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28600" y="2788920"/>
              <a:ext cx="8686800" cy="274320"/>
            </a:xfrm>
            <a:custGeom>
              <a:avLst/>
              <a:gdLst/>
              <a:ahLst/>
              <a:cxnLst/>
              <a:rect l="l" t="t" r="r" b="b"/>
              <a:pathLst>
                <a:path w="8686800" h="274319">
                  <a:moveTo>
                    <a:pt x="8686800" y="0"/>
                  </a:moveTo>
                  <a:lnTo>
                    <a:pt x="0" y="0"/>
                  </a:lnTo>
                  <a:lnTo>
                    <a:pt x="0" y="274319"/>
                  </a:lnTo>
                  <a:lnTo>
                    <a:pt x="8686800" y="274319"/>
                  </a:lnTo>
                  <a:lnTo>
                    <a:pt x="8686800" y="0"/>
                  </a:lnTo>
                  <a:close/>
                </a:path>
              </a:pathLst>
            </a:custGeom>
            <a:solidFill>
              <a:srgbClr val="242B4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22250" y="2782570"/>
          <a:ext cx="8775700" cy="2239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6800"/>
              </a:tblGrid>
              <a:tr h="273685">
                <a:tc>
                  <a:txBody>
                    <a:bodyPr/>
                    <a:lstStyle/>
                    <a:p>
                      <a:pPr marL="8229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app.py</a:t>
                      </a:r>
                      <a:r>
                        <a:rPr dirty="0" sz="1000" spc="48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–</a:t>
                      </a:r>
                      <a:r>
                        <a:rPr dirty="0" sz="1000" spc="495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Similarity</a:t>
                      </a:r>
                      <a:r>
                        <a:rPr dirty="0" sz="1000" spc="-4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Search</a:t>
                      </a:r>
                      <a:r>
                        <a:rPr dirty="0" sz="1000" spc="-3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(Cosine</a:t>
                      </a:r>
                      <a:r>
                        <a:rPr dirty="0" sz="1000" spc="-4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Distance,</a:t>
                      </a:r>
                      <a:r>
                        <a:rPr dirty="0" sz="1000" spc="-3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Top-</a:t>
                      </a:r>
                      <a:r>
                        <a:rPr dirty="0" sz="1000" spc="-2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K=5)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2C3560"/>
                      </a:solidFill>
                      <a:prstDash val="solid"/>
                    </a:lnL>
                    <a:lnR w="12700">
                      <a:solidFill>
                        <a:srgbClr val="2C3560"/>
                      </a:solidFill>
                      <a:prstDash val="solid"/>
                    </a:lnR>
                    <a:lnT w="12700">
                      <a:solidFill>
                        <a:srgbClr val="2C3560"/>
                      </a:solidFill>
                      <a:prstDash val="solid"/>
                    </a:lnT>
                    <a:lnB w="12700">
                      <a:solidFill>
                        <a:srgbClr val="2C3560"/>
                      </a:solidFill>
                      <a:prstDash val="solid"/>
                    </a:lnB>
                  </a:tcPr>
                </a:tc>
              </a:tr>
              <a:tr h="1965960">
                <a:tc>
                  <a:txBody>
                    <a:bodyPr/>
                    <a:lstStyle/>
                    <a:p>
                      <a:pPr marL="389890" marR="5369560" indent="-2533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9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def</a:t>
                      </a:r>
                      <a:r>
                        <a:rPr dirty="0" sz="900" spc="2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retrieve_relevant_chunks</a:t>
                      </a:r>
                      <a:r>
                        <a:rPr dirty="0" sz="9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(query,</a:t>
                      </a:r>
                      <a:r>
                        <a:rPr dirty="0" sz="900" spc="3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vector_store): </a:t>
                      </a:r>
                      <a:r>
                        <a:rPr dirty="0" sz="9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query</a:t>
                      </a:r>
                      <a:r>
                        <a:rPr dirty="0" sz="900" spc="-2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900" spc="-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normalize_query</a:t>
                      </a:r>
                      <a:r>
                        <a:rPr dirty="0" sz="9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(query)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89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dirty="0" sz="90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similarity_search_with_score</a:t>
                      </a:r>
                      <a:r>
                        <a:rPr dirty="0" sz="90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returns</a:t>
                      </a:r>
                      <a:r>
                        <a:rPr dirty="0" sz="900" spc="-4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(Document,</a:t>
                      </a:r>
                      <a:r>
                        <a:rPr dirty="0" sz="900" spc="-2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score)</a:t>
                      </a:r>
                      <a:r>
                        <a:rPr dirty="0" sz="90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spc="-1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pairs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389890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results</a:t>
                      </a:r>
                      <a:r>
                        <a:rPr dirty="0" sz="900" spc="1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900" spc="1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vector_store.</a:t>
                      </a:r>
                      <a:r>
                        <a:rPr dirty="0" sz="90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similarity_search_with_score</a:t>
                      </a:r>
                      <a:r>
                        <a:rPr dirty="0" sz="9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(query,</a:t>
                      </a:r>
                      <a:r>
                        <a:rPr dirty="0" sz="900" spc="3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spc="-2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k=</a:t>
                      </a:r>
                      <a:r>
                        <a:rPr dirty="0" sz="900" spc="-20">
                          <a:solidFill>
                            <a:srgbClr val="FFCA6B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dirty="0" sz="900" spc="-2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89890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filtered</a:t>
                      </a:r>
                      <a:r>
                        <a:rPr dirty="0" sz="900" spc="-4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900" spc="-2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spc="-3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[]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389890">
                        <a:lnSpc>
                          <a:spcPct val="100000"/>
                        </a:lnSpc>
                      </a:pPr>
                      <a:r>
                        <a:rPr dirty="0" sz="9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for</a:t>
                      </a:r>
                      <a:r>
                        <a:rPr dirty="0" sz="900" spc="-3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i,</a:t>
                      </a:r>
                      <a:r>
                        <a:rPr dirty="0" sz="900" spc="-2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(doc,</a:t>
                      </a:r>
                      <a:r>
                        <a:rPr dirty="0" sz="900" spc="-2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score)</a:t>
                      </a:r>
                      <a:r>
                        <a:rPr dirty="0" sz="900" spc="-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in</a:t>
                      </a:r>
                      <a:r>
                        <a:rPr dirty="0" sz="900" spc="-15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enumerate(results):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644525" marR="4229100">
                        <a:lnSpc>
                          <a:spcPct val="100000"/>
                        </a:lnSpc>
                      </a:pPr>
                      <a:r>
                        <a:rPr dirty="0" sz="9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dirty="0" sz="90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Always</a:t>
                      </a:r>
                      <a:r>
                        <a:rPr dirty="0" sz="900" spc="-3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keep</a:t>
                      </a:r>
                      <a:r>
                        <a:rPr dirty="0" sz="90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top</a:t>
                      </a:r>
                      <a:r>
                        <a:rPr dirty="0" sz="900" spc="-3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result;</a:t>
                      </a:r>
                      <a:r>
                        <a:rPr dirty="0" sz="90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filter</a:t>
                      </a:r>
                      <a:r>
                        <a:rPr dirty="0" sz="900" spc="-3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rest</a:t>
                      </a:r>
                      <a:r>
                        <a:rPr dirty="0" sz="90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by</a:t>
                      </a:r>
                      <a:r>
                        <a:rPr dirty="0" sz="900" spc="-3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relevance</a:t>
                      </a:r>
                      <a:r>
                        <a:rPr dirty="0" sz="900" spc="-3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spc="-1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threshold </a:t>
                      </a:r>
                      <a:r>
                        <a:rPr dirty="0" sz="9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if</a:t>
                      </a:r>
                      <a:r>
                        <a:rPr dirty="0" sz="900" spc="-25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i</a:t>
                      </a:r>
                      <a:r>
                        <a:rPr dirty="0" sz="900" spc="-1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==</a:t>
                      </a:r>
                      <a:r>
                        <a:rPr dirty="0" sz="900" spc="-1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>
                          <a:solidFill>
                            <a:srgbClr val="FFCA6B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900" spc="-5">
                          <a:solidFill>
                            <a:srgbClr val="FFCA6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or</a:t>
                      </a:r>
                      <a:r>
                        <a:rPr dirty="0" sz="900" spc="-5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score</a:t>
                      </a:r>
                      <a:r>
                        <a:rPr dirty="0" sz="900" spc="-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&lt;</a:t>
                      </a:r>
                      <a:r>
                        <a:rPr dirty="0" sz="9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spc="-20">
                          <a:solidFill>
                            <a:srgbClr val="FFCA6B"/>
                          </a:solidFill>
                          <a:latin typeface="Consolas"/>
                          <a:cs typeface="Consolas"/>
                        </a:rPr>
                        <a:t>0.8</a:t>
                      </a:r>
                      <a:r>
                        <a:rPr dirty="0" sz="900" spc="-2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: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 marL="899160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filtered.append(doc)</a:t>
                      </a:r>
                      <a:endParaRPr sz="90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89890">
                        <a:lnSpc>
                          <a:spcPct val="100000"/>
                        </a:lnSpc>
                      </a:pPr>
                      <a:r>
                        <a:rPr dirty="0" sz="9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return</a:t>
                      </a:r>
                      <a:r>
                        <a:rPr dirty="0" sz="900" spc="-35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9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filtered</a:t>
                      </a:r>
                      <a:endParaRPr sz="900">
                        <a:latin typeface="Consolas"/>
                        <a:cs typeface="Consolas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2C3560"/>
                      </a:solidFill>
                      <a:prstDash val="solid"/>
                    </a:lnL>
                    <a:lnR w="12700">
                      <a:solidFill>
                        <a:srgbClr val="2C3560"/>
                      </a:solidFill>
                      <a:prstDash val="solid"/>
                    </a:lnR>
                    <a:lnT w="12700">
                      <a:solidFill>
                        <a:srgbClr val="2C3560"/>
                      </a:solidFill>
                      <a:prstDash val="solid"/>
                    </a:lnT>
                    <a:lnB w="12700">
                      <a:solidFill>
                        <a:srgbClr val="2C356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1977" y="2846577"/>
            <a:ext cx="131572" cy="13157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145" y="2846577"/>
            <a:ext cx="131572" cy="13157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4313" y="2846577"/>
            <a:ext cx="131572" cy="13157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Coding</a:t>
            </a:r>
            <a:r>
              <a:rPr dirty="0" spc="-40"/>
              <a:t> </a:t>
            </a:r>
            <a:r>
              <a:rPr dirty="0"/>
              <a:t>–</a:t>
            </a:r>
            <a:r>
              <a:rPr dirty="0" spc="-40"/>
              <a:t> </a:t>
            </a:r>
            <a:r>
              <a:rPr dirty="0"/>
              <a:t>Module</a:t>
            </a:r>
            <a:r>
              <a:rPr dirty="0" spc="-30"/>
              <a:t> </a:t>
            </a:r>
            <a:r>
              <a:rPr dirty="0"/>
              <a:t>7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40"/>
              <a:t> </a:t>
            </a:r>
            <a:r>
              <a:rPr dirty="0"/>
              <a:t>8:</a:t>
            </a:r>
            <a:r>
              <a:rPr dirty="0" spc="-45"/>
              <a:t> </a:t>
            </a:r>
            <a:r>
              <a:rPr dirty="0"/>
              <a:t>LLM</a:t>
            </a:r>
            <a:r>
              <a:rPr dirty="0" spc="-45"/>
              <a:t> </a:t>
            </a:r>
            <a:r>
              <a:rPr dirty="0"/>
              <a:t>Response</a:t>
            </a:r>
            <a:r>
              <a:rPr dirty="0" spc="-20"/>
              <a:t> </a:t>
            </a:r>
            <a:r>
              <a:rPr dirty="0" spc="-10"/>
              <a:t>Generation</a:t>
            </a:r>
            <a:r>
              <a:rPr dirty="0"/>
              <a:t> &amp;</a:t>
            </a:r>
            <a:r>
              <a:rPr dirty="0" spc="-40"/>
              <a:t> </a:t>
            </a:r>
            <a:r>
              <a:rPr dirty="0"/>
              <a:t>Streamlit</a:t>
            </a:r>
            <a:r>
              <a:rPr dirty="0" spc="-40"/>
              <a:t> </a:t>
            </a:r>
            <a:r>
              <a:rPr dirty="0" spc="-25"/>
              <a:t>UI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900" y="787984"/>
            <a:ext cx="468312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Step</a:t>
            </a:r>
            <a:r>
              <a:rPr dirty="0" sz="1250" spc="-3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7</a:t>
            </a:r>
            <a:r>
              <a:rPr dirty="0" sz="1250" spc="-2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&amp;</a:t>
            </a:r>
            <a:r>
              <a:rPr dirty="0" sz="1250" spc="-3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8:</a:t>
            </a:r>
            <a:r>
              <a:rPr dirty="0" sz="1250" spc="-1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Generate</a:t>
            </a:r>
            <a:r>
              <a:rPr dirty="0" sz="1250" spc="-2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answer</a:t>
            </a:r>
            <a:r>
              <a:rPr dirty="0" sz="1250" spc="-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from</a:t>
            </a:r>
            <a:r>
              <a:rPr dirty="0" sz="1250" spc="-2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context</a:t>
            </a:r>
            <a:r>
              <a:rPr dirty="0" sz="1250" spc="-3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and</a:t>
            </a:r>
            <a:r>
              <a:rPr dirty="0" sz="1250" spc="-1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display</a:t>
            </a:r>
            <a:r>
              <a:rPr dirty="0" sz="1250" spc="-2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in</a:t>
            </a:r>
            <a:r>
              <a:rPr dirty="0" sz="1250" spc="-25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25E89"/>
                </a:solidFill>
                <a:latin typeface="Calibri"/>
                <a:cs typeface="Calibri"/>
              </a:rPr>
              <a:t>chat</a:t>
            </a:r>
            <a:r>
              <a:rPr dirty="0" sz="1250" spc="-20" b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25E89"/>
                </a:solidFill>
                <a:latin typeface="Calibri"/>
                <a:cs typeface="Calibri"/>
              </a:rPr>
              <a:t>interface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9" y="969265"/>
            <a:ext cx="8847582" cy="409270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28600" y="1078991"/>
            <a:ext cx="8686800" cy="3931920"/>
            <a:chOff x="228600" y="1078991"/>
            <a:chExt cx="8686800" cy="3931920"/>
          </a:xfrm>
        </p:grpSpPr>
        <p:sp>
          <p:nvSpPr>
            <p:cNvPr id="6" name="object 6"/>
            <p:cNvSpPr/>
            <p:nvPr/>
          </p:nvSpPr>
          <p:spPr>
            <a:xfrm>
              <a:off x="228600" y="1353311"/>
              <a:ext cx="8686800" cy="3657600"/>
            </a:xfrm>
            <a:custGeom>
              <a:avLst/>
              <a:gdLst/>
              <a:ahLst/>
              <a:cxnLst/>
              <a:rect l="l" t="t" r="r" b="b"/>
              <a:pathLst>
                <a:path w="8686800" h="3657600">
                  <a:moveTo>
                    <a:pt x="0" y="3657600"/>
                  </a:moveTo>
                  <a:lnTo>
                    <a:pt x="8686800" y="3657600"/>
                  </a:lnTo>
                  <a:lnTo>
                    <a:pt x="8686800" y="0"/>
                  </a:lnTo>
                  <a:lnTo>
                    <a:pt x="0" y="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A1F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28600" y="1078991"/>
              <a:ext cx="8686800" cy="274320"/>
            </a:xfrm>
            <a:custGeom>
              <a:avLst/>
              <a:gdLst/>
              <a:ahLst/>
              <a:cxnLst/>
              <a:rect l="l" t="t" r="r" b="b"/>
              <a:pathLst>
                <a:path w="8686800" h="274319">
                  <a:moveTo>
                    <a:pt x="8686800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686800" y="274320"/>
                  </a:lnTo>
                  <a:lnTo>
                    <a:pt x="8686800" y="0"/>
                  </a:lnTo>
                  <a:close/>
                </a:path>
              </a:pathLst>
            </a:custGeom>
            <a:solidFill>
              <a:srgbClr val="242B4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0600" y="3643884"/>
              <a:ext cx="325374" cy="265938"/>
            </a:xfrm>
            <a:prstGeom prst="rect">
              <a:avLst/>
            </a:prstGeom>
          </p:spPr>
        </p:pic>
      </p:grp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22250" y="1072641"/>
          <a:ext cx="8775700" cy="3931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6800"/>
              </a:tblGrid>
              <a:tr h="274320">
                <a:tc>
                  <a:txBody>
                    <a:bodyPr/>
                    <a:lstStyle/>
                    <a:p>
                      <a:pPr marL="82296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app.py</a:t>
                      </a:r>
                      <a:r>
                        <a:rPr dirty="0" sz="1000" spc="475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–</a:t>
                      </a:r>
                      <a:r>
                        <a:rPr dirty="0" sz="1000" spc="484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Full</a:t>
                      </a:r>
                      <a:r>
                        <a:rPr dirty="0" sz="1000" spc="-35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Pipeline</a:t>
                      </a:r>
                      <a:r>
                        <a:rPr dirty="0" sz="1000" spc="-35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(Response</a:t>
                      </a:r>
                      <a:r>
                        <a:rPr dirty="0" sz="1000" spc="-35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Generation</a:t>
                      </a:r>
                      <a:r>
                        <a:rPr dirty="0" sz="1000" spc="-35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dirty="0" sz="1000" spc="-35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Streamlit</a:t>
                      </a:r>
                      <a:r>
                        <a:rPr dirty="0" sz="1000" spc="-40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25">
                          <a:solidFill>
                            <a:srgbClr val="8792AF"/>
                          </a:solidFill>
                          <a:latin typeface="Consolas"/>
                          <a:cs typeface="Consolas"/>
                        </a:rPr>
                        <a:t>UI)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2C3560"/>
                      </a:solidFill>
                      <a:prstDash val="solid"/>
                    </a:lnL>
                    <a:lnR w="12700">
                      <a:solidFill>
                        <a:srgbClr val="2C3560"/>
                      </a:solidFill>
                      <a:prstDash val="solid"/>
                    </a:lnR>
                    <a:lnT w="12700">
                      <a:solidFill>
                        <a:srgbClr val="2C3560"/>
                      </a:solidFill>
                      <a:prstDash val="solid"/>
                    </a:lnT>
                    <a:lnB w="12700">
                      <a:solidFill>
                        <a:srgbClr val="2C3560"/>
                      </a:solidFill>
                      <a:prstDash val="solid"/>
                    </a:lnB>
                  </a:tcPr>
                </a:tc>
              </a:tr>
              <a:tr h="3657600"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0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000" spc="-55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langchain_community.llms</a:t>
                      </a:r>
                      <a:r>
                        <a:rPr dirty="0" sz="1000" spc="-6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dirty="0" sz="1000" spc="-65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OllamaLLM</a:t>
                      </a:r>
                      <a:endParaRPr sz="1000">
                        <a:latin typeface="Consolas"/>
                        <a:cs typeface="Consolas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dirty="0" sz="10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000" spc="-55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langchain.prompts</a:t>
                      </a:r>
                      <a:r>
                        <a:rPr dirty="0" sz="1000" spc="-5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dirty="0" sz="1000" spc="-65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PromptTemplate</a:t>
                      </a:r>
                      <a:endParaRPr sz="100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dirty="0" sz="10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def</a:t>
                      </a:r>
                      <a:r>
                        <a:rPr dirty="0" sz="1000" spc="35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generate_answer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(query,</a:t>
                      </a:r>
                      <a:r>
                        <a:rPr dirty="0" sz="1000" spc="3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docs):</a:t>
                      </a:r>
                      <a:endParaRPr sz="1000">
                        <a:latin typeface="Consolas"/>
                        <a:cs typeface="Consolas"/>
                      </a:endParaRPr>
                    </a:p>
                    <a:p>
                      <a:pPr marL="417195" marR="4700270">
                        <a:lnSpc>
                          <a:spcPct val="100000"/>
                        </a:lnSpc>
                      </a:pP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context</a:t>
                      </a:r>
                      <a:r>
                        <a:rPr dirty="0" sz="1000" spc="-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= </a:t>
                      </a:r>
                      <a:r>
                        <a:rPr dirty="0" sz="1000" spc="-1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"\n"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.join([d.page_content</a:t>
                      </a:r>
                      <a:r>
                        <a:rPr dirty="0" sz="1000" spc="2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for</a:t>
                      </a:r>
                      <a:r>
                        <a:rPr dirty="0" sz="1000" spc="-1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d </a:t>
                      </a:r>
                      <a:r>
                        <a:rPr dirty="0" sz="10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in</a:t>
                      </a:r>
                      <a:r>
                        <a:rPr dirty="0" sz="1000" spc="5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docs]) </a:t>
                      </a: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prompt</a:t>
                      </a:r>
                      <a:r>
                        <a:rPr dirty="0" sz="1000" spc="-1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 </a:t>
                      </a: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PromptTemplate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dirty="0" sz="100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from_template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endParaRPr sz="1000">
                        <a:latin typeface="Consolas"/>
                        <a:cs typeface="Consolas"/>
                      </a:endParaRPr>
                    </a:p>
                    <a:p>
                      <a:pPr marL="695960">
                        <a:lnSpc>
                          <a:spcPct val="100000"/>
                        </a:lnSpc>
                      </a:pPr>
                      <a:r>
                        <a:rPr dirty="0" sz="100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"Answer</a:t>
                      </a:r>
                      <a:r>
                        <a:rPr dirty="0" sz="1000" spc="-5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ONLY</a:t>
                      </a:r>
                      <a:r>
                        <a:rPr dirty="0" sz="1000" spc="-15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000" spc="-5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the</a:t>
                      </a:r>
                      <a:r>
                        <a:rPr dirty="0" sz="1000" spc="-15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context.\n"</a:t>
                      </a:r>
                      <a:endParaRPr sz="1000">
                        <a:latin typeface="Consolas"/>
                        <a:cs typeface="Consolas"/>
                      </a:endParaRPr>
                    </a:p>
                    <a:p>
                      <a:pPr marL="695960">
                        <a:lnSpc>
                          <a:spcPct val="100000"/>
                        </a:lnSpc>
                      </a:pPr>
                      <a:r>
                        <a:rPr dirty="0" sz="100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"If</a:t>
                      </a:r>
                      <a:r>
                        <a:rPr dirty="0" sz="1000" spc="-3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not</a:t>
                      </a:r>
                      <a:r>
                        <a:rPr dirty="0" sz="1000" spc="-25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found</a:t>
                      </a:r>
                      <a:r>
                        <a:rPr dirty="0" sz="1000" spc="-35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say:</a:t>
                      </a:r>
                      <a:r>
                        <a:rPr dirty="0" sz="1000" spc="-25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Answer</a:t>
                      </a:r>
                      <a:r>
                        <a:rPr dirty="0" sz="1000" spc="-25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not</a:t>
                      </a:r>
                      <a:r>
                        <a:rPr dirty="0" sz="1000" spc="-25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found</a:t>
                      </a:r>
                      <a:r>
                        <a:rPr dirty="0" sz="1000" spc="-35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in</a:t>
                      </a:r>
                      <a:r>
                        <a:rPr dirty="0" sz="1000" spc="-25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uploaded</a:t>
                      </a:r>
                      <a:r>
                        <a:rPr dirty="0" sz="1000" spc="-25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document.\n"</a:t>
                      </a:r>
                      <a:endParaRPr sz="1000">
                        <a:latin typeface="Consolas"/>
                        <a:cs typeface="Consolas"/>
                      </a:endParaRPr>
                    </a:p>
                    <a:p>
                      <a:pPr marL="6959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0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"Context:</a:t>
                      </a:r>
                      <a:r>
                        <a:rPr dirty="0" sz="1000" spc="3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{context}\nQuestion:</a:t>
                      </a:r>
                      <a:r>
                        <a:rPr dirty="0" sz="1000" spc="2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{question}\nAnswer:"</a:t>
                      </a:r>
                      <a:endParaRPr sz="1000">
                        <a:latin typeface="Consolas"/>
                        <a:cs typeface="Consolas"/>
                      </a:endParaRPr>
                    </a:p>
                    <a:p>
                      <a:pPr marL="417195">
                        <a:lnSpc>
                          <a:spcPct val="100000"/>
                        </a:lnSpc>
                      </a:pPr>
                      <a:r>
                        <a:rPr dirty="0" sz="1000" spc="-5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000">
                        <a:latin typeface="Consolas"/>
                        <a:cs typeface="Consolas"/>
                      </a:endParaRPr>
                    </a:p>
                    <a:p>
                      <a:pPr marL="417195" marR="5537835">
                        <a:lnSpc>
                          <a:spcPct val="100000"/>
                        </a:lnSpc>
                        <a:tabLst>
                          <a:tab pos="975360" algn="l"/>
                        </a:tabLst>
                      </a:pPr>
                      <a:r>
                        <a:rPr dirty="0" sz="1000" spc="-2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llm</a:t>
                      </a: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	=</a:t>
                      </a:r>
                      <a:r>
                        <a:rPr dirty="0" sz="1000" spc="-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OllamaLLM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(model=</a:t>
                      </a:r>
                      <a:r>
                        <a:rPr dirty="0" sz="1000" spc="-1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"qwen2:1.5b"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) chain</a:t>
                      </a: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	=</a:t>
                      </a:r>
                      <a:r>
                        <a:rPr dirty="0" sz="1000" spc="-2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prompt</a:t>
                      </a:r>
                      <a:r>
                        <a:rPr dirty="0" sz="1000" spc="-2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|</a:t>
                      </a:r>
                      <a:r>
                        <a:rPr dirty="0" sz="1000" spc="-2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llm</a:t>
                      </a:r>
                      <a:endParaRPr sz="1000">
                        <a:latin typeface="Consolas"/>
                        <a:cs typeface="Consolas"/>
                      </a:endParaRPr>
                    </a:p>
                    <a:p>
                      <a:pPr marL="417195">
                        <a:lnSpc>
                          <a:spcPct val="100000"/>
                        </a:lnSpc>
                      </a:pPr>
                      <a:r>
                        <a:rPr dirty="0" sz="10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return</a:t>
                      </a:r>
                      <a:r>
                        <a:rPr dirty="0" sz="1000" spc="-1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chain.</a:t>
                      </a:r>
                      <a:r>
                        <a:rPr dirty="0" sz="100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invoke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({</a:t>
                      </a:r>
                      <a:r>
                        <a:rPr dirty="0" sz="1000" spc="-1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"context"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000" spc="-2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context,</a:t>
                      </a:r>
                      <a:r>
                        <a:rPr dirty="0" sz="1000" spc="-1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"question"</a:t>
                      </a: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000" spc="-1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query})</a:t>
                      </a:r>
                      <a:endParaRPr sz="100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dirty="0" sz="10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r>
                        <a:rPr dirty="0" sz="1000" spc="-2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──</a:t>
                      </a:r>
                      <a:r>
                        <a:rPr dirty="0" sz="1000" spc="-1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Streamlit</a:t>
                      </a:r>
                      <a:r>
                        <a:rPr dirty="0" sz="1000" spc="-3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UI</a:t>
                      </a:r>
                      <a:r>
                        <a:rPr dirty="0" sz="1000" spc="-15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 i="1">
                          <a:solidFill>
                            <a:srgbClr val="696F97"/>
                          </a:solidFill>
                          <a:latin typeface="Consolas"/>
                          <a:cs typeface="Consolas"/>
                        </a:rPr>
                        <a:t>─────────────────────────────────────────</a:t>
                      </a:r>
                      <a:endParaRPr sz="1000">
                        <a:latin typeface="Consolas"/>
                        <a:cs typeface="Consolas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  <a:tabLst>
                          <a:tab pos="1080135" algn="l"/>
                        </a:tabLst>
                      </a:pP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st.</a:t>
                      </a:r>
                      <a:r>
                        <a:rPr dirty="0" sz="100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title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dirty="0" sz="1000" spc="-1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dirty="0" sz="100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	Study</a:t>
                      </a:r>
                      <a:r>
                        <a:rPr dirty="0" sz="1000" spc="-45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Assistance</a:t>
                      </a:r>
                      <a:r>
                        <a:rPr dirty="0" sz="1000" spc="-5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AI</a:t>
                      </a:r>
                      <a:r>
                        <a:rPr dirty="0" sz="1000" spc="-4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Chatbot"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000">
                        <a:latin typeface="Consolas"/>
                        <a:cs typeface="Consolas"/>
                      </a:endParaRPr>
                    </a:p>
                    <a:p>
                      <a:pPr marL="137160" marR="2673985">
                        <a:lnSpc>
                          <a:spcPct val="100000"/>
                        </a:lnSpc>
                      </a:pP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uploaded_files</a:t>
                      </a:r>
                      <a:r>
                        <a:rPr dirty="0" sz="1000" spc="-1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= 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st.sidebar.</a:t>
                      </a:r>
                      <a:r>
                        <a:rPr dirty="0" sz="100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file_uploader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dirty="0" sz="1000" spc="-1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"Upload</a:t>
                      </a:r>
                      <a:r>
                        <a:rPr dirty="0" sz="1000" spc="-5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PDFs"</a:t>
                      </a: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dirty="0" sz="1000" spc="-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accept_multiple_files=</a:t>
                      </a:r>
                      <a:r>
                        <a:rPr dirty="0" sz="1000" spc="-1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) </a:t>
                      </a:r>
                      <a:r>
                        <a:rPr dirty="0" sz="1000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if</a:t>
                      </a:r>
                      <a:r>
                        <a:rPr dirty="0" sz="1000" spc="45" b="1">
                          <a:solidFill>
                            <a:srgbClr val="C692E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st.sidebar.</a:t>
                      </a:r>
                      <a:r>
                        <a:rPr dirty="0" sz="100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button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dirty="0" sz="1000" spc="-1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"Process</a:t>
                      </a:r>
                      <a:r>
                        <a:rPr dirty="0" sz="1000" spc="3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PDFs"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):</a:t>
                      </a:r>
                      <a:endParaRPr sz="1000">
                        <a:latin typeface="Consolas"/>
                        <a:cs typeface="Consolas"/>
                      </a:endParaRPr>
                    </a:p>
                    <a:p>
                      <a:pPr marL="417195" marR="5401310">
                        <a:lnSpc>
                          <a:spcPct val="100000"/>
                        </a:lnSpc>
                        <a:tabLst>
                          <a:tab pos="905510" algn="l"/>
                        </a:tabLst>
                      </a:pPr>
                      <a:r>
                        <a:rPr dirty="0" sz="1000" spc="-2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docs</a:t>
                      </a: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	=</a:t>
                      </a:r>
                      <a:r>
                        <a:rPr dirty="0" sz="1000" spc="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load_and_extract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(uploaded_files) </a:t>
                      </a: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chunks</a:t>
                      </a:r>
                      <a:r>
                        <a:rPr dirty="0" sz="1000" spc="-2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split_into_chunks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(docs)</a:t>
                      </a:r>
                      <a:endParaRPr sz="1000">
                        <a:latin typeface="Consolas"/>
                        <a:cs typeface="Consolas"/>
                      </a:endParaRPr>
                    </a:p>
                    <a:p>
                      <a:pPr marL="417195" marR="5328920">
                        <a:lnSpc>
                          <a:spcPct val="100000"/>
                        </a:lnSpc>
                      </a:pP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model</a:t>
                      </a:r>
                      <a:r>
                        <a:rPr dirty="0" sz="1000" spc="-1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 </a:t>
                      </a: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000" spc="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load_embedding_model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() </a:t>
                      </a:r>
                      <a:r>
                        <a:rPr dirty="0" sz="1000" spc="-1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build_vector_store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(chunks,</a:t>
                      </a:r>
                      <a:r>
                        <a:rPr dirty="0" sz="1000" spc="95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model) </a:t>
                      </a: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st.</a:t>
                      </a:r>
                      <a:r>
                        <a:rPr dirty="0" sz="1000">
                          <a:solidFill>
                            <a:srgbClr val="82AAFF"/>
                          </a:solidFill>
                          <a:latin typeface="Consolas"/>
                          <a:cs typeface="Consolas"/>
                        </a:rPr>
                        <a:t>success</a:t>
                      </a:r>
                      <a:r>
                        <a:rPr dirty="0" sz="100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dirty="0" sz="100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"PDFs</a:t>
                      </a:r>
                      <a:r>
                        <a:rPr dirty="0" sz="1000" spc="-85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processed</a:t>
                      </a:r>
                      <a:r>
                        <a:rPr dirty="0" sz="1000" spc="-85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00" spc="-10">
                          <a:solidFill>
                            <a:srgbClr val="C3E88D"/>
                          </a:solidFill>
                          <a:latin typeface="Consolas"/>
                          <a:cs typeface="Consolas"/>
                        </a:rPr>
                        <a:t>successfully!"</a:t>
                      </a:r>
                      <a:r>
                        <a:rPr dirty="0" sz="1000" spc="-1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2C3560"/>
                      </a:solidFill>
                      <a:prstDash val="solid"/>
                    </a:lnL>
                    <a:lnR w="12700">
                      <a:solidFill>
                        <a:srgbClr val="2C3560"/>
                      </a:solidFill>
                      <a:prstDash val="solid"/>
                    </a:lnR>
                    <a:lnT w="12700">
                      <a:solidFill>
                        <a:srgbClr val="2C3560"/>
                      </a:solidFill>
                      <a:prstDash val="solid"/>
                    </a:lnT>
                    <a:lnB w="12700">
                      <a:solidFill>
                        <a:srgbClr val="2C356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977" y="1136650"/>
            <a:ext cx="131572" cy="13157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3145" y="1136650"/>
            <a:ext cx="131572" cy="13157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4313" y="1136650"/>
            <a:ext cx="131572" cy="13157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References</a:t>
            </a:r>
            <a:r>
              <a:rPr dirty="0" spc="-40"/>
              <a:t> </a:t>
            </a:r>
            <a:r>
              <a:rPr dirty="0"/>
              <a:t>–</a:t>
            </a:r>
            <a:r>
              <a:rPr dirty="0" spc="-55"/>
              <a:t> </a:t>
            </a:r>
            <a:r>
              <a:rPr dirty="0" spc="-10"/>
              <a:t>Research</a:t>
            </a:r>
            <a:r>
              <a:rPr dirty="0" spc="-35"/>
              <a:t> </a:t>
            </a:r>
            <a:r>
              <a:rPr dirty="0" spc="-10"/>
              <a:t>Papers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4779" y="694956"/>
            <a:ext cx="8848090" cy="1148715"/>
            <a:chOff x="144779" y="694956"/>
            <a:chExt cx="8848090" cy="11487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79" y="694956"/>
              <a:ext cx="8847582" cy="114832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8327" y="804672"/>
              <a:ext cx="8577580" cy="988060"/>
            </a:xfrm>
            <a:custGeom>
              <a:avLst/>
              <a:gdLst/>
              <a:ahLst/>
              <a:cxnLst/>
              <a:rect l="l" t="t" r="r" b="b"/>
              <a:pathLst>
                <a:path w="8577580" h="988060">
                  <a:moveTo>
                    <a:pt x="0" y="987551"/>
                  </a:moveTo>
                  <a:lnTo>
                    <a:pt x="8577072" y="987551"/>
                  </a:lnTo>
                  <a:lnTo>
                    <a:pt x="8577072" y="0"/>
                  </a:lnTo>
                  <a:lnTo>
                    <a:pt x="0" y="0"/>
                  </a:lnTo>
                  <a:lnTo>
                    <a:pt x="0" y="9875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28599" y="804672"/>
              <a:ext cx="8686800" cy="988060"/>
            </a:xfrm>
            <a:custGeom>
              <a:avLst/>
              <a:gdLst/>
              <a:ahLst/>
              <a:cxnLst/>
              <a:rect l="l" t="t" r="r" b="b"/>
              <a:pathLst>
                <a:path w="8686800" h="988060">
                  <a:moveTo>
                    <a:pt x="0" y="987551"/>
                  </a:moveTo>
                  <a:lnTo>
                    <a:pt x="8686800" y="987551"/>
                  </a:lnTo>
                  <a:lnTo>
                    <a:pt x="8686800" y="0"/>
                  </a:lnTo>
                  <a:lnTo>
                    <a:pt x="0" y="0"/>
                  </a:lnTo>
                  <a:lnTo>
                    <a:pt x="0" y="987551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28599" y="804672"/>
              <a:ext cx="109855" cy="988060"/>
            </a:xfrm>
            <a:custGeom>
              <a:avLst/>
              <a:gdLst/>
              <a:ahLst/>
              <a:cxnLst/>
              <a:rect l="l" t="t" r="r" b="b"/>
              <a:pathLst>
                <a:path w="109854" h="988060">
                  <a:moveTo>
                    <a:pt x="109728" y="0"/>
                  </a:moveTo>
                  <a:lnTo>
                    <a:pt x="0" y="0"/>
                  </a:lnTo>
                  <a:lnTo>
                    <a:pt x="0" y="987551"/>
                  </a:lnTo>
                  <a:lnTo>
                    <a:pt x="109728" y="987551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28599" y="804672"/>
              <a:ext cx="109855" cy="988060"/>
            </a:xfrm>
            <a:custGeom>
              <a:avLst/>
              <a:gdLst/>
              <a:ahLst/>
              <a:cxnLst/>
              <a:rect l="l" t="t" r="r" b="b"/>
              <a:pathLst>
                <a:path w="109854" h="988060">
                  <a:moveTo>
                    <a:pt x="0" y="987551"/>
                  </a:moveTo>
                  <a:lnTo>
                    <a:pt x="109728" y="987551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987551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772399" y="914400"/>
              <a:ext cx="1079500" cy="256540"/>
            </a:xfrm>
            <a:custGeom>
              <a:avLst/>
              <a:gdLst/>
              <a:ahLst/>
              <a:cxnLst/>
              <a:rect l="l" t="t" r="r" b="b"/>
              <a:pathLst>
                <a:path w="1079500" h="256540">
                  <a:moveTo>
                    <a:pt x="1078992" y="0"/>
                  </a:moveTo>
                  <a:lnTo>
                    <a:pt x="0" y="0"/>
                  </a:lnTo>
                  <a:lnTo>
                    <a:pt x="0" y="256032"/>
                  </a:lnTo>
                  <a:lnTo>
                    <a:pt x="1078992" y="256032"/>
                  </a:lnTo>
                  <a:lnTo>
                    <a:pt x="1078992" y="0"/>
                  </a:lnTo>
                  <a:close/>
                </a:path>
              </a:pathLst>
            </a:custGeom>
            <a:solidFill>
              <a:srgbClr val="125E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772399" y="914400"/>
              <a:ext cx="1079500" cy="256540"/>
            </a:xfrm>
            <a:custGeom>
              <a:avLst/>
              <a:gdLst/>
              <a:ahLst/>
              <a:cxnLst/>
              <a:rect l="l" t="t" r="r" b="b"/>
              <a:pathLst>
                <a:path w="1079500" h="256540">
                  <a:moveTo>
                    <a:pt x="0" y="256032"/>
                  </a:moveTo>
                  <a:lnTo>
                    <a:pt x="1078992" y="256032"/>
                  </a:lnTo>
                  <a:lnTo>
                    <a:pt x="1078992" y="0"/>
                  </a:lnTo>
                  <a:lnTo>
                    <a:pt x="0" y="0"/>
                  </a:lnTo>
                  <a:lnTo>
                    <a:pt x="0" y="256032"/>
                  </a:lnTo>
                  <a:close/>
                </a:path>
              </a:pathLst>
            </a:custGeom>
            <a:ln w="12700">
              <a:solidFill>
                <a:srgbClr val="125E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766050" y="950213"/>
            <a:ext cx="109220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95"/>
              </a:spcBef>
            </a:pP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RAG</a:t>
            </a:r>
            <a:r>
              <a:rPr dirty="0" sz="95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Foundation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8779" y="883666"/>
            <a:ext cx="2159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 b="1">
                <a:solidFill>
                  <a:srgbClr val="099295"/>
                </a:solidFill>
                <a:latin typeface="Calibri"/>
                <a:cs typeface="Calibri"/>
              </a:rPr>
              <a:t>[1]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1972" y="803232"/>
            <a:ext cx="4185285" cy="794385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200" spc="-10" b="1">
                <a:solidFill>
                  <a:srgbClr val="0D2B45"/>
                </a:solidFill>
                <a:latin typeface="Calibri"/>
                <a:cs typeface="Calibri"/>
              </a:rPr>
              <a:t>Patrick</a:t>
            </a:r>
            <a:r>
              <a:rPr dirty="0" sz="1200" spc="-3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2B45"/>
                </a:solidFill>
                <a:latin typeface="Calibri"/>
                <a:cs typeface="Calibri"/>
              </a:rPr>
              <a:t>Lewis,</a:t>
            </a:r>
            <a:r>
              <a:rPr dirty="0" sz="1200" spc="-1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2B45"/>
                </a:solidFill>
                <a:latin typeface="Calibri"/>
                <a:cs typeface="Calibri"/>
              </a:rPr>
              <a:t>Ethan</a:t>
            </a:r>
            <a:r>
              <a:rPr dirty="0" sz="1200" spc="-2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2B45"/>
                </a:solidFill>
                <a:latin typeface="Calibri"/>
                <a:cs typeface="Calibri"/>
              </a:rPr>
              <a:t>Perez,</a:t>
            </a:r>
            <a:r>
              <a:rPr dirty="0" sz="1200" spc="-10" b="1">
                <a:solidFill>
                  <a:srgbClr val="0D2B45"/>
                </a:solidFill>
                <a:latin typeface="Calibri"/>
                <a:cs typeface="Calibri"/>
              </a:rPr>
              <a:t> Aleksandra</a:t>
            </a:r>
            <a:r>
              <a:rPr dirty="0" sz="1200" spc="-4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2B45"/>
                </a:solidFill>
                <a:latin typeface="Calibri"/>
                <a:cs typeface="Calibri"/>
              </a:rPr>
              <a:t>Piktus</a:t>
            </a:r>
            <a:r>
              <a:rPr dirty="0" sz="1200" spc="-2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2B45"/>
                </a:solidFill>
                <a:latin typeface="Calibri"/>
                <a:cs typeface="Calibri"/>
              </a:rPr>
              <a:t>et</a:t>
            </a:r>
            <a:r>
              <a:rPr dirty="0" sz="1200" spc="-2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0D2B45"/>
                </a:solidFill>
                <a:latin typeface="Calibri"/>
                <a:cs typeface="Calibri"/>
              </a:rPr>
              <a:t>al.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150" spc="-10" i="1">
                <a:solidFill>
                  <a:srgbClr val="125E89"/>
                </a:solidFill>
                <a:latin typeface="Calibri"/>
                <a:cs typeface="Calibri"/>
              </a:rPr>
              <a:t>"Retrieval-</a:t>
            </a:r>
            <a:r>
              <a:rPr dirty="0" sz="1150" i="1">
                <a:solidFill>
                  <a:srgbClr val="125E89"/>
                </a:solidFill>
                <a:latin typeface="Calibri"/>
                <a:cs typeface="Calibri"/>
              </a:rPr>
              <a:t>Augmented</a:t>
            </a:r>
            <a:r>
              <a:rPr dirty="0" sz="1150" spc="-15" i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125E89"/>
                </a:solidFill>
                <a:latin typeface="Calibri"/>
                <a:cs typeface="Calibri"/>
              </a:rPr>
              <a:t>Generation</a:t>
            </a:r>
            <a:r>
              <a:rPr dirty="0" sz="1150" spc="-5" i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125E89"/>
                </a:solidFill>
                <a:latin typeface="Calibri"/>
                <a:cs typeface="Calibri"/>
              </a:rPr>
              <a:t>for </a:t>
            </a:r>
            <a:r>
              <a:rPr dirty="0" sz="1150" spc="-10" i="1">
                <a:solidFill>
                  <a:srgbClr val="125E89"/>
                </a:solidFill>
                <a:latin typeface="Calibri"/>
                <a:cs typeface="Calibri"/>
              </a:rPr>
              <a:t>Knowledge-</a:t>
            </a:r>
            <a:r>
              <a:rPr dirty="0" sz="1150" i="1">
                <a:solidFill>
                  <a:srgbClr val="125E89"/>
                </a:solidFill>
                <a:latin typeface="Calibri"/>
                <a:cs typeface="Calibri"/>
              </a:rPr>
              <a:t>Intensive</a:t>
            </a:r>
            <a:r>
              <a:rPr dirty="0" sz="1150" spc="-5" i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125E89"/>
                </a:solidFill>
                <a:latin typeface="Calibri"/>
                <a:cs typeface="Calibri"/>
              </a:rPr>
              <a:t>NLP</a:t>
            </a:r>
            <a:r>
              <a:rPr dirty="0" sz="1150" spc="5" i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150" spc="-10" i="1">
                <a:solidFill>
                  <a:srgbClr val="125E89"/>
                </a:solidFill>
                <a:latin typeface="Calibri"/>
                <a:cs typeface="Calibri"/>
              </a:rPr>
              <a:t>Tasks"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100">
                <a:latin typeface="Calibri"/>
                <a:cs typeface="Calibri"/>
              </a:rPr>
              <a:t>Advances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Neural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Information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Processing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Systems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(NeurIPS),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2020.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44779" y="1764804"/>
            <a:ext cx="8848090" cy="1148715"/>
            <a:chOff x="144779" y="1764804"/>
            <a:chExt cx="8848090" cy="114871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79" y="1764804"/>
              <a:ext cx="8847582" cy="114832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38327" y="1874519"/>
              <a:ext cx="8577580" cy="988060"/>
            </a:xfrm>
            <a:custGeom>
              <a:avLst/>
              <a:gdLst/>
              <a:ahLst/>
              <a:cxnLst/>
              <a:rect l="l" t="t" r="r" b="b"/>
              <a:pathLst>
                <a:path w="8577580" h="988060">
                  <a:moveTo>
                    <a:pt x="0" y="987551"/>
                  </a:moveTo>
                  <a:lnTo>
                    <a:pt x="8577072" y="987551"/>
                  </a:lnTo>
                  <a:lnTo>
                    <a:pt x="8577072" y="0"/>
                  </a:lnTo>
                  <a:lnTo>
                    <a:pt x="0" y="0"/>
                  </a:lnTo>
                  <a:lnTo>
                    <a:pt x="0" y="987551"/>
                  </a:lnTo>
                  <a:close/>
                </a:path>
              </a:pathLst>
            </a:custGeom>
            <a:solidFill>
              <a:srgbClr val="DFF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28599" y="1874519"/>
              <a:ext cx="8686800" cy="988060"/>
            </a:xfrm>
            <a:custGeom>
              <a:avLst/>
              <a:gdLst/>
              <a:ahLst/>
              <a:cxnLst/>
              <a:rect l="l" t="t" r="r" b="b"/>
              <a:pathLst>
                <a:path w="8686800" h="988060">
                  <a:moveTo>
                    <a:pt x="0" y="987551"/>
                  </a:moveTo>
                  <a:lnTo>
                    <a:pt x="8686800" y="987551"/>
                  </a:lnTo>
                  <a:lnTo>
                    <a:pt x="8686800" y="0"/>
                  </a:lnTo>
                  <a:lnTo>
                    <a:pt x="0" y="0"/>
                  </a:lnTo>
                  <a:lnTo>
                    <a:pt x="0" y="987551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28599" y="1874519"/>
              <a:ext cx="109855" cy="988060"/>
            </a:xfrm>
            <a:custGeom>
              <a:avLst/>
              <a:gdLst/>
              <a:ahLst/>
              <a:cxnLst/>
              <a:rect l="l" t="t" r="r" b="b"/>
              <a:pathLst>
                <a:path w="109854" h="988060">
                  <a:moveTo>
                    <a:pt x="109728" y="0"/>
                  </a:moveTo>
                  <a:lnTo>
                    <a:pt x="0" y="0"/>
                  </a:lnTo>
                  <a:lnTo>
                    <a:pt x="0" y="987551"/>
                  </a:lnTo>
                  <a:lnTo>
                    <a:pt x="109728" y="987551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28599" y="1874519"/>
              <a:ext cx="109855" cy="988060"/>
            </a:xfrm>
            <a:custGeom>
              <a:avLst/>
              <a:gdLst/>
              <a:ahLst/>
              <a:cxnLst/>
              <a:rect l="l" t="t" r="r" b="b"/>
              <a:pathLst>
                <a:path w="109854" h="988060">
                  <a:moveTo>
                    <a:pt x="0" y="987551"/>
                  </a:moveTo>
                  <a:lnTo>
                    <a:pt x="109728" y="987551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987551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772399" y="1984247"/>
              <a:ext cx="1079500" cy="256540"/>
            </a:xfrm>
            <a:custGeom>
              <a:avLst/>
              <a:gdLst/>
              <a:ahLst/>
              <a:cxnLst/>
              <a:rect l="l" t="t" r="r" b="b"/>
              <a:pathLst>
                <a:path w="1079500" h="256539">
                  <a:moveTo>
                    <a:pt x="1078992" y="0"/>
                  </a:moveTo>
                  <a:lnTo>
                    <a:pt x="0" y="0"/>
                  </a:lnTo>
                  <a:lnTo>
                    <a:pt x="0" y="256031"/>
                  </a:lnTo>
                  <a:lnTo>
                    <a:pt x="1078992" y="256031"/>
                  </a:lnTo>
                  <a:lnTo>
                    <a:pt x="1078992" y="0"/>
                  </a:lnTo>
                  <a:close/>
                </a:path>
              </a:pathLst>
            </a:custGeom>
            <a:solidFill>
              <a:srgbClr val="125E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772399" y="1984247"/>
              <a:ext cx="1079500" cy="256540"/>
            </a:xfrm>
            <a:custGeom>
              <a:avLst/>
              <a:gdLst/>
              <a:ahLst/>
              <a:cxnLst/>
              <a:rect l="l" t="t" r="r" b="b"/>
              <a:pathLst>
                <a:path w="1079500" h="256539">
                  <a:moveTo>
                    <a:pt x="0" y="256031"/>
                  </a:moveTo>
                  <a:lnTo>
                    <a:pt x="1078992" y="256031"/>
                  </a:lnTo>
                  <a:lnTo>
                    <a:pt x="1078992" y="0"/>
                  </a:lnTo>
                  <a:lnTo>
                    <a:pt x="0" y="0"/>
                  </a:lnTo>
                  <a:lnTo>
                    <a:pt x="0" y="256031"/>
                  </a:lnTo>
                  <a:close/>
                </a:path>
              </a:pathLst>
            </a:custGeom>
            <a:ln w="12700">
              <a:solidFill>
                <a:srgbClr val="125E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766050" y="2020316"/>
            <a:ext cx="109220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95"/>
              </a:spcBef>
            </a:pP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SBERT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95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Embeddings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8779" y="1953894"/>
            <a:ext cx="2159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 b="1">
                <a:solidFill>
                  <a:srgbClr val="099295"/>
                </a:solidFill>
                <a:latin typeface="Calibri"/>
                <a:cs typeface="Calibri"/>
              </a:rPr>
              <a:t>[2]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1972" y="1873594"/>
            <a:ext cx="4201160" cy="79375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200" b="1">
                <a:solidFill>
                  <a:srgbClr val="0D2B45"/>
                </a:solidFill>
                <a:latin typeface="Calibri"/>
                <a:cs typeface="Calibri"/>
              </a:rPr>
              <a:t>Nils</a:t>
            </a:r>
            <a:r>
              <a:rPr dirty="0" sz="1200" spc="-3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2B45"/>
                </a:solidFill>
                <a:latin typeface="Calibri"/>
                <a:cs typeface="Calibri"/>
              </a:rPr>
              <a:t>Reimers</a:t>
            </a:r>
            <a:r>
              <a:rPr dirty="0" sz="1200" spc="-3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2B45"/>
                </a:solidFill>
                <a:latin typeface="Calibri"/>
                <a:cs typeface="Calibri"/>
              </a:rPr>
              <a:t>and</a:t>
            </a:r>
            <a:r>
              <a:rPr dirty="0" sz="1200" spc="-1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2B45"/>
                </a:solidFill>
                <a:latin typeface="Calibri"/>
                <a:cs typeface="Calibri"/>
              </a:rPr>
              <a:t>Iryna</a:t>
            </a:r>
            <a:r>
              <a:rPr dirty="0" sz="1200" spc="-3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D2B45"/>
                </a:solidFill>
                <a:latin typeface="Calibri"/>
                <a:cs typeface="Calibri"/>
              </a:rPr>
              <a:t>Gurevych.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150" spc="-10" i="1">
                <a:solidFill>
                  <a:srgbClr val="125E89"/>
                </a:solidFill>
                <a:latin typeface="Calibri"/>
                <a:cs typeface="Calibri"/>
              </a:rPr>
              <a:t>"Sentence-</a:t>
            </a:r>
            <a:r>
              <a:rPr dirty="0" sz="1150" i="1">
                <a:solidFill>
                  <a:srgbClr val="125E89"/>
                </a:solidFill>
                <a:latin typeface="Calibri"/>
                <a:cs typeface="Calibri"/>
              </a:rPr>
              <a:t>BERT: Sentence</a:t>
            </a:r>
            <a:r>
              <a:rPr dirty="0" sz="1150" spc="-10" i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125E89"/>
                </a:solidFill>
                <a:latin typeface="Calibri"/>
                <a:cs typeface="Calibri"/>
              </a:rPr>
              <a:t>Embeddings</a:t>
            </a:r>
            <a:r>
              <a:rPr dirty="0" sz="1150" spc="-30" i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125E89"/>
                </a:solidFill>
                <a:latin typeface="Calibri"/>
                <a:cs typeface="Calibri"/>
              </a:rPr>
              <a:t>using</a:t>
            </a:r>
            <a:r>
              <a:rPr dirty="0" sz="1150" spc="-15" i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125E89"/>
                </a:solidFill>
                <a:latin typeface="Calibri"/>
                <a:cs typeface="Calibri"/>
              </a:rPr>
              <a:t>Siamese</a:t>
            </a:r>
            <a:r>
              <a:rPr dirty="0" sz="1150" spc="-5" i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150" spc="-10" i="1">
                <a:solidFill>
                  <a:srgbClr val="125E89"/>
                </a:solidFill>
                <a:latin typeface="Calibri"/>
                <a:cs typeface="Calibri"/>
              </a:rPr>
              <a:t>BERT-Networks"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100">
                <a:latin typeface="Calibri"/>
                <a:cs typeface="Calibri"/>
              </a:rPr>
              <a:t>Proceedings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EMNLP,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2019.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44779" y="2834627"/>
            <a:ext cx="8848090" cy="1148715"/>
            <a:chOff x="144779" y="2834627"/>
            <a:chExt cx="8848090" cy="114871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79" y="2834627"/>
              <a:ext cx="8847582" cy="114832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38327" y="2944368"/>
              <a:ext cx="8577580" cy="988060"/>
            </a:xfrm>
            <a:custGeom>
              <a:avLst/>
              <a:gdLst/>
              <a:ahLst/>
              <a:cxnLst/>
              <a:rect l="l" t="t" r="r" b="b"/>
              <a:pathLst>
                <a:path w="8577580" h="988060">
                  <a:moveTo>
                    <a:pt x="0" y="987552"/>
                  </a:moveTo>
                  <a:lnTo>
                    <a:pt x="8577072" y="987552"/>
                  </a:lnTo>
                  <a:lnTo>
                    <a:pt x="8577072" y="0"/>
                  </a:lnTo>
                  <a:lnTo>
                    <a:pt x="0" y="0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28599" y="2944368"/>
              <a:ext cx="8686800" cy="988060"/>
            </a:xfrm>
            <a:custGeom>
              <a:avLst/>
              <a:gdLst/>
              <a:ahLst/>
              <a:cxnLst/>
              <a:rect l="l" t="t" r="r" b="b"/>
              <a:pathLst>
                <a:path w="8686800" h="988060">
                  <a:moveTo>
                    <a:pt x="0" y="987552"/>
                  </a:moveTo>
                  <a:lnTo>
                    <a:pt x="8686800" y="987552"/>
                  </a:lnTo>
                  <a:lnTo>
                    <a:pt x="8686800" y="0"/>
                  </a:lnTo>
                  <a:lnTo>
                    <a:pt x="0" y="0"/>
                  </a:lnTo>
                  <a:lnTo>
                    <a:pt x="0" y="987552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28599" y="2944368"/>
              <a:ext cx="109855" cy="988060"/>
            </a:xfrm>
            <a:custGeom>
              <a:avLst/>
              <a:gdLst/>
              <a:ahLst/>
              <a:cxnLst/>
              <a:rect l="l" t="t" r="r" b="b"/>
              <a:pathLst>
                <a:path w="109854" h="988060">
                  <a:moveTo>
                    <a:pt x="109728" y="0"/>
                  </a:moveTo>
                  <a:lnTo>
                    <a:pt x="0" y="0"/>
                  </a:lnTo>
                  <a:lnTo>
                    <a:pt x="0" y="987552"/>
                  </a:lnTo>
                  <a:lnTo>
                    <a:pt x="109728" y="987552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28599" y="2944368"/>
              <a:ext cx="109855" cy="988060"/>
            </a:xfrm>
            <a:custGeom>
              <a:avLst/>
              <a:gdLst/>
              <a:ahLst/>
              <a:cxnLst/>
              <a:rect l="l" t="t" r="r" b="b"/>
              <a:pathLst>
                <a:path w="109854" h="988060">
                  <a:moveTo>
                    <a:pt x="0" y="987552"/>
                  </a:moveTo>
                  <a:lnTo>
                    <a:pt x="109728" y="987552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987552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772399" y="3054096"/>
              <a:ext cx="1079500" cy="256540"/>
            </a:xfrm>
            <a:custGeom>
              <a:avLst/>
              <a:gdLst/>
              <a:ahLst/>
              <a:cxnLst/>
              <a:rect l="l" t="t" r="r" b="b"/>
              <a:pathLst>
                <a:path w="1079500" h="256539">
                  <a:moveTo>
                    <a:pt x="1078992" y="0"/>
                  </a:moveTo>
                  <a:lnTo>
                    <a:pt x="0" y="0"/>
                  </a:lnTo>
                  <a:lnTo>
                    <a:pt x="0" y="256031"/>
                  </a:lnTo>
                  <a:lnTo>
                    <a:pt x="1078992" y="256031"/>
                  </a:lnTo>
                  <a:lnTo>
                    <a:pt x="1078992" y="0"/>
                  </a:lnTo>
                  <a:close/>
                </a:path>
              </a:pathLst>
            </a:custGeom>
            <a:solidFill>
              <a:srgbClr val="125E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772399" y="3054096"/>
              <a:ext cx="1079500" cy="256540"/>
            </a:xfrm>
            <a:custGeom>
              <a:avLst/>
              <a:gdLst/>
              <a:ahLst/>
              <a:cxnLst/>
              <a:rect l="l" t="t" r="r" b="b"/>
              <a:pathLst>
                <a:path w="1079500" h="256539">
                  <a:moveTo>
                    <a:pt x="0" y="256031"/>
                  </a:moveTo>
                  <a:lnTo>
                    <a:pt x="1078992" y="256031"/>
                  </a:lnTo>
                  <a:lnTo>
                    <a:pt x="1078992" y="0"/>
                  </a:lnTo>
                  <a:lnTo>
                    <a:pt x="0" y="0"/>
                  </a:lnTo>
                  <a:lnTo>
                    <a:pt x="0" y="256031"/>
                  </a:lnTo>
                  <a:close/>
                </a:path>
              </a:pathLst>
            </a:custGeom>
            <a:ln w="12700">
              <a:solidFill>
                <a:srgbClr val="125E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7766050" y="3090418"/>
            <a:ext cx="109220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95"/>
              </a:spcBef>
            </a:pP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FAISS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98779" y="3023997"/>
            <a:ext cx="2159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 b="1">
                <a:solidFill>
                  <a:srgbClr val="099295"/>
                </a:solidFill>
                <a:latin typeface="Calibri"/>
                <a:cs typeface="Calibri"/>
              </a:rPr>
              <a:t>[3]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91972" y="2943695"/>
            <a:ext cx="3384550" cy="79375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200" b="1">
                <a:solidFill>
                  <a:srgbClr val="0D2B45"/>
                </a:solidFill>
                <a:latin typeface="Calibri"/>
                <a:cs typeface="Calibri"/>
              </a:rPr>
              <a:t>Jeff</a:t>
            </a:r>
            <a:r>
              <a:rPr dirty="0" sz="1200" spc="-3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2B45"/>
                </a:solidFill>
                <a:latin typeface="Calibri"/>
                <a:cs typeface="Calibri"/>
              </a:rPr>
              <a:t>Johnson,</a:t>
            </a:r>
            <a:r>
              <a:rPr dirty="0" sz="1200" spc="-10" b="1">
                <a:solidFill>
                  <a:srgbClr val="0D2B45"/>
                </a:solidFill>
                <a:latin typeface="Calibri"/>
                <a:cs typeface="Calibri"/>
              </a:rPr>
              <a:t> Matthijs</a:t>
            </a:r>
            <a:r>
              <a:rPr dirty="0" sz="1200" spc="-3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2B45"/>
                </a:solidFill>
                <a:latin typeface="Calibri"/>
                <a:cs typeface="Calibri"/>
              </a:rPr>
              <a:t>Douze,</a:t>
            </a:r>
            <a:r>
              <a:rPr dirty="0" sz="1200" spc="-2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2B45"/>
                </a:solidFill>
                <a:latin typeface="Calibri"/>
                <a:cs typeface="Calibri"/>
              </a:rPr>
              <a:t>and</a:t>
            </a:r>
            <a:r>
              <a:rPr dirty="0" sz="1200" spc="-2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2B45"/>
                </a:solidFill>
                <a:latin typeface="Calibri"/>
                <a:cs typeface="Calibri"/>
              </a:rPr>
              <a:t>Hervé</a:t>
            </a:r>
            <a:r>
              <a:rPr dirty="0" sz="1200" spc="-3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D2B45"/>
                </a:solidFill>
                <a:latin typeface="Calibri"/>
                <a:cs typeface="Calibri"/>
              </a:rPr>
              <a:t>Jégou.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150" spc="-10" i="1">
                <a:solidFill>
                  <a:srgbClr val="125E89"/>
                </a:solidFill>
                <a:latin typeface="Calibri"/>
                <a:cs typeface="Calibri"/>
              </a:rPr>
              <a:t>"Billion-</a:t>
            </a:r>
            <a:r>
              <a:rPr dirty="0" sz="1150" i="1">
                <a:solidFill>
                  <a:srgbClr val="125E89"/>
                </a:solidFill>
                <a:latin typeface="Calibri"/>
                <a:cs typeface="Calibri"/>
              </a:rPr>
              <a:t>Scale</a:t>
            </a:r>
            <a:r>
              <a:rPr dirty="0" sz="1150" spc="-25" i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125E89"/>
                </a:solidFill>
                <a:latin typeface="Calibri"/>
                <a:cs typeface="Calibri"/>
              </a:rPr>
              <a:t>Similarity</a:t>
            </a:r>
            <a:r>
              <a:rPr dirty="0" sz="1150" spc="-20" i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125E89"/>
                </a:solidFill>
                <a:latin typeface="Calibri"/>
                <a:cs typeface="Calibri"/>
              </a:rPr>
              <a:t>Search</a:t>
            </a:r>
            <a:r>
              <a:rPr dirty="0" sz="1150" spc="-25" i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125E89"/>
                </a:solidFill>
                <a:latin typeface="Calibri"/>
                <a:cs typeface="Calibri"/>
              </a:rPr>
              <a:t>with</a:t>
            </a:r>
            <a:r>
              <a:rPr dirty="0" sz="1150" spc="-30" i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150" spc="-20" i="1">
                <a:solidFill>
                  <a:srgbClr val="125E89"/>
                </a:solidFill>
                <a:latin typeface="Calibri"/>
                <a:cs typeface="Calibri"/>
              </a:rPr>
              <a:t>GPUs"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100">
                <a:latin typeface="Calibri"/>
                <a:cs typeface="Calibri"/>
              </a:rPr>
              <a:t>IEEE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Transactions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Big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Facebook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AI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Research,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2017.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44779" y="3904481"/>
            <a:ext cx="8848090" cy="1148715"/>
            <a:chOff x="144779" y="3904481"/>
            <a:chExt cx="8848090" cy="1148715"/>
          </a:xfrm>
        </p:grpSpPr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79" y="3904481"/>
              <a:ext cx="8847582" cy="1148321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38327" y="4014216"/>
              <a:ext cx="8577580" cy="988060"/>
            </a:xfrm>
            <a:custGeom>
              <a:avLst/>
              <a:gdLst/>
              <a:ahLst/>
              <a:cxnLst/>
              <a:rect l="l" t="t" r="r" b="b"/>
              <a:pathLst>
                <a:path w="8577580" h="988060">
                  <a:moveTo>
                    <a:pt x="0" y="987552"/>
                  </a:moveTo>
                  <a:lnTo>
                    <a:pt x="8577072" y="987552"/>
                  </a:lnTo>
                  <a:lnTo>
                    <a:pt x="8577072" y="0"/>
                  </a:lnTo>
                  <a:lnTo>
                    <a:pt x="0" y="0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DFF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28599" y="4014216"/>
              <a:ext cx="8686800" cy="988060"/>
            </a:xfrm>
            <a:custGeom>
              <a:avLst/>
              <a:gdLst/>
              <a:ahLst/>
              <a:cxnLst/>
              <a:rect l="l" t="t" r="r" b="b"/>
              <a:pathLst>
                <a:path w="8686800" h="988060">
                  <a:moveTo>
                    <a:pt x="0" y="987552"/>
                  </a:moveTo>
                  <a:lnTo>
                    <a:pt x="8686800" y="987552"/>
                  </a:lnTo>
                  <a:lnTo>
                    <a:pt x="8686800" y="0"/>
                  </a:lnTo>
                  <a:lnTo>
                    <a:pt x="0" y="0"/>
                  </a:lnTo>
                  <a:lnTo>
                    <a:pt x="0" y="987552"/>
                  </a:lnTo>
                  <a:close/>
                </a:path>
              </a:pathLst>
            </a:custGeom>
            <a:ln w="12700">
              <a:solidFill>
                <a:srgbClr val="D3E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28599" y="4014216"/>
              <a:ext cx="109855" cy="988060"/>
            </a:xfrm>
            <a:custGeom>
              <a:avLst/>
              <a:gdLst/>
              <a:ahLst/>
              <a:cxnLst/>
              <a:rect l="l" t="t" r="r" b="b"/>
              <a:pathLst>
                <a:path w="109854" h="988060">
                  <a:moveTo>
                    <a:pt x="109728" y="0"/>
                  </a:moveTo>
                  <a:lnTo>
                    <a:pt x="0" y="0"/>
                  </a:lnTo>
                  <a:lnTo>
                    <a:pt x="0" y="987552"/>
                  </a:lnTo>
                  <a:lnTo>
                    <a:pt x="109728" y="987552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0992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28599" y="4014216"/>
              <a:ext cx="109855" cy="988060"/>
            </a:xfrm>
            <a:custGeom>
              <a:avLst/>
              <a:gdLst/>
              <a:ahLst/>
              <a:cxnLst/>
              <a:rect l="l" t="t" r="r" b="b"/>
              <a:pathLst>
                <a:path w="109854" h="988060">
                  <a:moveTo>
                    <a:pt x="0" y="987552"/>
                  </a:moveTo>
                  <a:lnTo>
                    <a:pt x="109728" y="987552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987552"/>
                  </a:lnTo>
                  <a:close/>
                </a:path>
              </a:pathLst>
            </a:custGeom>
            <a:ln w="12700">
              <a:solidFill>
                <a:srgbClr val="0992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772399" y="4123944"/>
              <a:ext cx="1079500" cy="256540"/>
            </a:xfrm>
            <a:custGeom>
              <a:avLst/>
              <a:gdLst/>
              <a:ahLst/>
              <a:cxnLst/>
              <a:rect l="l" t="t" r="r" b="b"/>
              <a:pathLst>
                <a:path w="1079500" h="256539">
                  <a:moveTo>
                    <a:pt x="1078992" y="0"/>
                  </a:moveTo>
                  <a:lnTo>
                    <a:pt x="0" y="0"/>
                  </a:lnTo>
                  <a:lnTo>
                    <a:pt x="0" y="256031"/>
                  </a:lnTo>
                  <a:lnTo>
                    <a:pt x="1078992" y="256031"/>
                  </a:lnTo>
                  <a:lnTo>
                    <a:pt x="1078992" y="0"/>
                  </a:lnTo>
                  <a:close/>
                </a:path>
              </a:pathLst>
            </a:custGeom>
            <a:solidFill>
              <a:srgbClr val="125E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7772399" y="4123944"/>
              <a:ext cx="1079500" cy="256540"/>
            </a:xfrm>
            <a:custGeom>
              <a:avLst/>
              <a:gdLst/>
              <a:ahLst/>
              <a:cxnLst/>
              <a:rect l="l" t="t" r="r" b="b"/>
              <a:pathLst>
                <a:path w="1079500" h="256539">
                  <a:moveTo>
                    <a:pt x="0" y="256031"/>
                  </a:moveTo>
                  <a:lnTo>
                    <a:pt x="1078992" y="256031"/>
                  </a:lnTo>
                  <a:lnTo>
                    <a:pt x="1078992" y="0"/>
                  </a:lnTo>
                  <a:lnTo>
                    <a:pt x="0" y="0"/>
                  </a:lnTo>
                  <a:lnTo>
                    <a:pt x="0" y="256031"/>
                  </a:lnTo>
                  <a:close/>
                </a:path>
              </a:pathLst>
            </a:custGeom>
            <a:ln w="12700">
              <a:solidFill>
                <a:srgbClr val="125E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7766050" y="4160621"/>
            <a:ext cx="109220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95"/>
              </a:spcBef>
            </a:pP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Domain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Chatbots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98779" y="4094175"/>
            <a:ext cx="2159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 b="1">
                <a:solidFill>
                  <a:srgbClr val="099295"/>
                </a:solidFill>
                <a:latin typeface="Calibri"/>
                <a:cs typeface="Calibri"/>
              </a:rPr>
              <a:t>[4]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91972" y="4013847"/>
            <a:ext cx="5156835" cy="79375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200" spc="-10" b="1">
                <a:solidFill>
                  <a:srgbClr val="0D2B45"/>
                </a:solidFill>
                <a:latin typeface="Calibri"/>
                <a:cs typeface="Calibri"/>
              </a:rPr>
              <a:t>Various</a:t>
            </a:r>
            <a:r>
              <a:rPr dirty="0" sz="1200" spc="-3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D2B45"/>
                </a:solidFill>
                <a:latin typeface="Calibri"/>
                <a:cs typeface="Calibri"/>
              </a:rPr>
              <a:t>Researchers.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150" spc="-10" i="1">
                <a:solidFill>
                  <a:srgbClr val="125E89"/>
                </a:solidFill>
                <a:latin typeface="Calibri"/>
                <a:cs typeface="Calibri"/>
              </a:rPr>
              <a:t>"Domain-</a:t>
            </a:r>
            <a:r>
              <a:rPr dirty="0" sz="1150" i="1">
                <a:solidFill>
                  <a:srgbClr val="125E89"/>
                </a:solidFill>
                <a:latin typeface="Calibri"/>
                <a:cs typeface="Calibri"/>
              </a:rPr>
              <a:t>Specific</a:t>
            </a:r>
            <a:r>
              <a:rPr dirty="0" sz="1150" spc="-20" i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125E89"/>
                </a:solidFill>
                <a:latin typeface="Calibri"/>
                <a:cs typeface="Calibri"/>
              </a:rPr>
              <a:t>Chatbots</a:t>
            </a:r>
            <a:r>
              <a:rPr dirty="0" sz="1150" spc="-10" i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125E89"/>
                </a:solidFill>
                <a:latin typeface="Calibri"/>
                <a:cs typeface="Calibri"/>
              </a:rPr>
              <a:t>Using</a:t>
            </a:r>
            <a:r>
              <a:rPr dirty="0" sz="1150" spc="-25" i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125E89"/>
                </a:solidFill>
                <a:latin typeface="Calibri"/>
                <a:cs typeface="Calibri"/>
              </a:rPr>
              <a:t>NLP</a:t>
            </a:r>
            <a:r>
              <a:rPr dirty="0" sz="1150" spc="-15" i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125E89"/>
                </a:solidFill>
                <a:latin typeface="Calibri"/>
                <a:cs typeface="Calibri"/>
              </a:rPr>
              <a:t>and</a:t>
            </a:r>
            <a:r>
              <a:rPr dirty="0" sz="1150" spc="-25" i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125E89"/>
                </a:solidFill>
                <a:latin typeface="Calibri"/>
                <a:cs typeface="Calibri"/>
              </a:rPr>
              <a:t>Deep</a:t>
            </a:r>
            <a:r>
              <a:rPr dirty="0" sz="1150" spc="-30" i="1">
                <a:solidFill>
                  <a:srgbClr val="125E89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125E89"/>
                </a:solidFill>
                <a:latin typeface="Calibri"/>
                <a:cs typeface="Calibri"/>
              </a:rPr>
              <a:t>Learning</a:t>
            </a:r>
            <a:r>
              <a:rPr dirty="0" sz="1150" spc="-10" i="1">
                <a:solidFill>
                  <a:srgbClr val="125E89"/>
                </a:solidFill>
                <a:latin typeface="Calibri"/>
                <a:cs typeface="Calibri"/>
              </a:rPr>
              <a:t> Techniques"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100">
                <a:latin typeface="Calibri"/>
                <a:cs typeface="Calibri"/>
              </a:rPr>
              <a:t>International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Journals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10">
                <a:latin typeface="Calibri"/>
                <a:cs typeface="Calibri"/>
              </a:rPr>
              <a:t>Conferences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AI,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NLP,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Education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Technology,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2022–</a:t>
            </a:r>
            <a:r>
              <a:rPr dirty="0" sz="1100" spc="-10">
                <a:latin typeface="Calibri"/>
                <a:cs typeface="Calibri"/>
              </a:rPr>
              <a:t>2024.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References</a:t>
            </a:r>
            <a:r>
              <a:rPr dirty="0" spc="-25"/>
              <a:t> </a:t>
            </a:r>
            <a:r>
              <a:rPr dirty="0"/>
              <a:t>–</a:t>
            </a:r>
            <a:r>
              <a:rPr dirty="0" spc="-45"/>
              <a:t> </a:t>
            </a:r>
            <a:r>
              <a:rPr dirty="0" spc="-25"/>
              <a:t>Tools,</a:t>
            </a:r>
            <a:r>
              <a:rPr dirty="0" spc="-45"/>
              <a:t> </a:t>
            </a:r>
            <a:r>
              <a:rPr dirty="0" spc="-10"/>
              <a:t>Libraries</a:t>
            </a:r>
            <a:r>
              <a:rPr dirty="0" spc="-45"/>
              <a:t> </a:t>
            </a:r>
            <a:r>
              <a:rPr dirty="0"/>
              <a:t>&amp;</a:t>
            </a:r>
            <a:r>
              <a:rPr dirty="0" spc="-55"/>
              <a:t> </a:t>
            </a:r>
            <a:r>
              <a:rPr dirty="0" spc="-10"/>
              <a:t>Frameworks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4779" y="713219"/>
            <a:ext cx="4476750" cy="911225"/>
            <a:chOff x="144779" y="713219"/>
            <a:chExt cx="4476750" cy="9112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79" y="713219"/>
              <a:ext cx="4476750" cy="91060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8599" y="822960"/>
              <a:ext cx="4316095" cy="749935"/>
            </a:xfrm>
            <a:custGeom>
              <a:avLst/>
              <a:gdLst/>
              <a:ahLst/>
              <a:cxnLst/>
              <a:rect l="l" t="t" r="r" b="b"/>
              <a:pathLst>
                <a:path w="4316095" h="749935">
                  <a:moveTo>
                    <a:pt x="4315968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4315968" y="749808"/>
                  </a:lnTo>
                  <a:lnTo>
                    <a:pt x="43159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1977" y="972058"/>
              <a:ext cx="424180" cy="42417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28600" y="822960"/>
            <a:ext cx="4316095" cy="749935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114935" rIns="0" bIns="0" rtlCol="0" vert="horz">
            <a:spAutoFit/>
          </a:bodyPr>
          <a:lstStyle/>
          <a:p>
            <a:pPr marL="621665">
              <a:lnSpc>
                <a:spcPct val="100000"/>
              </a:lnSpc>
              <a:spcBef>
                <a:spcPts val="905"/>
              </a:spcBef>
            </a:pP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Python </a:t>
            </a:r>
            <a:r>
              <a:rPr dirty="0" sz="1250" spc="-20" b="1">
                <a:solidFill>
                  <a:srgbClr val="0D2B45"/>
                </a:solidFill>
                <a:latin typeface="Calibri"/>
                <a:cs typeface="Calibri"/>
              </a:rPr>
              <a:t>3.10+</a:t>
            </a:r>
            <a:endParaRPr sz="1250">
              <a:latin typeface="Calibri"/>
              <a:cs typeface="Calibri"/>
            </a:endParaRPr>
          </a:p>
          <a:p>
            <a:pPr marL="621665">
              <a:lnSpc>
                <a:spcPct val="100000"/>
              </a:lnSpc>
              <a:spcBef>
                <a:spcPts val="860"/>
              </a:spcBef>
            </a:pPr>
            <a:r>
              <a:rPr dirty="0" sz="1050">
                <a:latin typeface="Calibri"/>
                <a:cs typeface="Calibri"/>
              </a:rPr>
              <a:t>Core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programming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language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for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entire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system.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97908" y="713219"/>
            <a:ext cx="4476750" cy="911225"/>
            <a:chOff x="4597908" y="713219"/>
            <a:chExt cx="4476750" cy="91122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7908" y="713219"/>
              <a:ext cx="4476749" cy="91060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681728" y="822960"/>
              <a:ext cx="4316095" cy="749935"/>
            </a:xfrm>
            <a:custGeom>
              <a:avLst/>
              <a:gdLst/>
              <a:ahLst/>
              <a:cxnLst/>
              <a:rect l="l" t="t" r="r" b="b"/>
              <a:pathLst>
                <a:path w="4316095" h="749935">
                  <a:moveTo>
                    <a:pt x="4315968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4315968" y="749808"/>
                  </a:lnTo>
                  <a:lnTo>
                    <a:pt x="43159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85106" y="972058"/>
              <a:ext cx="424180" cy="42417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681728" y="822960"/>
            <a:ext cx="4316095" cy="749935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114935" rIns="0" bIns="0" rtlCol="0" vert="horz">
            <a:spAutoFit/>
          </a:bodyPr>
          <a:lstStyle/>
          <a:p>
            <a:pPr marL="622300">
              <a:lnSpc>
                <a:spcPct val="100000"/>
              </a:lnSpc>
              <a:spcBef>
                <a:spcPts val="905"/>
              </a:spcBef>
            </a:pP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Streamlit</a:t>
            </a:r>
            <a:endParaRPr sz="1250">
              <a:latin typeface="Calibri"/>
              <a:cs typeface="Calibri"/>
            </a:endParaRPr>
          </a:p>
          <a:p>
            <a:pPr marL="622300">
              <a:lnSpc>
                <a:spcPct val="100000"/>
              </a:lnSpc>
              <a:spcBef>
                <a:spcPts val="860"/>
              </a:spcBef>
            </a:pPr>
            <a:r>
              <a:rPr dirty="0" sz="1050" spc="-10">
                <a:latin typeface="Calibri"/>
                <a:cs typeface="Calibri"/>
              </a:rPr>
              <a:t>Open-</a:t>
            </a:r>
            <a:r>
              <a:rPr dirty="0" sz="1050">
                <a:latin typeface="Calibri"/>
                <a:cs typeface="Calibri"/>
              </a:rPr>
              <a:t>source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Python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framework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for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interactive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web-</a:t>
            </a:r>
            <a:r>
              <a:rPr dirty="0" sz="1050">
                <a:latin typeface="Calibri"/>
                <a:cs typeface="Calibri"/>
              </a:rPr>
              <a:t>based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 spc="-25">
                <a:latin typeface="Calibri"/>
                <a:cs typeface="Calibri"/>
              </a:rPr>
              <a:t>UI.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4779" y="1572755"/>
            <a:ext cx="4476750" cy="911225"/>
            <a:chOff x="144779" y="1572755"/>
            <a:chExt cx="4476750" cy="91122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79" y="1572755"/>
              <a:ext cx="4476750" cy="91060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8599" y="1682495"/>
              <a:ext cx="4316095" cy="749935"/>
            </a:xfrm>
            <a:custGeom>
              <a:avLst/>
              <a:gdLst/>
              <a:ahLst/>
              <a:cxnLst/>
              <a:rect l="l" t="t" r="r" b="b"/>
              <a:pathLst>
                <a:path w="4316095" h="749935">
                  <a:moveTo>
                    <a:pt x="4315968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4315968" y="749807"/>
                  </a:lnTo>
                  <a:lnTo>
                    <a:pt x="4315968" y="0"/>
                  </a:lnTo>
                  <a:close/>
                </a:path>
              </a:pathLst>
            </a:custGeom>
            <a:solidFill>
              <a:srgbClr val="DF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1977" y="1831593"/>
              <a:ext cx="424180" cy="42417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28600" y="1682495"/>
            <a:ext cx="4316095" cy="749935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114935" rIns="0" bIns="0" rtlCol="0" vert="horz">
            <a:spAutoFit/>
          </a:bodyPr>
          <a:lstStyle/>
          <a:p>
            <a:pPr marL="621665">
              <a:lnSpc>
                <a:spcPct val="100000"/>
              </a:lnSpc>
              <a:spcBef>
                <a:spcPts val="905"/>
              </a:spcBef>
            </a:pP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LangChain</a:t>
            </a:r>
            <a:endParaRPr sz="1250">
              <a:latin typeface="Calibri"/>
              <a:cs typeface="Calibri"/>
            </a:endParaRPr>
          </a:p>
          <a:p>
            <a:pPr marL="621665" marR="421640">
              <a:lnSpc>
                <a:spcPct val="100000"/>
              </a:lnSpc>
              <a:spcBef>
                <a:spcPts val="229"/>
              </a:spcBef>
            </a:pPr>
            <a:r>
              <a:rPr dirty="0" sz="1050">
                <a:latin typeface="Calibri"/>
                <a:cs typeface="Calibri"/>
              </a:rPr>
              <a:t>Framework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for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building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LLM-</a:t>
            </a:r>
            <a:r>
              <a:rPr dirty="0" sz="1050">
                <a:latin typeface="Calibri"/>
                <a:cs typeface="Calibri"/>
              </a:rPr>
              <a:t>powered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applications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with </a:t>
            </a:r>
            <a:r>
              <a:rPr dirty="0" sz="1050" spc="-25">
                <a:latin typeface="Calibri"/>
                <a:cs typeface="Calibri"/>
              </a:rPr>
              <a:t>RAG </a:t>
            </a:r>
            <a:r>
              <a:rPr dirty="0" sz="1050" spc="-10">
                <a:latin typeface="Calibri"/>
                <a:cs typeface="Calibri"/>
              </a:rPr>
              <a:t>pipelines.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597908" y="1572755"/>
            <a:ext cx="4476750" cy="911225"/>
            <a:chOff x="4597908" y="1572755"/>
            <a:chExt cx="4476750" cy="91122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7908" y="1572755"/>
              <a:ext cx="4476749" cy="91060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681728" y="1682495"/>
              <a:ext cx="4316095" cy="749935"/>
            </a:xfrm>
            <a:custGeom>
              <a:avLst/>
              <a:gdLst/>
              <a:ahLst/>
              <a:cxnLst/>
              <a:rect l="l" t="t" r="r" b="b"/>
              <a:pathLst>
                <a:path w="4316095" h="749935">
                  <a:moveTo>
                    <a:pt x="4315968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4315968" y="749807"/>
                  </a:lnTo>
                  <a:lnTo>
                    <a:pt x="4315968" y="0"/>
                  </a:lnTo>
                  <a:close/>
                </a:path>
              </a:pathLst>
            </a:custGeom>
            <a:solidFill>
              <a:srgbClr val="DF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85106" y="1831593"/>
              <a:ext cx="424180" cy="42417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681728" y="1682495"/>
            <a:ext cx="4316095" cy="749935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114935" rIns="0" bIns="0" rtlCol="0" vert="horz">
            <a:spAutoFit/>
          </a:bodyPr>
          <a:lstStyle/>
          <a:p>
            <a:pPr marL="622300">
              <a:lnSpc>
                <a:spcPct val="100000"/>
              </a:lnSpc>
              <a:spcBef>
                <a:spcPts val="905"/>
              </a:spcBef>
            </a:pP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FAISS</a:t>
            </a:r>
            <a:r>
              <a:rPr dirty="0" sz="1250" spc="-1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(Facebook</a:t>
            </a:r>
            <a:r>
              <a:rPr dirty="0" sz="1250" spc="-2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25" b="1">
                <a:solidFill>
                  <a:srgbClr val="0D2B45"/>
                </a:solidFill>
                <a:latin typeface="Calibri"/>
                <a:cs typeface="Calibri"/>
              </a:rPr>
              <a:t>AI)</a:t>
            </a:r>
            <a:endParaRPr sz="1250">
              <a:latin typeface="Calibri"/>
              <a:cs typeface="Calibri"/>
            </a:endParaRPr>
          </a:p>
          <a:p>
            <a:pPr marL="622300" marR="449580">
              <a:lnSpc>
                <a:spcPct val="100000"/>
              </a:lnSpc>
              <a:spcBef>
                <a:spcPts val="229"/>
              </a:spcBef>
            </a:pPr>
            <a:r>
              <a:rPr dirty="0" sz="1050">
                <a:latin typeface="Calibri"/>
                <a:cs typeface="Calibri"/>
              </a:rPr>
              <a:t>Library</a:t>
            </a:r>
            <a:r>
              <a:rPr dirty="0" sz="1050" spc="-4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for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efficient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similarity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search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and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clustering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of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dense vectors.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44779" y="2432291"/>
            <a:ext cx="4476750" cy="911225"/>
            <a:chOff x="144779" y="2432291"/>
            <a:chExt cx="4476750" cy="911225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79" y="2432291"/>
              <a:ext cx="4476750" cy="91060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28599" y="2542031"/>
              <a:ext cx="4316095" cy="749935"/>
            </a:xfrm>
            <a:custGeom>
              <a:avLst/>
              <a:gdLst/>
              <a:ahLst/>
              <a:cxnLst/>
              <a:rect l="l" t="t" r="r" b="b"/>
              <a:pathLst>
                <a:path w="4316095" h="749935">
                  <a:moveTo>
                    <a:pt x="4315968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4315968" y="749807"/>
                  </a:lnTo>
                  <a:lnTo>
                    <a:pt x="43159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1977" y="2691129"/>
              <a:ext cx="424180" cy="42418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228600" y="2542032"/>
            <a:ext cx="4316095" cy="749935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115570" rIns="0" bIns="0" rtlCol="0" vert="horz">
            <a:spAutoFit/>
          </a:bodyPr>
          <a:lstStyle/>
          <a:p>
            <a:pPr marL="621665">
              <a:lnSpc>
                <a:spcPct val="100000"/>
              </a:lnSpc>
              <a:spcBef>
                <a:spcPts val="910"/>
              </a:spcBef>
            </a:pP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HuggingFace</a:t>
            </a:r>
            <a:r>
              <a:rPr dirty="0" sz="1250" spc="-6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Transformers</a:t>
            </a:r>
            <a:endParaRPr sz="1250">
              <a:latin typeface="Calibri"/>
              <a:cs typeface="Calibri"/>
            </a:endParaRPr>
          </a:p>
          <a:p>
            <a:pPr marL="621665" marR="753745">
              <a:lnSpc>
                <a:spcPct val="100000"/>
              </a:lnSpc>
              <a:spcBef>
                <a:spcPts val="229"/>
              </a:spcBef>
            </a:pPr>
            <a:r>
              <a:rPr dirty="0" sz="1050">
                <a:latin typeface="Calibri"/>
                <a:cs typeface="Calibri"/>
              </a:rPr>
              <a:t>Pre-trained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NLP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models including</a:t>
            </a:r>
            <a:r>
              <a:rPr dirty="0" sz="1050" spc="1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all-MiniLM-L6-</a:t>
            </a:r>
            <a:r>
              <a:rPr dirty="0" sz="1050">
                <a:latin typeface="Calibri"/>
                <a:cs typeface="Calibri"/>
              </a:rPr>
              <a:t>v2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 spc="-25">
                <a:latin typeface="Calibri"/>
                <a:cs typeface="Calibri"/>
              </a:rPr>
              <a:t>for </a:t>
            </a:r>
            <a:r>
              <a:rPr dirty="0" sz="1050" spc="-10">
                <a:latin typeface="Calibri"/>
                <a:cs typeface="Calibri"/>
              </a:rPr>
              <a:t>embeddings.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597908" y="2432291"/>
            <a:ext cx="4476750" cy="911225"/>
            <a:chOff x="4597908" y="2432291"/>
            <a:chExt cx="4476750" cy="91122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7908" y="2432291"/>
              <a:ext cx="4476749" cy="91060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681728" y="2542031"/>
              <a:ext cx="4316095" cy="749935"/>
            </a:xfrm>
            <a:custGeom>
              <a:avLst/>
              <a:gdLst/>
              <a:ahLst/>
              <a:cxnLst/>
              <a:rect l="l" t="t" r="r" b="b"/>
              <a:pathLst>
                <a:path w="4316095" h="749935">
                  <a:moveTo>
                    <a:pt x="4315968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4315968" y="749807"/>
                  </a:lnTo>
                  <a:lnTo>
                    <a:pt x="43159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85106" y="2691129"/>
              <a:ext cx="424180" cy="42418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4681728" y="2542032"/>
            <a:ext cx="4316095" cy="749935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115570" rIns="0" bIns="0" rtlCol="0" vert="horz">
            <a:spAutoFit/>
          </a:bodyPr>
          <a:lstStyle/>
          <a:p>
            <a:pPr marL="622300">
              <a:lnSpc>
                <a:spcPct val="100000"/>
              </a:lnSpc>
              <a:spcBef>
                <a:spcPts val="910"/>
              </a:spcBef>
            </a:pP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Sentence</a:t>
            </a:r>
            <a:r>
              <a:rPr dirty="0" sz="1250" spc="-65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Transformers</a:t>
            </a:r>
            <a:endParaRPr sz="1250">
              <a:latin typeface="Calibri"/>
              <a:cs typeface="Calibri"/>
            </a:endParaRPr>
          </a:p>
          <a:p>
            <a:pPr marL="622300" marR="498475">
              <a:lnSpc>
                <a:spcPct val="100000"/>
              </a:lnSpc>
              <a:spcBef>
                <a:spcPts val="229"/>
              </a:spcBef>
            </a:pPr>
            <a:r>
              <a:rPr dirty="0" sz="1050">
                <a:latin typeface="Calibri"/>
                <a:cs typeface="Calibri"/>
              </a:rPr>
              <a:t>Library</a:t>
            </a:r>
            <a:r>
              <a:rPr dirty="0" sz="1050" spc="-4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to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generate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384-</a:t>
            </a:r>
            <a:r>
              <a:rPr dirty="0" sz="1050">
                <a:latin typeface="Calibri"/>
                <a:cs typeface="Calibri"/>
              </a:rPr>
              <a:t>dim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sentence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embeddings</a:t>
            </a:r>
            <a:r>
              <a:rPr dirty="0" sz="1050" spc="-10">
                <a:latin typeface="Calibri"/>
                <a:cs typeface="Calibri"/>
              </a:rPr>
              <a:t> (SBERT-based).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44779" y="3291840"/>
            <a:ext cx="4476750" cy="911225"/>
            <a:chOff x="144779" y="3291840"/>
            <a:chExt cx="4476750" cy="911225"/>
          </a:xfrm>
        </p:grpSpPr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79" y="3291840"/>
              <a:ext cx="4476750" cy="91060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28599" y="3401568"/>
              <a:ext cx="4316095" cy="749935"/>
            </a:xfrm>
            <a:custGeom>
              <a:avLst/>
              <a:gdLst/>
              <a:ahLst/>
              <a:cxnLst/>
              <a:rect l="l" t="t" r="r" b="b"/>
              <a:pathLst>
                <a:path w="4316095" h="749935">
                  <a:moveTo>
                    <a:pt x="4315968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4315968" y="749807"/>
                  </a:lnTo>
                  <a:lnTo>
                    <a:pt x="4315968" y="0"/>
                  </a:lnTo>
                  <a:close/>
                </a:path>
              </a:pathLst>
            </a:custGeom>
            <a:solidFill>
              <a:srgbClr val="DF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1977" y="3550666"/>
              <a:ext cx="424180" cy="42418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228600" y="3401567"/>
            <a:ext cx="4316095" cy="749935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115570" rIns="0" bIns="0" rtlCol="0" vert="horz">
            <a:spAutoFit/>
          </a:bodyPr>
          <a:lstStyle/>
          <a:p>
            <a:pPr marL="621665">
              <a:lnSpc>
                <a:spcPct val="100000"/>
              </a:lnSpc>
              <a:spcBef>
                <a:spcPts val="910"/>
              </a:spcBef>
            </a:pP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Ollama</a:t>
            </a:r>
            <a:endParaRPr sz="1250">
              <a:latin typeface="Calibri"/>
              <a:cs typeface="Calibri"/>
            </a:endParaRPr>
          </a:p>
          <a:p>
            <a:pPr marL="621665">
              <a:lnSpc>
                <a:spcPct val="100000"/>
              </a:lnSpc>
              <a:spcBef>
                <a:spcPts val="860"/>
              </a:spcBef>
            </a:pPr>
            <a:r>
              <a:rPr dirty="0" sz="1050">
                <a:latin typeface="Calibri"/>
                <a:cs typeface="Calibri"/>
              </a:rPr>
              <a:t>Local LLM</a:t>
            </a:r>
            <a:r>
              <a:rPr dirty="0" sz="1050" spc="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inference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runtime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serving </a:t>
            </a:r>
            <a:r>
              <a:rPr dirty="0" sz="1050" spc="-10">
                <a:latin typeface="Calibri"/>
                <a:cs typeface="Calibri"/>
              </a:rPr>
              <a:t>Qwen2-1.5B-Instruct.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597908" y="3291840"/>
            <a:ext cx="4476750" cy="911225"/>
            <a:chOff x="4597908" y="3291840"/>
            <a:chExt cx="4476750" cy="911225"/>
          </a:xfrm>
        </p:grpSpPr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7908" y="3291840"/>
              <a:ext cx="4476749" cy="91060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681728" y="3401568"/>
              <a:ext cx="4316095" cy="749935"/>
            </a:xfrm>
            <a:custGeom>
              <a:avLst/>
              <a:gdLst/>
              <a:ahLst/>
              <a:cxnLst/>
              <a:rect l="l" t="t" r="r" b="b"/>
              <a:pathLst>
                <a:path w="4316095" h="749935">
                  <a:moveTo>
                    <a:pt x="4315968" y="0"/>
                  </a:moveTo>
                  <a:lnTo>
                    <a:pt x="0" y="0"/>
                  </a:lnTo>
                  <a:lnTo>
                    <a:pt x="0" y="749807"/>
                  </a:lnTo>
                  <a:lnTo>
                    <a:pt x="4315968" y="749807"/>
                  </a:lnTo>
                  <a:lnTo>
                    <a:pt x="4315968" y="0"/>
                  </a:lnTo>
                  <a:close/>
                </a:path>
              </a:pathLst>
            </a:custGeom>
            <a:solidFill>
              <a:srgbClr val="DF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85106" y="3550666"/>
              <a:ext cx="424180" cy="42418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4681728" y="3401567"/>
            <a:ext cx="4316095" cy="749935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115570" rIns="0" bIns="0" rtlCol="0" vert="horz">
            <a:spAutoFit/>
          </a:bodyPr>
          <a:lstStyle/>
          <a:p>
            <a:pPr marL="622300">
              <a:lnSpc>
                <a:spcPct val="100000"/>
              </a:lnSpc>
              <a:spcBef>
                <a:spcPts val="910"/>
              </a:spcBef>
            </a:pP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PyMuPDF</a:t>
            </a:r>
            <a:r>
              <a:rPr dirty="0" sz="1250" spc="-4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(fitz)</a:t>
            </a:r>
            <a:endParaRPr sz="1250">
              <a:latin typeface="Calibri"/>
              <a:cs typeface="Calibri"/>
            </a:endParaRPr>
          </a:p>
          <a:p>
            <a:pPr marL="622300" marR="714375">
              <a:lnSpc>
                <a:spcPct val="100000"/>
              </a:lnSpc>
              <a:spcBef>
                <a:spcPts val="229"/>
              </a:spcBef>
            </a:pPr>
            <a:r>
              <a:rPr dirty="0" sz="1050">
                <a:latin typeface="Calibri"/>
                <a:cs typeface="Calibri"/>
              </a:rPr>
              <a:t>Python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library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for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reading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and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extracting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text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from</a:t>
            </a:r>
            <a:r>
              <a:rPr dirty="0" sz="1050" spc="-25">
                <a:latin typeface="Calibri"/>
                <a:cs typeface="Calibri"/>
              </a:rPr>
              <a:t> PDF </a:t>
            </a:r>
            <a:r>
              <a:rPr dirty="0" sz="1050" spc="-10">
                <a:latin typeface="Calibri"/>
                <a:cs typeface="Calibri"/>
              </a:rPr>
              <a:t>documents.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44779" y="4151374"/>
            <a:ext cx="4476750" cy="911225"/>
            <a:chOff x="144779" y="4151374"/>
            <a:chExt cx="4476750" cy="911225"/>
          </a:xfrm>
        </p:grpSpPr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79" y="4151374"/>
              <a:ext cx="4476750" cy="91060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228599" y="4261104"/>
              <a:ext cx="4316095" cy="749935"/>
            </a:xfrm>
            <a:custGeom>
              <a:avLst/>
              <a:gdLst/>
              <a:ahLst/>
              <a:cxnLst/>
              <a:rect l="l" t="t" r="r" b="b"/>
              <a:pathLst>
                <a:path w="4316095" h="749935">
                  <a:moveTo>
                    <a:pt x="4315968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4315968" y="749808"/>
                  </a:lnTo>
                  <a:lnTo>
                    <a:pt x="43159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1977" y="4410202"/>
              <a:ext cx="424180" cy="424180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228600" y="4261103"/>
            <a:ext cx="4316095" cy="749935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116205" rIns="0" bIns="0" rtlCol="0" vert="horz">
            <a:spAutoFit/>
          </a:bodyPr>
          <a:lstStyle/>
          <a:p>
            <a:pPr marL="621665">
              <a:lnSpc>
                <a:spcPct val="100000"/>
              </a:lnSpc>
              <a:spcBef>
                <a:spcPts val="915"/>
              </a:spcBef>
            </a:pP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PyTorch</a:t>
            </a:r>
            <a:endParaRPr sz="1250">
              <a:latin typeface="Calibri"/>
              <a:cs typeface="Calibri"/>
            </a:endParaRPr>
          </a:p>
          <a:p>
            <a:pPr marL="621665">
              <a:lnSpc>
                <a:spcPct val="100000"/>
              </a:lnSpc>
              <a:spcBef>
                <a:spcPts val="225"/>
              </a:spcBef>
            </a:pPr>
            <a:r>
              <a:rPr dirty="0" sz="1050" spc="-10">
                <a:latin typeface="Calibri"/>
                <a:cs typeface="Calibri"/>
              </a:rPr>
              <a:t>Open-</a:t>
            </a:r>
            <a:r>
              <a:rPr dirty="0" sz="1050">
                <a:latin typeface="Calibri"/>
                <a:cs typeface="Calibri"/>
              </a:rPr>
              <a:t>source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deep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learning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framework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powering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 spc="-20">
                <a:latin typeface="Calibri"/>
                <a:cs typeface="Calibri"/>
              </a:rPr>
              <a:t>model</a:t>
            </a:r>
            <a:endParaRPr sz="1050">
              <a:latin typeface="Calibri"/>
              <a:cs typeface="Calibri"/>
            </a:endParaRPr>
          </a:p>
          <a:p>
            <a:pPr marL="621665">
              <a:lnSpc>
                <a:spcPct val="100000"/>
              </a:lnSpc>
              <a:spcBef>
                <a:spcPts val="5"/>
              </a:spcBef>
            </a:pPr>
            <a:r>
              <a:rPr dirty="0" sz="1050" spc="-10">
                <a:latin typeface="Calibri"/>
                <a:cs typeface="Calibri"/>
              </a:rPr>
              <a:t>inference.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597908" y="4151374"/>
            <a:ext cx="4476750" cy="911225"/>
            <a:chOff x="4597908" y="4151374"/>
            <a:chExt cx="4476750" cy="911225"/>
          </a:xfrm>
        </p:grpSpPr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7908" y="4151374"/>
              <a:ext cx="4476749" cy="910602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4681728" y="4261104"/>
              <a:ext cx="4316095" cy="749935"/>
            </a:xfrm>
            <a:custGeom>
              <a:avLst/>
              <a:gdLst/>
              <a:ahLst/>
              <a:cxnLst/>
              <a:rect l="l" t="t" r="r" b="b"/>
              <a:pathLst>
                <a:path w="4316095" h="749935">
                  <a:moveTo>
                    <a:pt x="4315968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4315968" y="749808"/>
                  </a:lnTo>
                  <a:lnTo>
                    <a:pt x="43159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85106" y="4410202"/>
              <a:ext cx="424180" cy="424180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4681728" y="4261103"/>
            <a:ext cx="4316095" cy="749935"/>
          </a:xfrm>
          <a:prstGeom prst="rect">
            <a:avLst/>
          </a:prstGeom>
          <a:ln w="12700">
            <a:solidFill>
              <a:srgbClr val="D3E9F7"/>
            </a:solidFill>
          </a:ln>
        </p:spPr>
        <p:txBody>
          <a:bodyPr wrap="square" lIns="0" tIns="116205" rIns="0" bIns="0" rtlCol="0" vert="horz">
            <a:spAutoFit/>
          </a:bodyPr>
          <a:lstStyle/>
          <a:p>
            <a:pPr marL="622300">
              <a:lnSpc>
                <a:spcPct val="100000"/>
              </a:lnSpc>
              <a:spcBef>
                <a:spcPts val="915"/>
              </a:spcBef>
            </a:pPr>
            <a:r>
              <a:rPr dirty="0" sz="1250" b="1">
                <a:solidFill>
                  <a:srgbClr val="0D2B45"/>
                </a:solidFill>
                <a:latin typeface="Calibri"/>
                <a:cs typeface="Calibri"/>
              </a:rPr>
              <a:t>Cloudflare</a:t>
            </a:r>
            <a:r>
              <a:rPr dirty="0" sz="1250" spc="-50" b="1">
                <a:solidFill>
                  <a:srgbClr val="0D2B45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D2B45"/>
                </a:solidFill>
                <a:latin typeface="Calibri"/>
                <a:cs typeface="Calibri"/>
              </a:rPr>
              <a:t>Tunnel</a:t>
            </a:r>
            <a:endParaRPr sz="1250">
              <a:latin typeface="Calibri"/>
              <a:cs typeface="Calibri"/>
            </a:endParaRPr>
          </a:p>
          <a:p>
            <a:pPr marL="622300">
              <a:lnSpc>
                <a:spcPct val="100000"/>
              </a:lnSpc>
              <a:spcBef>
                <a:spcPts val="225"/>
              </a:spcBef>
            </a:pPr>
            <a:r>
              <a:rPr dirty="0" sz="1050">
                <a:latin typeface="Calibri"/>
                <a:cs typeface="Calibri"/>
              </a:rPr>
              <a:t>Tool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to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expose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locally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hosted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Streamlit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app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to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internet</a:t>
            </a:r>
            <a:endParaRPr sz="1050">
              <a:latin typeface="Calibri"/>
              <a:cs typeface="Calibri"/>
            </a:endParaRPr>
          </a:p>
          <a:p>
            <a:pPr marL="622300">
              <a:lnSpc>
                <a:spcPct val="100000"/>
              </a:lnSpc>
              <a:spcBef>
                <a:spcPts val="5"/>
              </a:spcBef>
            </a:pPr>
            <a:r>
              <a:rPr dirty="0" sz="1050" spc="-10">
                <a:latin typeface="Calibri"/>
                <a:cs typeface="Calibri"/>
              </a:rPr>
              <a:t>securely.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D2B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574541" y="2199513"/>
            <a:ext cx="19951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Thank</a:t>
            </a:r>
            <a:r>
              <a:rPr dirty="0" sz="3600" spc="-100"/>
              <a:t> </a:t>
            </a:r>
            <a:r>
              <a:rPr dirty="0" sz="3600" spc="-25"/>
              <a:t>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2026-05-14T08:05:57Z</dcterms:created>
  <dcterms:modified xsi:type="dcterms:W3CDTF">2026-05-14T08:05:57Z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2026-05-14T00:00:00Z</vt:filetime>
  </property>
  <property fmtid="{D5CDD505-2E9C-101B-9397-08002B2CF9AE}" pid="4" name="LastSaved">
    <vt:filetime>2026-05-14T00:00:00Z</vt:filetime>
  </property>
  <property fmtid="{D5CDD505-2E9C-101B-9397-08002B2CF9AE}" pid="5" name="Producer">
    <vt:lpwstr>iLovePDF</vt:lpwstr>
  </property>
</Properties>
</file>